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6"/>
  </p:notes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Overpass Medium" charset="1" panose="00000000000000000000"/>
      <p:regular r:id="rId19"/>
    </p:embeddedFont>
    <p:embeddedFont>
      <p:font typeface="Arimo" charset="1" panose="020B0604020202020204"/>
      <p:regular r:id="rId20"/>
    </p:embeddedFont>
    <p:embeddedFont>
      <p:font typeface="Fira Sans" charset="1" panose="020B0503050000020004"/>
      <p:regular r:id="rId21"/>
    </p:embeddedFont>
    <p:embeddedFont>
      <p:font typeface="Fira Sans Bold" charset="1" panose="020B0803050000020004"/>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notesMasters/notesMaster1.xml" Type="http://schemas.openxmlformats.org/officeDocument/2006/relationships/notesMaster"/><Relationship Id="rId17" Target="theme/theme2.xml" Type="http://schemas.openxmlformats.org/officeDocument/2006/relationships/theme"/><Relationship Id="rId18" Target="notesSlides/notesSlide1.xml" Type="http://schemas.openxmlformats.org/officeDocument/2006/relationships/note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notesSlides/notesSlide2.xml" Type="http://schemas.openxmlformats.org/officeDocument/2006/relationships/notesSlide"/><Relationship Id="rId24" Target="notesSlides/notesSlide3.xml" Type="http://schemas.openxmlformats.org/officeDocument/2006/relationships/notesSlide"/><Relationship Id="rId25" Target="notesSlides/notesSlide4.xml" Type="http://schemas.openxmlformats.org/officeDocument/2006/relationships/notesSlide"/><Relationship Id="rId26" Target="notesSlides/notesSlide5.xml" Type="http://schemas.openxmlformats.org/officeDocument/2006/relationships/notesSlide"/><Relationship Id="rId27" Target="notesSlides/notesSlide6.xml" Type="http://schemas.openxmlformats.org/officeDocument/2006/relationships/notesSlide"/><Relationship Id="rId28" Target="notesSlides/notesSlide7.xml" Type="http://schemas.openxmlformats.org/officeDocument/2006/relationships/notesSlide"/><Relationship Id="rId29" Target="notesSlides/notesSlide8.xml" Type="http://schemas.openxmlformats.org/officeDocument/2006/relationships/notesSlide"/><Relationship Id="rId3" Target="viewProps.xml" Type="http://schemas.openxmlformats.org/officeDocument/2006/relationships/viewProps"/><Relationship Id="rId30" Target="notesSlides/notesSlide9.xml" Type="http://schemas.openxmlformats.org/officeDocument/2006/relationships/notesSlide"/><Relationship Id="rId31" Target="notesSlides/notesSlide10.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Frame CS-02 as a security-boundary problem: direct user instructions and indirect instructions hidden in retrieved content can change model behavior. Emphasize who is exposed when assistants connect to documents, tools, credentials, and sensitive information. Cite OWASP GenAI Security Project, LLM01:2025 Prompt Injection for the verified evidence; do not present an unverified prevalence statistic.</a:t>
            </a:r>
          </a:p>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Existing controls matter, but they are distributed. The practical gap is one visible checkpoint before the model call and one place to check the generated output.</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Explain the sequence: scan the prompt, apply policy, call Gemini only if permitted, then scan the output. A blocked prompt ends at the policy decision and never reaches Gemini.</a:t>
            </a:r>
          </a:p>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innovation is inspectability, not a claim of perfect detection. Workex makes the security decision visible at the point where the application team can test and govern it.</a:t>
            </a:r>
          </a:p>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Use the route to explain the user journey. The three outcomes are policy decisions, not model guesses. The critical control is that BLOCK terminates the route before Gemini. Distinguish the verified /scan result from the behavior still under testing.</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Keep the stack explanation grounded. These choices support a fast, inspectable prototype without claiming a database, cloud deployment or trained model that has not been confirmed.</a:t>
            </a:r>
          </a:p>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Point out the trust boundary. The frontend presents the workflow, but the backend owns policy decisions and API credentials. A blocked prompt must stop before Gemini.</a:t>
            </a:r>
          </a:p>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Separate verified behavior from intended behavior. The prototype has a demonstrated block, but it also has a false negative and an availability issue that must be addressed before a reliable live demo.</a:t>
            </a:r>
          </a:p>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Frame the roadmap as disciplined evaluation. Better security comes from measuring errors, expanding test coverage and hardening the end-to-end boundary, not from claiming that one rule set solves prompt injection.</a:t>
            </a:r>
          </a:p>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Close on the practical contribution: Workex creates a visible security layer around AI interactions. The vision is governance with honest limits, not a promise of perfect detection.</a:t>
            </a:r>
          </a:p>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https://gamma.app/?utm_source=made-with-gamma" TargetMode="External" Type="http://schemas.openxmlformats.org/officeDocument/2006/relationships/hyperlink"/><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https://gamma.app/?utm_source=made-with-gamma" TargetMode="External" Type="http://schemas.openxmlformats.org/officeDocument/2006/relationships/hyperlink"/><Relationship Id="rId4" Target="../media/image3.png" Type="http://schemas.openxmlformats.org/officeDocument/2006/relationships/image"/><Relationship Id="rId5" Target="../media/image6.png" Type="http://schemas.openxmlformats.org/officeDocument/2006/relationships/image"/><Relationship Id="rId6"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7.pn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10.png" Type="http://schemas.openxmlformats.org/officeDocument/2006/relationships/image"/><Relationship Id="rId7" Target="../media/image11.png" Type="http://schemas.openxmlformats.org/officeDocument/2006/relationships/image"/><Relationship Id="rId8" Target="../media/image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2.png" Type="http://schemas.openxmlformats.org/officeDocument/2006/relationships/image"/><Relationship Id="rId4" Target="../media/image13.jpeg" Type="http://schemas.openxmlformats.org/officeDocument/2006/relationships/image"/><Relationship Id="rId5" Target="../media/image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4.jpeg" Type="http://schemas.openxmlformats.org/officeDocument/2006/relationships/image"/><Relationship Id="rId4" Target="../media/image5.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descr="preencoded.png"/>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lnTo>
                    <a:pt x="0" y="0"/>
                  </a:lnTo>
                  <a:close/>
                </a:path>
              </a:pathLst>
            </a:custGeom>
            <a:blipFill>
              <a:blip r:embed="rId3"/>
              <a:stretch>
                <a:fillRect l="-1" t="0" r="-1" b="0"/>
              </a:stretch>
            </a:blipFill>
          </p:spPr>
        </p:sp>
      </p:grpSp>
      <p:grpSp>
        <p:nvGrpSpPr>
          <p:cNvPr name="Group 4" id="4"/>
          <p:cNvGrpSpPr/>
          <p:nvPr/>
        </p:nvGrpSpPr>
        <p:grpSpPr>
          <a:xfrm rot="0">
            <a:off x="571929" y="724462"/>
            <a:ext cx="7816415" cy="9202979"/>
            <a:chOff x="0" y="0"/>
            <a:chExt cx="10421887" cy="12270638"/>
          </a:xfrm>
        </p:grpSpPr>
        <p:sp>
          <p:nvSpPr>
            <p:cNvPr name="Freeform 5" id="5"/>
            <p:cNvSpPr/>
            <p:nvPr/>
          </p:nvSpPr>
          <p:spPr>
            <a:xfrm flipH="false" flipV="false" rot="0">
              <a:off x="0" y="0"/>
              <a:ext cx="10421874" cy="12270613"/>
            </a:xfrm>
            <a:custGeom>
              <a:avLst/>
              <a:gdLst/>
              <a:ahLst/>
              <a:cxnLst/>
              <a:rect r="r" b="b" t="t" l="l"/>
              <a:pathLst>
                <a:path h="12270613" w="10421874">
                  <a:moveTo>
                    <a:pt x="0" y="243967"/>
                  </a:moveTo>
                  <a:cubicBezTo>
                    <a:pt x="0" y="109220"/>
                    <a:pt x="109220" y="0"/>
                    <a:pt x="243967" y="0"/>
                  </a:cubicBezTo>
                  <a:lnTo>
                    <a:pt x="10177907" y="0"/>
                  </a:lnTo>
                  <a:cubicBezTo>
                    <a:pt x="10312654" y="0"/>
                    <a:pt x="10421874" y="109220"/>
                    <a:pt x="10421874" y="243967"/>
                  </a:cubicBezTo>
                  <a:lnTo>
                    <a:pt x="10421874" y="12026646"/>
                  </a:lnTo>
                  <a:cubicBezTo>
                    <a:pt x="10421874" y="12161393"/>
                    <a:pt x="10312654" y="12270613"/>
                    <a:pt x="10177907" y="12270613"/>
                  </a:cubicBezTo>
                  <a:lnTo>
                    <a:pt x="243967" y="12270613"/>
                  </a:lnTo>
                  <a:cubicBezTo>
                    <a:pt x="109220" y="12270613"/>
                    <a:pt x="0" y="12161393"/>
                    <a:pt x="0" y="12026646"/>
                  </a:cubicBezTo>
                  <a:close/>
                </a:path>
              </a:pathLst>
            </a:custGeom>
            <a:solidFill>
              <a:srgbClr val="0A1430">
                <a:alpha val="77255"/>
              </a:srgbClr>
            </a:solidFill>
          </p:spPr>
        </p:sp>
      </p:grpSp>
      <p:grpSp>
        <p:nvGrpSpPr>
          <p:cNvPr name="Group 6" id="6"/>
          <p:cNvGrpSpPr/>
          <p:nvPr/>
        </p:nvGrpSpPr>
        <p:grpSpPr>
          <a:xfrm rot="0">
            <a:off x="991352" y="1105767"/>
            <a:ext cx="5819413" cy="490623"/>
            <a:chOff x="0" y="0"/>
            <a:chExt cx="7759217" cy="654164"/>
          </a:xfrm>
        </p:grpSpPr>
        <p:sp>
          <p:nvSpPr>
            <p:cNvPr name="Freeform 7" id="7"/>
            <p:cNvSpPr/>
            <p:nvPr/>
          </p:nvSpPr>
          <p:spPr>
            <a:xfrm flipH="false" flipV="false" rot="0">
              <a:off x="0" y="0"/>
              <a:ext cx="7759192" cy="654050"/>
            </a:xfrm>
            <a:custGeom>
              <a:avLst/>
              <a:gdLst/>
              <a:ahLst/>
              <a:cxnLst/>
              <a:rect r="r" b="b" t="t" l="l"/>
              <a:pathLst>
                <a:path h="654050" w="7759192">
                  <a:moveTo>
                    <a:pt x="0" y="327025"/>
                  </a:moveTo>
                  <a:cubicBezTo>
                    <a:pt x="0" y="146431"/>
                    <a:pt x="146431" y="0"/>
                    <a:pt x="327025" y="0"/>
                  </a:cubicBezTo>
                  <a:lnTo>
                    <a:pt x="7432167" y="0"/>
                  </a:lnTo>
                  <a:cubicBezTo>
                    <a:pt x="7612761" y="0"/>
                    <a:pt x="7759192" y="146431"/>
                    <a:pt x="7759192" y="327025"/>
                  </a:cubicBezTo>
                  <a:cubicBezTo>
                    <a:pt x="7759192" y="507619"/>
                    <a:pt x="7612761" y="654050"/>
                    <a:pt x="7432167" y="654050"/>
                  </a:cubicBezTo>
                  <a:lnTo>
                    <a:pt x="327025" y="654050"/>
                  </a:lnTo>
                  <a:cubicBezTo>
                    <a:pt x="146431" y="654177"/>
                    <a:pt x="0" y="507746"/>
                    <a:pt x="0" y="327152"/>
                  </a:cubicBezTo>
                  <a:close/>
                </a:path>
              </a:pathLst>
            </a:custGeom>
            <a:solidFill>
              <a:srgbClr val="FFFFFF"/>
            </a:solidFill>
          </p:spPr>
        </p:sp>
      </p:grpSp>
      <p:sp>
        <p:nvSpPr>
          <p:cNvPr name="TextBox 8" id="8"/>
          <p:cNvSpPr txBox="true"/>
          <p:nvPr/>
        </p:nvSpPr>
        <p:spPr>
          <a:xfrm rot="0">
            <a:off x="1180052" y="1200045"/>
            <a:ext cx="6357090" cy="302057"/>
          </a:xfrm>
          <a:prstGeom prst="rect">
            <a:avLst/>
          </a:prstGeom>
        </p:spPr>
        <p:txBody>
          <a:bodyPr anchor="t" rtlCol="false" tIns="0" lIns="0" bIns="0" rIns="0">
            <a:spAutoFit/>
          </a:bodyPr>
          <a:lstStyle/>
          <a:p>
            <a:pPr algn="l">
              <a:lnSpc>
                <a:spcPts val="2341"/>
              </a:lnSpc>
            </a:pPr>
            <a:r>
              <a:rPr lang="en-US" b="true" sz="1951" spc="118">
                <a:solidFill>
                  <a:srgbClr val="0B1F3A"/>
                </a:solidFill>
                <a:latin typeface="Overpass Medium"/>
                <a:ea typeface="Overpass Medium"/>
                <a:cs typeface="Overpass Medium"/>
                <a:sym typeface="Overpass Medium"/>
              </a:rPr>
              <a:t>CS-02 · VERIFY BEFORE SUBMISSION</a:t>
            </a:r>
          </a:p>
        </p:txBody>
      </p:sp>
      <p:sp>
        <p:nvSpPr>
          <p:cNvPr name="TextBox 9" id="9"/>
          <p:cNvSpPr txBox="true"/>
          <p:nvPr/>
        </p:nvSpPr>
        <p:spPr>
          <a:xfrm rot="0">
            <a:off x="991352" y="1950701"/>
            <a:ext cx="6977577" cy="2490416"/>
          </a:xfrm>
          <a:prstGeom prst="rect">
            <a:avLst/>
          </a:prstGeom>
        </p:spPr>
        <p:txBody>
          <a:bodyPr anchor="t" rtlCol="false" tIns="0" lIns="0" bIns="0" rIns="0">
            <a:spAutoFit/>
          </a:bodyPr>
          <a:lstStyle/>
          <a:p>
            <a:pPr algn="l">
              <a:lnSpc>
                <a:spcPts val="6737"/>
              </a:lnSpc>
            </a:pPr>
            <a:r>
              <a:rPr lang="en-US" sz="6605" spc="-66">
                <a:solidFill>
                  <a:srgbClr val="FFFFFF"/>
                </a:solidFill>
                <a:latin typeface="Arimo"/>
                <a:ea typeface="Arimo"/>
                <a:cs typeface="Arimo"/>
                <a:sym typeface="Arimo"/>
              </a:rPr>
              <a:t>LLM Firewall</a:t>
            </a:r>
          </a:p>
          <a:p>
            <a:pPr algn="l">
              <a:lnSpc>
                <a:spcPts val="6737"/>
              </a:lnSpc>
            </a:pPr>
            <a:r>
              <a:rPr lang="en-US" sz="6605" spc="-66">
                <a:solidFill>
                  <a:srgbClr val="FFFFFF"/>
                </a:solidFill>
                <a:latin typeface="Arimo"/>
                <a:ea typeface="Arimo"/>
                <a:cs typeface="Arimo"/>
                <a:sym typeface="Arimo"/>
              </a:rPr>
              <a:t>Against Prompt Injection</a:t>
            </a:r>
          </a:p>
        </p:txBody>
      </p:sp>
      <p:sp>
        <p:nvSpPr>
          <p:cNvPr name="TextBox 10" id="10"/>
          <p:cNvSpPr txBox="true"/>
          <p:nvPr/>
        </p:nvSpPr>
        <p:spPr>
          <a:xfrm rot="0">
            <a:off x="6369390" y="5556190"/>
            <a:ext cx="7892672" cy="385905"/>
          </a:xfrm>
          <a:prstGeom prst="rect">
            <a:avLst/>
          </a:prstGeom>
        </p:spPr>
        <p:txBody>
          <a:bodyPr anchor="t" rtlCol="false" tIns="0" lIns="0" bIns="0" rIns="0">
            <a:spAutoFit/>
          </a:bodyPr>
          <a:lstStyle/>
          <a:p>
            <a:pPr algn="l">
              <a:lnSpc>
                <a:spcPts val="3188"/>
              </a:lnSpc>
            </a:pPr>
            <a:r>
              <a:rPr lang="en-US" sz="2251">
                <a:solidFill>
                  <a:srgbClr val="FFFFFF"/>
                </a:solidFill>
                <a:latin typeface="Fira Sans"/>
                <a:ea typeface="Fira Sans"/>
                <a:cs typeface="Fira Sans"/>
                <a:sym typeface="Fira Sans"/>
              </a:rPr>
              <a:t>Workex</a:t>
            </a:r>
          </a:p>
        </p:txBody>
      </p:sp>
      <p:grpSp>
        <p:nvGrpSpPr>
          <p:cNvPr name="Group 11" id="11"/>
          <p:cNvGrpSpPr/>
          <p:nvPr/>
        </p:nvGrpSpPr>
        <p:grpSpPr>
          <a:xfrm rot="0">
            <a:off x="991352" y="5426945"/>
            <a:ext cx="2302326" cy="47511"/>
            <a:chOff x="0" y="0"/>
            <a:chExt cx="3069768" cy="63348"/>
          </a:xfrm>
        </p:grpSpPr>
        <p:sp>
          <p:nvSpPr>
            <p:cNvPr name="Freeform 12" id="12"/>
            <p:cNvSpPr/>
            <p:nvPr/>
          </p:nvSpPr>
          <p:spPr>
            <a:xfrm flipH="false" flipV="false" rot="0">
              <a:off x="0" y="0"/>
              <a:ext cx="3069717" cy="63247"/>
            </a:xfrm>
            <a:custGeom>
              <a:avLst/>
              <a:gdLst/>
              <a:ahLst/>
              <a:cxnLst/>
              <a:rect r="r" b="b" t="t" l="l"/>
              <a:pathLst>
                <a:path h="63247" w="3069717">
                  <a:moveTo>
                    <a:pt x="0" y="31623"/>
                  </a:moveTo>
                  <a:cubicBezTo>
                    <a:pt x="0" y="14224"/>
                    <a:pt x="14224" y="0"/>
                    <a:pt x="31623" y="0"/>
                  </a:cubicBezTo>
                  <a:lnTo>
                    <a:pt x="3038094" y="0"/>
                  </a:lnTo>
                  <a:cubicBezTo>
                    <a:pt x="3055620" y="0"/>
                    <a:pt x="3069717" y="14224"/>
                    <a:pt x="3069717" y="31623"/>
                  </a:cubicBezTo>
                  <a:cubicBezTo>
                    <a:pt x="3069717" y="49149"/>
                    <a:pt x="3055493" y="63246"/>
                    <a:pt x="3038094" y="63246"/>
                  </a:cubicBezTo>
                  <a:lnTo>
                    <a:pt x="31623" y="63246"/>
                  </a:lnTo>
                  <a:cubicBezTo>
                    <a:pt x="14224" y="63373"/>
                    <a:pt x="0" y="49149"/>
                    <a:pt x="0" y="31623"/>
                  </a:cubicBezTo>
                  <a:close/>
                </a:path>
              </a:pathLst>
            </a:custGeom>
            <a:solidFill>
              <a:srgbClr val="0F766E"/>
            </a:solidFill>
          </p:spPr>
        </p:sp>
      </p:grpSp>
      <p:sp>
        <p:nvSpPr>
          <p:cNvPr name="TextBox 13" id="13"/>
          <p:cNvSpPr txBox="true"/>
          <p:nvPr/>
        </p:nvSpPr>
        <p:spPr>
          <a:xfrm rot="0">
            <a:off x="991352" y="6057062"/>
            <a:ext cx="6977577" cy="425063"/>
          </a:xfrm>
          <a:prstGeom prst="rect">
            <a:avLst/>
          </a:prstGeom>
        </p:spPr>
        <p:txBody>
          <a:bodyPr anchor="t" rtlCol="false" tIns="0" lIns="0" bIns="0" rIns="0">
            <a:spAutoFit/>
          </a:bodyPr>
          <a:lstStyle/>
          <a:p>
            <a:pPr algn="l">
              <a:lnSpc>
                <a:spcPts val="3112"/>
              </a:lnSpc>
            </a:pPr>
            <a:r>
              <a:rPr lang="en-US" sz="2401">
                <a:solidFill>
                  <a:srgbClr val="FFFFFF"/>
                </a:solidFill>
                <a:latin typeface="Fira Sans"/>
                <a:ea typeface="Fira Sans"/>
                <a:cs typeface="Fira Sans"/>
                <a:sym typeface="Fira Sans"/>
              </a:rPr>
              <a:t>What is the problem?</a:t>
            </a:r>
          </a:p>
        </p:txBody>
      </p:sp>
      <p:sp>
        <p:nvSpPr>
          <p:cNvPr name="TextBox 14" id="14"/>
          <p:cNvSpPr txBox="true"/>
          <p:nvPr/>
        </p:nvSpPr>
        <p:spPr>
          <a:xfrm rot="0">
            <a:off x="991352" y="6667081"/>
            <a:ext cx="6977577" cy="633584"/>
          </a:xfrm>
          <a:prstGeom prst="rect">
            <a:avLst/>
          </a:prstGeom>
        </p:spPr>
        <p:txBody>
          <a:bodyPr anchor="t" rtlCol="false" tIns="0" lIns="0" bIns="0" rIns="0">
            <a:spAutoFit/>
          </a:bodyPr>
          <a:lstStyle/>
          <a:p>
            <a:pPr algn="l">
              <a:lnSpc>
                <a:spcPts val="2338"/>
              </a:lnSpc>
            </a:pPr>
            <a:r>
              <a:rPr lang="en-US" sz="1651">
                <a:solidFill>
                  <a:srgbClr val="FFFFFF"/>
                </a:solidFill>
                <a:latin typeface="Fira Sans"/>
                <a:ea typeface="Fira Sans"/>
                <a:cs typeface="Fira Sans"/>
                <a:sym typeface="Fira Sans"/>
              </a:rPr>
              <a:t>LLMs can be manipulated by </a:t>
            </a:r>
            <a:r>
              <a:rPr lang="en-US" sz="1651" b="true">
                <a:solidFill>
                  <a:srgbClr val="FFFFFF"/>
                </a:solidFill>
                <a:latin typeface="Fira Sans Bold"/>
                <a:ea typeface="Fira Sans Bold"/>
                <a:cs typeface="Fira Sans Bold"/>
                <a:sym typeface="Fira Sans Bold"/>
              </a:rPr>
              <a:t>direct injection</a:t>
            </a:r>
            <a:r>
              <a:rPr lang="en-US" sz="1651">
                <a:solidFill>
                  <a:srgbClr val="FFFFFF"/>
                </a:solidFill>
                <a:latin typeface="Fira Sans"/>
                <a:ea typeface="Fira Sans"/>
                <a:cs typeface="Fira Sans"/>
                <a:sym typeface="Fira Sans"/>
              </a:rPr>
              <a:t> from a user or </a:t>
            </a:r>
            <a:r>
              <a:rPr lang="en-US" sz="1651" b="true">
                <a:solidFill>
                  <a:srgbClr val="FFFFFF"/>
                </a:solidFill>
                <a:latin typeface="Fira Sans Bold"/>
                <a:ea typeface="Fira Sans Bold"/>
                <a:cs typeface="Fira Sans Bold"/>
                <a:sym typeface="Fira Sans Bold"/>
              </a:rPr>
              <a:t>indirect injection</a:t>
            </a:r>
            <a:r>
              <a:rPr lang="en-US" sz="1651">
                <a:solidFill>
                  <a:srgbClr val="FFFFFF"/>
                </a:solidFill>
                <a:latin typeface="Fira Sans"/>
                <a:ea typeface="Fira Sans"/>
                <a:cs typeface="Fira Sans"/>
                <a:sym typeface="Fira Sans"/>
              </a:rPr>
              <a:t> hidden in documents, webpages, or retrieved content.</a:t>
            </a:r>
          </a:p>
        </p:txBody>
      </p:sp>
      <p:sp>
        <p:nvSpPr>
          <p:cNvPr name="TextBox 15" id="15"/>
          <p:cNvSpPr txBox="true"/>
          <p:nvPr/>
        </p:nvSpPr>
        <p:spPr>
          <a:xfrm rot="0">
            <a:off x="991352" y="7806861"/>
            <a:ext cx="6977577" cy="425063"/>
          </a:xfrm>
          <a:prstGeom prst="rect">
            <a:avLst/>
          </a:prstGeom>
        </p:spPr>
        <p:txBody>
          <a:bodyPr anchor="t" rtlCol="false" tIns="0" lIns="0" bIns="0" rIns="0">
            <a:spAutoFit/>
          </a:bodyPr>
          <a:lstStyle/>
          <a:p>
            <a:pPr algn="l">
              <a:lnSpc>
                <a:spcPts val="3112"/>
              </a:lnSpc>
            </a:pPr>
            <a:r>
              <a:rPr lang="en-US" sz="2401">
                <a:solidFill>
                  <a:srgbClr val="FFFFFF"/>
                </a:solidFill>
                <a:latin typeface="Fira Sans"/>
                <a:ea typeface="Fira Sans"/>
                <a:cs typeface="Fira Sans"/>
                <a:sym typeface="Fira Sans"/>
              </a:rPr>
              <a:t>Who is affected?</a:t>
            </a:r>
          </a:p>
        </p:txBody>
      </p:sp>
      <p:sp>
        <p:nvSpPr>
          <p:cNvPr name="TextBox 16" id="16"/>
          <p:cNvSpPr txBox="true"/>
          <p:nvPr/>
        </p:nvSpPr>
        <p:spPr>
          <a:xfrm rot="0">
            <a:off x="991352" y="8416881"/>
            <a:ext cx="6977577" cy="633584"/>
          </a:xfrm>
          <a:prstGeom prst="rect">
            <a:avLst/>
          </a:prstGeom>
        </p:spPr>
        <p:txBody>
          <a:bodyPr anchor="t" rtlCol="false" tIns="0" lIns="0" bIns="0" rIns="0">
            <a:spAutoFit/>
          </a:bodyPr>
          <a:lstStyle/>
          <a:p>
            <a:pPr algn="l">
              <a:lnSpc>
                <a:spcPts val="2338"/>
              </a:lnSpc>
            </a:pPr>
            <a:r>
              <a:rPr lang="en-US" sz="1651">
                <a:solidFill>
                  <a:srgbClr val="FFFFFF"/>
                </a:solidFill>
                <a:latin typeface="Fira Sans"/>
                <a:ea typeface="Fira Sans"/>
                <a:cs typeface="Fira Sans"/>
                <a:sym typeface="Fira Sans"/>
              </a:rPr>
              <a:t>People and organizations connecting an LLM to documents, tools, workflows, credentials, or sensitive information.</a:t>
            </a:r>
          </a:p>
        </p:txBody>
      </p:sp>
      <p:sp>
        <p:nvSpPr>
          <p:cNvPr name="TextBox 17" id="17"/>
          <p:cNvSpPr txBox="true"/>
          <p:nvPr/>
        </p:nvSpPr>
        <p:spPr>
          <a:xfrm rot="0">
            <a:off x="991352" y="9331671"/>
            <a:ext cx="7892672" cy="214484"/>
          </a:xfrm>
          <a:prstGeom prst="rect">
            <a:avLst/>
          </a:prstGeom>
        </p:spPr>
        <p:txBody>
          <a:bodyPr anchor="t" rtlCol="false" tIns="0" lIns="0" bIns="0" rIns="0">
            <a:spAutoFit/>
          </a:bodyPr>
          <a:lstStyle/>
          <a:p>
            <a:pPr algn="l">
              <a:lnSpc>
                <a:spcPts val="1686"/>
              </a:lnSpc>
            </a:pPr>
            <a:r>
              <a:rPr lang="en-US" b="true" sz="1351" spc="40">
                <a:solidFill>
                  <a:srgbClr val="B1B7C0"/>
                </a:solidFill>
                <a:latin typeface="Overpass Medium"/>
                <a:ea typeface="Overpass Medium"/>
                <a:cs typeface="Overpass Medium"/>
                <a:sym typeface="Overpass Medium"/>
              </a:rPr>
              <a:t>WORKEX · HACKATOPIA 2026</a:t>
            </a:r>
          </a:p>
        </p:txBody>
      </p:sp>
      <p:grpSp>
        <p:nvGrpSpPr>
          <p:cNvPr name="Group 18" id="18"/>
          <p:cNvGrpSpPr/>
          <p:nvPr/>
        </p:nvGrpSpPr>
        <p:grpSpPr>
          <a:xfrm rot="0">
            <a:off x="8731501" y="724462"/>
            <a:ext cx="8769629" cy="8007258"/>
            <a:chOff x="0" y="0"/>
            <a:chExt cx="11692839" cy="10676344"/>
          </a:xfrm>
        </p:grpSpPr>
        <p:sp>
          <p:nvSpPr>
            <p:cNvPr name="Freeform 19" id="19"/>
            <p:cNvSpPr/>
            <p:nvPr/>
          </p:nvSpPr>
          <p:spPr>
            <a:xfrm flipH="false" flipV="false" rot="0">
              <a:off x="0" y="0"/>
              <a:ext cx="11692889" cy="10676382"/>
            </a:xfrm>
            <a:custGeom>
              <a:avLst/>
              <a:gdLst/>
              <a:ahLst/>
              <a:cxnLst/>
              <a:rect r="r" b="b" t="t" l="l"/>
              <a:pathLst>
                <a:path h="10676382" w="11692889">
                  <a:moveTo>
                    <a:pt x="0" y="244094"/>
                  </a:moveTo>
                  <a:cubicBezTo>
                    <a:pt x="0" y="109220"/>
                    <a:pt x="109220" y="0"/>
                    <a:pt x="244094" y="0"/>
                  </a:cubicBezTo>
                  <a:lnTo>
                    <a:pt x="11448796" y="0"/>
                  </a:lnTo>
                  <a:cubicBezTo>
                    <a:pt x="11583543" y="0"/>
                    <a:pt x="11692889" y="109220"/>
                    <a:pt x="11692889" y="244094"/>
                  </a:cubicBezTo>
                  <a:lnTo>
                    <a:pt x="11692889" y="10432288"/>
                  </a:lnTo>
                  <a:cubicBezTo>
                    <a:pt x="11692889" y="10567035"/>
                    <a:pt x="11583670" y="10676382"/>
                    <a:pt x="11448796" y="10676382"/>
                  </a:cubicBezTo>
                  <a:lnTo>
                    <a:pt x="244094" y="10676382"/>
                  </a:lnTo>
                  <a:cubicBezTo>
                    <a:pt x="109220" y="10676382"/>
                    <a:pt x="0" y="10567035"/>
                    <a:pt x="0" y="10432288"/>
                  </a:cubicBezTo>
                  <a:close/>
                </a:path>
              </a:pathLst>
            </a:custGeom>
            <a:solidFill>
              <a:srgbClr val="F8FBFC">
                <a:alpha val="90196"/>
              </a:srgbClr>
            </a:solidFill>
          </p:spPr>
        </p:sp>
      </p:grpSp>
      <p:sp>
        <p:nvSpPr>
          <p:cNvPr name="TextBox 20" id="20"/>
          <p:cNvSpPr txBox="true"/>
          <p:nvPr/>
        </p:nvSpPr>
        <p:spPr>
          <a:xfrm rot="0">
            <a:off x="9150925" y="953243"/>
            <a:ext cx="8845887" cy="214484"/>
          </a:xfrm>
          <a:prstGeom prst="rect">
            <a:avLst/>
          </a:prstGeom>
        </p:spPr>
        <p:txBody>
          <a:bodyPr anchor="t" rtlCol="false" tIns="0" lIns="0" bIns="0" rIns="0">
            <a:spAutoFit/>
          </a:bodyPr>
          <a:lstStyle/>
          <a:p>
            <a:pPr algn="l">
              <a:lnSpc>
                <a:spcPts val="1686"/>
              </a:lnSpc>
            </a:pPr>
            <a:r>
              <a:rPr lang="en-US" b="true" sz="1351" spc="81">
                <a:solidFill>
                  <a:srgbClr val="0F766E"/>
                </a:solidFill>
                <a:latin typeface="Overpass Medium"/>
                <a:ea typeface="Overpass Medium"/>
                <a:cs typeface="Overpass Medium"/>
                <a:sym typeface="Overpass Medium"/>
              </a:rPr>
              <a:t>CURRENT REAL-WORLD SITUATION</a:t>
            </a:r>
          </a:p>
        </p:txBody>
      </p:sp>
      <p:sp>
        <p:nvSpPr>
          <p:cNvPr name="TextBox 21" id="21"/>
          <p:cNvSpPr txBox="true"/>
          <p:nvPr/>
        </p:nvSpPr>
        <p:spPr>
          <a:xfrm rot="0">
            <a:off x="9150925" y="1365761"/>
            <a:ext cx="7930801" cy="436131"/>
          </a:xfrm>
          <a:prstGeom prst="rect">
            <a:avLst/>
          </a:prstGeom>
        </p:spPr>
        <p:txBody>
          <a:bodyPr anchor="t" rtlCol="false" tIns="0" lIns="0" bIns="0" rIns="0">
            <a:spAutoFit/>
          </a:bodyPr>
          <a:lstStyle/>
          <a:p>
            <a:pPr algn="l">
              <a:lnSpc>
                <a:spcPts val="3646"/>
              </a:lnSpc>
            </a:pPr>
            <a:r>
              <a:rPr lang="en-US" sz="3452" spc="-34">
                <a:solidFill>
                  <a:srgbClr val="000000"/>
                </a:solidFill>
                <a:latin typeface="Arimo"/>
                <a:ea typeface="Arimo"/>
                <a:cs typeface="Arimo"/>
                <a:sym typeface="Arimo"/>
              </a:rPr>
              <a:t>Trust breaks at the model boundary.</a:t>
            </a:r>
          </a:p>
        </p:txBody>
      </p:sp>
      <p:sp>
        <p:nvSpPr>
          <p:cNvPr name="TextBox 22" id="22"/>
          <p:cNvSpPr txBox="true"/>
          <p:nvPr/>
        </p:nvSpPr>
        <p:spPr>
          <a:xfrm rot="0">
            <a:off x="9150925" y="2032826"/>
            <a:ext cx="7930801" cy="931316"/>
          </a:xfrm>
          <a:prstGeom prst="rect">
            <a:avLst/>
          </a:prstGeom>
        </p:spPr>
        <p:txBody>
          <a:bodyPr anchor="t" rtlCol="false" tIns="0" lIns="0" bIns="0" rIns="0">
            <a:spAutoFit/>
          </a:bodyPr>
          <a:lstStyle/>
          <a:p>
            <a:pPr algn="l">
              <a:lnSpc>
                <a:spcPts val="2338"/>
              </a:lnSpc>
            </a:pPr>
            <a:r>
              <a:rPr lang="en-US" sz="1651">
                <a:solidFill>
                  <a:srgbClr val="000000"/>
                </a:solidFill>
                <a:latin typeface="Fira Sans"/>
                <a:ea typeface="Fira Sans"/>
                <a:cs typeface="Fira Sans"/>
                <a:sym typeface="Fira Sans"/>
              </a:rPr>
              <a:t>When assistants access documents, tools, and sensitive information, attackers can steer behavior through the prompt path—causing unsafe output, unintended tool use, data exposure, or actions taken with model permissions.</a:t>
            </a:r>
          </a:p>
        </p:txBody>
      </p:sp>
      <p:sp>
        <p:nvSpPr>
          <p:cNvPr name="TextBox 23" id="23"/>
          <p:cNvSpPr txBox="true"/>
          <p:nvPr/>
        </p:nvSpPr>
        <p:spPr>
          <a:xfrm rot="0">
            <a:off x="9150925" y="3470339"/>
            <a:ext cx="7930801" cy="425063"/>
          </a:xfrm>
          <a:prstGeom prst="rect">
            <a:avLst/>
          </a:prstGeom>
        </p:spPr>
        <p:txBody>
          <a:bodyPr anchor="t" rtlCol="false" tIns="0" lIns="0" bIns="0" rIns="0">
            <a:spAutoFit/>
          </a:bodyPr>
          <a:lstStyle/>
          <a:p>
            <a:pPr algn="l">
              <a:lnSpc>
                <a:spcPts val="3112"/>
              </a:lnSpc>
            </a:pPr>
            <a:r>
              <a:rPr lang="en-US" sz="2401">
                <a:solidFill>
                  <a:srgbClr val="000000"/>
                </a:solidFill>
                <a:latin typeface="Fira Sans"/>
                <a:ea typeface="Fira Sans"/>
                <a:cs typeface="Fira Sans"/>
                <a:sym typeface="Fira Sans"/>
              </a:rPr>
              <a:t>Why it matters</a:t>
            </a:r>
          </a:p>
        </p:txBody>
      </p:sp>
      <p:sp>
        <p:nvSpPr>
          <p:cNvPr name="TextBox 24" id="24"/>
          <p:cNvSpPr txBox="true"/>
          <p:nvPr/>
        </p:nvSpPr>
        <p:spPr>
          <a:xfrm rot="0">
            <a:off x="9150925" y="4080367"/>
            <a:ext cx="7930801" cy="633584"/>
          </a:xfrm>
          <a:prstGeom prst="rect">
            <a:avLst/>
          </a:prstGeom>
        </p:spPr>
        <p:txBody>
          <a:bodyPr anchor="t" rtlCol="false" tIns="0" lIns="0" bIns="0" rIns="0">
            <a:spAutoFit/>
          </a:bodyPr>
          <a:lstStyle/>
          <a:p>
            <a:pPr algn="l">
              <a:lnSpc>
                <a:spcPts val="2338"/>
              </a:lnSpc>
            </a:pPr>
            <a:r>
              <a:rPr lang="en-US" sz="1651">
                <a:solidFill>
                  <a:srgbClr val="000000"/>
                </a:solidFill>
                <a:latin typeface="Fira Sans"/>
                <a:ea typeface="Fira Sans"/>
                <a:cs typeface="Fira Sans"/>
                <a:sym typeface="Fira Sans"/>
              </a:rPr>
              <a:t>A compromised context can turn a helpful assistant into an uninspected route to private data, business systems, and downstream decisions.</a:t>
            </a:r>
          </a:p>
        </p:txBody>
      </p:sp>
      <p:sp>
        <p:nvSpPr>
          <p:cNvPr name="TextBox 25" id="25"/>
          <p:cNvSpPr txBox="true"/>
          <p:nvPr/>
        </p:nvSpPr>
        <p:spPr>
          <a:xfrm rot="0">
            <a:off x="9150925" y="5220138"/>
            <a:ext cx="7930801" cy="425063"/>
          </a:xfrm>
          <a:prstGeom prst="rect">
            <a:avLst/>
          </a:prstGeom>
        </p:spPr>
        <p:txBody>
          <a:bodyPr anchor="t" rtlCol="false" tIns="0" lIns="0" bIns="0" rIns="0">
            <a:spAutoFit/>
          </a:bodyPr>
          <a:lstStyle/>
          <a:p>
            <a:pPr algn="l">
              <a:lnSpc>
                <a:spcPts val="3112"/>
              </a:lnSpc>
            </a:pPr>
            <a:r>
              <a:rPr lang="en-US" sz="2401">
                <a:solidFill>
                  <a:srgbClr val="000000"/>
                </a:solidFill>
                <a:latin typeface="Fira Sans"/>
                <a:ea typeface="Fira Sans"/>
                <a:cs typeface="Fira Sans"/>
                <a:sym typeface="Fira Sans"/>
              </a:rPr>
              <a:t>Verified evidence</a:t>
            </a:r>
          </a:p>
        </p:txBody>
      </p:sp>
      <p:sp>
        <p:nvSpPr>
          <p:cNvPr name="TextBox 26" id="26"/>
          <p:cNvSpPr txBox="true"/>
          <p:nvPr/>
        </p:nvSpPr>
        <p:spPr>
          <a:xfrm rot="0">
            <a:off x="9150925" y="5830167"/>
            <a:ext cx="7930801" cy="931316"/>
          </a:xfrm>
          <a:prstGeom prst="rect">
            <a:avLst/>
          </a:prstGeom>
        </p:spPr>
        <p:txBody>
          <a:bodyPr anchor="t" rtlCol="false" tIns="0" lIns="0" bIns="0" rIns="0">
            <a:spAutoFit/>
          </a:bodyPr>
          <a:lstStyle/>
          <a:p>
            <a:pPr algn="l">
              <a:lnSpc>
                <a:spcPts val="2338"/>
              </a:lnSpc>
            </a:pPr>
            <a:r>
              <a:rPr lang="en-US" sz="1651" b="true">
                <a:solidFill>
                  <a:srgbClr val="000000"/>
                </a:solidFill>
                <a:latin typeface="Fira Sans Bold"/>
                <a:ea typeface="Fira Sans Bold"/>
                <a:cs typeface="Fira Sans Bold"/>
                <a:sym typeface="Fira Sans Bold"/>
              </a:rPr>
              <a:t>OWASP GenAI Security Project · LLM01:2025 Prompt Injection</a:t>
            </a:r>
            <a:r>
              <a:rPr lang="en-US" sz="1651">
                <a:solidFill>
                  <a:srgbClr val="000000"/>
                </a:solidFill>
                <a:latin typeface="Fira Sans"/>
                <a:ea typeface="Fira Sans"/>
                <a:cs typeface="Fira Sans"/>
                <a:sym typeface="Fira Sans"/>
              </a:rPr>
              <a:t> says prompt injection can alter model behavior or output, can be direct or indirect, and that RAG and fine-tuning do not fully mitigate the vulnerability.</a:t>
            </a:r>
          </a:p>
        </p:txBody>
      </p:sp>
      <p:sp>
        <p:nvSpPr>
          <p:cNvPr name="TextBox 27" id="27"/>
          <p:cNvSpPr txBox="true"/>
          <p:nvPr/>
        </p:nvSpPr>
        <p:spPr>
          <a:xfrm rot="0">
            <a:off x="9150925" y="7073846"/>
            <a:ext cx="7930801" cy="425063"/>
          </a:xfrm>
          <a:prstGeom prst="rect">
            <a:avLst/>
          </a:prstGeom>
        </p:spPr>
        <p:txBody>
          <a:bodyPr anchor="t" rtlCol="false" tIns="0" lIns="0" bIns="0" rIns="0">
            <a:spAutoFit/>
          </a:bodyPr>
          <a:lstStyle/>
          <a:p>
            <a:pPr algn="l">
              <a:lnSpc>
                <a:spcPts val="3112"/>
              </a:lnSpc>
            </a:pPr>
            <a:r>
              <a:rPr lang="en-US" sz="2401">
                <a:solidFill>
                  <a:srgbClr val="000000"/>
                </a:solidFill>
                <a:latin typeface="Fira Sans"/>
                <a:ea typeface="Fira Sans"/>
                <a:cs typeface="Fira Sans"/>
                <a:sym typeface="Fira Sans"/>
              </a:rPr>
              <a:t>Supporting data point</a:t>
            </a:r>
          </a:p>
        </p:txBody>
      </p:sp>
      <p:sp>
        <p:nvSpPr>
          <p:cNvPr name="TextBox 28" id="28"/>
          <p:cNvSpPr txBox="true"/>
          <p:nvPr/>
        </p:nvSpPr>
        <p:spPr>
          <a:xfrm rot="0">
            <a:off x="9150925" y="7523664"/>
            <a:ext cx="7930801" cy="931316"/>
          </a:xfrm>
          <a:prstGeom prst="rect">
            <a:avLst/>
          </a:prstGeom>
        </p:spPr>
        <p:txBody>
          <a:bodyPr anchor="t" rtlCol="false" tIns="0" lIns="0" bIns="0" rIns="0">
            <a:spAutoFit/>
          </a:bodyPr>
          <a:lstStyle/>
          <a:p>
            <a:pPr algn="l">
              <a:lnSpc>
                <a:spcPts val="2338"/>
              </a:lnSpc>
            </a:pPr>
            <a:r>
              <a:rPr lang="en-US" sz="1651" b="true">
                <a:solidFill>
                  <a:srgbClr val="000000"/>
                </a:solidFill>
                <a:latin typeface="Fira Sans Bold"/>
                <a:ea typeface="Fira Sans Bold"/>
                <a:cs typeface="Fira Sans Bold"/>
                <a:sym typeface="Fira Sans Bold"/>
              </a:rPr>
              <a:t>Verified:</a:t>
            </a:r>
            <a:r>
              <a:rPr lang="en-US" sz="1651">
                <a:solidFill>
                  <a:srgbClr val="000000"/>
                </a:solidFill>
                <a:latin typeface="Fira Sans"/>
                <a:ea typeface="Fira Sans"/>
                <a:cs typeface="Fira Sans"/>
                <a:sym typeface="Fira Sans"/>
              </a:rPr>
              <a:t> OWASP identifies prompt injection as an active LLM security risk. </a:t>
            </a:r>
            <a:r>
              <a:rPr lang="en-US" sz="1651" b="true">
                <a:solidFill>
                  <a:srgbClr val="000000"/>
                </a:solidFill>
                <a:latin typeface="Fira Sans Bold"/>
                <a:ea typeface="Fira Sans Bold"/>
                <a:cs typeface="Fira Sans Bold"/>
                <a:sym typeface="Fira Sans Bold"/>
              </a:rPr>
              <a:t>Numeric statistic:</a:t>
            </a:r>
            <a:r>
              <a:rPr lang="en-US" sz="1651">
                <a:solidFill>
                  <a:srgbClr val="000000"/>
                </a:solidFill>
                <a:latin typeface="Fira Sans"/>
                <a:ea typeface="Fira Sans"/>
                <a:cs typeface="Fira Sans"/>
                <a:sym typeface="Fira Sans"/>
              </a:rPr>
              <a:t> validate before submission; no verified figure is available in current sources.</a:t>
            </a:r>
          </a:p>
        </p:txBody>
      </p:sp>
      <p:grpSp>
        <p:nvGrpSpPr>
          <p:cNvPr name="Group 29" id="29"/>
          <p:cNvGrpSpPr/>
          <p:nvPr/>
        </p:nvGrpSpPr>
        <p:grpSpPr>
          <a:xfrm rot="0">
            <a:off x="571929" y="9145714"/>
            <a:ext cx="7816415" cy="844286"/>
            <a:chOff x="0" y="0"/>
            <a:chExt cx="10421887" cy="1125715"/>
          </a:xfrm>
        </p:grpSpPr>
        <p:sp>
          <p:nvSpPr>
            <p:cNvPr name="Freeform 30" id="30"/>
            <p:cNvSpPr/>
            <p:nvPr/>
          </p:nvSpPr>
          <p:spPr>
            <a:xfrm flipH="false" flipV="false" rot="0">
              <a:off x="0" y="0"/>
              <a:ext cx="10421863" cy="1125705"/>
            </a:xfrm>
            <a:custGeom>
              <a:avLst/>
              <a:gdLst/>
              <a:ahLst/>
              <a:cxnLst/>
              <a:rect r="r" b="b" t="t" l="l"/>
              <a:pathLst>
                <a:path h="1125705" w="10421863">
                  <a:moveTo>
                    <a:pt x="0" y="207771"/>
                  </a:moveTo>
                  <a:cubicBezTo>
                    <a:pt x="0" y="93016"/>
                    <a:pt x="50428" y="0"/>
                    <a:pt x="112642" y="0"/>
                  </a:cubicBezTo>
                  <a:lnTo>
                    <a:pt x="10309221" y="0"/>
                  </a:lnTo>
                  <a:cubicBezTo>
                    <a:pt x="10371435" y="0"/>
                    <a:pt x="10421863" y="93016"/>
                    <a:pt x="10421863" y="207771"/>
                  </a:cubicBezTo>
                  <a:lnTo>
                    <a:pt x="10421863" y="917934"/>
                  </a:lnTo>
                  <a:cubicBezTo>
                    <a:pt x="10421863" y="1032689"/>
                    <a:pt x="10371435" y="1125705"/>
                    <a:pt x="10309221" y="1125705"/>
                  </a:cubicBezTo>
                  <a:lnTo>
                    <a:pt x="112642" y="1125705"/>
                  </a:lnTo>
                  <a:cubicBezTo>
                    <a:pt x="50428" y="1125705"/>
                    <a:pt x="0" y="1032689"/>
                    <a:pt x="0" y="917934"/>
                  </a:cubicBezTo>
                  <a:close/>
                </a:path>
              </a:pathLst>
            </a:custGeom>
            <a:solidFill>
              <a:srgbClr val="F8FBFC">
                <a:alpha val="90196"/>
              </a:srgbClr>
            </a:solidFill>
          </p:spPr>
        </p:sp>
      </p:grpSp>
      <p:sp>
        <p:nvSpPr>
          <p:cNvPr name="TextBox 31" id="31"/>
          <p:cNvSpPr txBox="true"/>
          <p:nvPr/>
        </p:nvSpPr>
        <p:spPr>
          <a:xfrm rot="0">
            <a:off x="828873" y="9250880"/>
            <a:ext cx="5136654" cy="590550"/>
          </a:xfrm>
          <a:prstGeom prst="rect">
            <a:avLst/>
          </a:prstGeom>
        </p:spPr>
        <p:txBody>
          <a:bodyPr anchor="t" rtlCol="false" tIns="0" lIns="0" bIns="0" rIns="0">
            <a:spAutoFit/>
          </a:bodyPr>
          <a:lstStyle/>
          <a:p>
            <a:pPr algn="l">
              <a:lnSpc>
                <a:spcPts val="2341"/>
              </a:lnSpc>
            </a:pPr>
            <a:r>
              <a:rPr lang="en-US" b="true" sz="1951" spc="117">
                <a:solidFill>
                  <a:srgbClr val="0F766E"/>
                </a:solidFill>
                <a:latin typeface="Overpass Medium"/>
                <a:ea typeface="Overpass Medium"/>
                <a:cs typeface="Overpass Medium"/>
                <a:sym typeface="Overpass Medium"/>
              </a:rPr>
              <a:t>TEAM 404ERRORFOUND-</a:t>
            </a:r>
          </a:p>
          <a:p>
            <a:pPr algn="l">
              <a:lnSpc>
                <a:spcPts val="2341"/>
              </a:lnSpc>
            </a:pPr>
            <a:r>
              <a:rPr lang="en-US" b="true" sz="1951" spc="118">
                <a:solidFill>
                  <a:srgbClr val="0F766E"/>
                </a:solidFill>
                <a:latin typeface="Overpass Medium"/>
                <a:ea typeface="Overpass Medium"/>
                <a:cs typeface="Overpass Medium"/>
                <a:sym typeface="Overpass Medium"/>
              </a:rPr>
              <a:t>MASSEEHA AND PRATHAM SEETHARAM</a:t>
            </a:r>
          </a:p>
        </p:txBody>
      </p:sp>
      <p:grpSp>
        <p:nvGrpSpPr>
          <p:cNvPr name="Group 32" id="32"/>
          <p:cNvGrpSpPr/>
          <p:nvPr/>
        </p:nvGrpSpPr>
        <p:grpSpPr>
          <a:xfrm rot="0">
            <a:off x="5965527" y="4128440"/>
            <a:ext cx="1677667" cy="1199150"/>
            <a:chOff x="0" y="0"/>
            <a:chExt cx="2236889" cy="1598866"/>
          </a:xfrm>
        </p:grpSpPr>
        <p:sp>
          <p:nvSpPr>
            <p:cNvPr name="Freeform 33" id="33" descr="preencoded.png"/>
            <p:cNvSpPr/>
            <p:nvPr/>
          </p:nvSpPr>
          <p:spPr>
            <a:xfrm flipH="false" flipV="false" rot="0">
              <a:off x="0" y="0"/>
              <a:ext cx="2236851" cy="1598930"/>
            </a:xfrm>
            <a:custGeom>
              <a:avLst/>
              <a:gdLst/>
              <a:ahLst/>
              <a:cxnLst/>
              <a:rect r="r" b="b" t="t" l="l"/>
              <a:pathLst>
                <a:path h="1598930" w="2236851">
                  <a:moveTo>
                    <a:pt x="0" y="0"/>
                  </a:moveTo>
                  <a:lnTo>
                    <a:pt x="2236851" y="0"/>
                  </a:lnTo>
                  <a:lnTo>
                    <a:pt x="2236851" y="1598930"/>
                  </a:lnTo>
                  <a:lnTo>
                    <a:pt x="0" y="1598930"/>
                  </a:lnTo>
                  <a:lnTo>
                    <a:pt x="0" y="0"/>
                  </a:lnTo>
                  <a:close/>
                </a:path>
              </a:pathLst>
            </a:custGeom>
            <a:blipFill>
              <a:blip r:embed="rId4"/>
              <a:stretch>
                <a:fillRect l="-204" t="0" r="-206" b="3"/>
              </a:stretch>
            </a:blipFill>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628307" y="9846183"/>
            <a:ext cx="1609020" cy="384353"/>
            <a:chOff x="0" y="0"/>
            <a:chExt cx="2145360" cy="512470"/>
          </a:xfrm>
        </p:grpSpPr>
        <p:sp>
          <p:nvSpPr>
            <p:cNvPr name="Freeform 3" id="3" descr="preencoded.png">
              <a:hlinkClick r:id="rId3" tooltip="https://gamma.app/?utm_source=made-with-gamma"/>
            </p:cNvPr>
            <p:cNvSpPr/>
            <p:nvPr/>
          </p:nvSpPr>
          <p:spPr>
            <a:xfrm flipH="false" flipV="false" rot="0">
              <a:off x="0" y="0"/>
              <a:ext cx="2145411" cy="512445"/>
            </a:xfrm>
            <a:custGeom>
              <a:avLst/>
              <a:gdLst/>
              <a:ahLst/>
              <a:cxnLst/>
              <a:rect r="r" b="b" t="t" l="l"/>
              <a:pathLst>
                <a:path h="512445" w="2145411">
                  <a:moveTo>
                    <a:pt x="0" y="0"/>
                  </a:moveTo>
                  <a:lnTo>
                    <a:pt x="2145411" y="0"/>
                  </a:lnTo>
                  <a:lnTo>
                    <a:pt x="2145411" y="512445"/>
                  </a:lnTo>
                  <a:lnTo>
                    <a:pt x="0" y="512445"/>
                  </a:lnTo>
                  <a:lnTo>
                    <a:pt x="0" y="0"/>
                  </a:lnTo>
                  <a:close/>
                </a:path>
              </a:pathLst>
            </a:custGeom>
            <a:blipFill>
              <a:blip r:embed="rId4"/>
              <a:stretch>
                <a:fillRect l="0" t="0" r="2" b="-4"/>
              </a:stretch>
            </a:blipFill>
          </p:spPr>
        </p:sp>
      </p:grpSp>
      <p:sp>
        <p:nvSpPr>
          <p:cNvPr name="TextBox 4" id="4"/>
          <p:cNvSpPr txBox="true"/>
          <p:nvPr/>
        </p:nvSpPr>
        <p:spPr>
          <a:xfrm rot="0">
            <a:off x="915095" y="819807"/>
            <a:ext cx="9067067" cy="305019"/>
          </a:xfrm>
          <a:prstGeom prst="rect">
            <a:avLst/>
          </a:prstGeom>
        </p:spPr>
        <p:txBody>
          <a:bodyPr anchor="t" rtlCol="false" tIns="0" lIns="0" bIns="0" rIns="0">
            <a:spAutoFit/>
          </a:bodyPr>
          <a:lstStyle/>
          <a:p>
            <a:pPr algn="l">
              <a:lnSpc>
                <a:spcPts val="2248"/>
              </a:lnSpc>
            </a:pPr>
            <a:r>
              <a:rPr lang="en-US" b="true" sz="1801" spc="108">
                <a:solidFill>
                  <a:srgbClr val="0F766E"/>
                </a:solidFill>
                <a:latin typeface="Overpass Medium"/>
                <a:ea typeface="Overpass Medium"/>
                <a:cs typeface="Overpass Medium"/>
                <a:sym typeface="Overpass Medium"/>
              </a:rPr>
              <a:t>THE GAP</a:t>
            </a:r>
          </a:p>
        </p:txBody>
      </p:sp>
      <p:sp>
        <p:nvSpPr>
          <p:cNvPr name="TextBox 5" id="5"/>
          <p:cNvSpPr txBox="true"/>
          <p:nvPr/>
        </p:nvSpPr>
        <p:spPr>
          <a:xfrm rot="0">
            <a:off x="915095" y="1340806"/>
            <a:ext cx="8418881" cy="1174309"/>
          </a:xfrm>
          <a:prstGeom prst="rect">
            <a:avLst/>
          </a:prstGeom>
        </p:spPr>
        <p:txBody>
          <a:bodyPr anchor="t" rtlCol="false" tIns="0" lIns="0" bIns="0" rIns="0">
            <a:spAutoFit/>
          </a:bodyPr>
          <a:lstStyle/>
          <a:p>
            <a:pPr algn="l">
              <a:lnSpc>
                <a:spcPts val="4755"/>
              </a:lnSpc>
            </a:pPr>
            <a:r>
              <a:rPr lang="en-US" sz="4503" spc="-45">
                <a:solidFill>
                  <a:srgbClr val="0B1F3A"/>
                </a:solidFill>
                <a:latin typeface="Arimo"/>
                <a:ea typeface="Arimo"/>
                <a:cs typeface="Arimo"/>
                <a:sym typeface="Arimo"/>
              </a:rPr>
              <a:t>AI safety controls are spread across the stack.</a:t>
            </a:r>
          </a:p>
        </p:txBody>
      </p:sp>
      <p:sp>
        <p:nvSpPr>
          <p:cNvPr name="TextBox 6" id="6"/>
          <p:cNvSpPr txBox="true"/>
          <p:nvPr/>
        </p:nvSpPr>
        <p:spPr>
          <a:xfrm rot="0">
            <a:off x="915095" y="2709053"/>
            <a:ext cx="8418881" cy="2123894"/>
          </a:xfrm>
          <a:prstGeom prst="rect">
            <a:avLst/>
          </a:prstGeom>
        </p:spPr>
        <p:txBody>
          <a:bodyPr anchor="t" rtlCol="false" tIns="0" lIns="0" bIns="0" rIns="0">
            <a:spAutoFit/>
          </a:bodyPr>
          <a:lstStyle/>
          <a:p>
            <a:pPr algn="l">
              <a:lnSpc>
                <a:spcPts val="4038"/>
              </a:lnSpc>
            </a:pPr>
            <a:r>
              <a:rPr lang="en-US" sz="2852">
                <a:solidFill>
                  <a:srgbClr val="17324D"/>
                </a:solidFill>
                <a:latin typeface="Fira Sans"/>
                <a:ea typeface="Fira Sans"/>
                <a:cs typeface="Fira Sans"/>
                <a:sym typeface="Fira Sans"/>
              </a:rPr>
              <a:t>When prompts, retrieval, model safeguards and monitoring live in different places, decisions become difficult to inspect, test and govern consistently.</a:t>
            </a:r>
          </a:p>
        </p:txBody>
      </p:sp>
      <p:grpSp>
        <p:nvGrpSpPr>
          <p:cNvPr name="Group 7" id="7"/>
          <p:cNvGrpSpPr/>
          <p:nvPr/>
        </p:nvGrpSpPr>
        <p:grpSpPr>
          <a:xfrm rot="0">
            <a:off x="915095" y="5114153"/>
            <a:ext cx="3438592" cy="490623"/>
            <a:chOff x="0" y="0"/>
            <a:chExt cx="4584789" cy="654164"/>
          </a:xfrm>
        </p:grpSpPr>
        <p:sp>
          <p:nvSpPr>
            <p:cNvPr name="Freeform 8" id="8"/>
            <p:cNvSpPr/>
            <p:nvPr/>
          </p:nvSpPr>
          <p:spPr>
            <a:xfrm flipH="false" flipV="false" rot="0">
              <a:off x="0" y="0"/>
              <a:ext cx="4584700" cy="654050"/>
            </a:xfrm>
            <a:custGeom>
              <a:avLst/>
              <a:gdLst/>
              <a:ahLst/>
              <a:cxnLst/>
              <a:rect r="r" b="b" t="t" l="l"/>
              <a:pathLst>
                <a:path h="654050" w="4584700">
                  <a:moveTo>
                    <a:pt x="0" y="327025"/>
                  </a:moveTo>
                  <a:cubicBezTo>
                    <a:pt x="0" y="146431"/>
                    <a:pt x="146431" y="0"/>
                    <a:pt x="327025" y="0"/>
                  </a:cubicBezTo>
                  <a:lnTo>
                    <a:pt x="4257675" y="0"/>
                  </a:lnTo>
                  <a:cubicBezTo>
                    <a:pt x="4438269" y="0"/>
                    <a:pt x="4584700" y="146431"/>
                    <a:pt x="4584700" y="327025"/>
                  </a:cubicBezTo>
                  <a:cubicBezTo>
                    <a:pt x="4584700" y="507619"/>
                    <a:pt x="4438269" y="654050"/>
                    <a:pt x="4257675" y="654050"/>
                  </a:cubicBezTo>
                  <a:lnTo>
                    <a:pt x="327025" y="654050"/>
                  </a:lnTo>
                  <a:cubicBezTo>
                    <a:pt x="146431" y="654177"/>
                    <a:pt x="0" y="507746"/>
                    <a:pt x="0" y="327152"/>
                  </a:cubicBezTo>
                  <a:close/>
                </a:path>
              </a:pathLst>
            </a:custGeom>
            <a:solidFill>
              <a:srgbClr val="FFFFFF"/>
            </a:solidFill>
          </p:spPr>
        </p:sp>
      </p:grpSp>
      <p:sp>
        <p:nvSpPr>
          <p:cNvPr name="TextBox 9" id="9"/>
          <p:cNvSpPr txBox="true"/>
          <p:nvPr/>
        </p:nvSpPr>
        <p:spPr>
          <a:xfrm rot="0">
            <a:off x="1103805" y="5208441"/>
            <a:ext cx="3976268" cy="302057"/>
          </a:xfrm>
          <a:prstGeom prst="rect">
            <a:avLst/>
          </a:prstGeom>
        </p:spPr>
        <p:txBody>
          <a:bodyPr anchor="t" rtlCol="false" tIns="0" lIns="0" bIns="0" rIns="0">
            <a:spAutoFit/>
          </a:bodyPr>
          <a:lstStyle/>
          <a:p>
            <a:pPr algn="l">
              <a:lnSpc>
                <a:spcPts val="2341"/>
              </a:lnSpc>
            </a:pPr>
            <a:r>
              <a:rPr lang="en-US" b="true" sz="1951" spc="118">
                <a:solidFill>
                  <a:srgbClr val="0B1F3A"/>
                </a:solidFill>
                <a:latin typeface="Overpass Medium"/>
                <a:ea typeface="Overpass Medium"/>
                <a:cs typeface="Overpass Medium"/>
                <a:sym typeface="Overpass Medium"/>
              </a:rPr>
              <a:t>OWASP · LLM01:2025</a:t>
            </a:r>
          </a:p>
        </p:txBody>
      </p:sp>
      <p:sp>
        <p:nvSpPr>
          <p:cNvPr name="TextBox 10" id="10"/>
          <p:cNvSpPr txBox="true"/>
          <p:nvPr/>
        </p:nvSpPr>
        <p:spPr>
          <a:xfrm rot="0">
            <a:off x="915095" y="5853246"/>
            <a:ext cx="8418881" cy="681542"/>
          </a:xfrm>
          <a:prstGeom prst="rect">
            <a:avLst/>
          </a:prstGeom>
        </p:spPr>
        <p:txBody>
          <a:bodyPr anchor="t" rtlCol="false" tIns="0" lIns="0" bIns="0" rIns="0">
            <a:spAutoFit/>
          </a:bodyPr>
          <a:lstStyle/>
          <a:p>
            <a:pPr algn="l">
              <a:lnSpc>
                <a:spcPts val="2521"/>
              </a:lnSpc>
            </a:pPr>
            <a:r>
              <a:rPr lang="en-US" sz="1876">
                <a:solidFill>
                  <a:srgbClr val="557083"/>
                </a:solidFill>
                <a:latin typeface="Fira Sans"/>
                <a:ea typeface="Fira Sans"/>
                <a:cs typeface="Fira Sans"/>
                <a:sym typeface="Fira Sans"/>
              </a:rPr>
              <a:t>OWASP lists Prompt Injection as LLM01:2025 and notes that RAG and fine-tuning do not fully mitigate the vulnerability.</a:t>
            </a:r>
          </a:p>
        </p:txBody>
      </p:sp>
      <p:grpSp>
        <p:nvGrpSpPr>
          <p:cNvPr name="Group 11" id="11"/>
          <p:cNvGrpSpPr/>
          <p:nvPr/>
        </p:nvGrpSpPr>
        <p:grpSpPr>
          <a:xfrm rot="0">
            <a:off x="10668333" y="0"/>
            <a:ext cx="7633516" cy="10295039"/>
            <a:chOff x="0" y="0"/>
            <a:chExt cx="10178021" cy="13726719"/>
          </a:xfrm>
        </p:grpSpPr>
        <p:sp>
          <p:nvSpPr>
            <p:cNvPr name="Freeform 12" id="12"/>
            <p:cNvSpPr/>
            <p:nvPr/>
          </p:nvSpPr>
          <p:spPr>
            <a:xfrm flipH="false" flipV="false" rot="0">
              <a:off x="0" y="0"/>
              <a:ext cx="10178034" cy="13726668"/>
            </a:xfrm>
            <a:custGeom>
              <a:avLst/>
              <a:gdLst/>
              <a:ahLst/>
              <a:cxnLst/>
              <a:rect r="r" b="b" t="t" l="l"/>
              <a:pathLst>
                <a:path h="13726668" w="10178034">
                  <a:moveTo>
                    <a:pt x="0" y="0"/>
                  </a:moveTo>
                  <a:lnTo>
                    <a:pt x="10178034" y="0"/>
                  </a:lnTo>
                  <a:lnTo>
                    <a:pt x="10178034" y="13726668"/>
                  </a:lnTo>
                  <a:lnTo>
                    <a:pt x="0" y="13726668"/>
                  </a:lnTo>
                  <a:close/>
                </a:path>
              </a:pathLst>
            </a:custGeom>
            <a:solidFill>
              <a:srgbClr val="0B1F3A"/>
            </a:solidFill>
          </p:spPr>
        </p:sp>
      </p:grpSp>
      <p:grpSp>
        <p:nvGrpSpPr>
          <p:cNvPr name="Group 13" id="13"/>
          <p:cNvGrpSpPr/>
          <p:nvPr/>
        </p:nvGrpSpPr>
        <p:grpSpPr>
          <a:xfrm rot="0">
            <a:off x="11316519" y="648205"/>
            <a:ext cx="6337135" cy="8226800"/>
            <a:chOff x="0" y="0"/>
            <a:chExt cx="8449513" cy="10969066"/>
          </a:xfrm>
        </p:grpSpPr>
        <p:sp>
          <p:nvSpPr>
            <p:cNvPr name="Freeform 14" id="14" descr="preencoded.png"/>
            <p:cNvSpPr/>
            <p:nvPr/>
          </p:nvSpPr>
          <p:spPr>
            <a:xfrm flipH="false" flipV="false" rot="0">
              <a:off x="0" y="0"/>
              <a:ext cx="8449564" cy="10969117"/>
            </a:xfrm>
            <a:custGeom>
              <a:avLst/>
              <a:gdLst/>
              <a:ahLst/>
              <a:cxnLst/>
              <a:rect r="r" b="b" t="t" l="l"/>
              <a:pathLst>
                <a:path h="10969117" w="8449564">
                  <a:moveTo>
                    <a:pt x="0" y="0"/>
                  </a:moveTo>
                  <a:lnTo>
                    <a:pt x="8449564" y="0"/>
                  </a:lnTo>
                  <a:lnTo>
                    <a:pt x="8449564" y="10969117"/>
                  </a:lnTo>
                  <a:lnTo>
                    <a:pt x="0" y="10969117"/>
                  </a:lnTo>
                  <a:lnTo>
                    <a:pt x="0" y="0"/>
                  </a:lnTo>
                  <a:close/>
                </a:path>
              </a:pathLst>
            </a:custGeom>
            <a:blipFill>
              <a:blip r:embed="rId5"/>
              <a:stretch>
                <a:fillRect l="-34" t="0" r="-33" b="0"/>
              </a:stretch>
            </a:blipFill>
          </p:spPr>
        </p:sp>
      </p:grpSp>
      <p:grpSp>
        <p:nvGrpSpPr>
          <p:cNvPr name="Group 15" id="15"/>
          <p:cNvGrpSpPr/>
          <p:nvPr/>
        </p:nvGrpSpPr>
        <p:grpSpPr>
          <a:xfrm rot="0">
            <a:off x="11316519" y="9156211"/>
            <a:ext cx="4628931" cy="490623"/>
            <a:chOff x="0" y="0"/>
            <a:chExt cx="6171908" cy="654164"/>
          </a:xfrm>
        </p:grpSpPr>
        <p:sp>
          <p:nvSpPr>
            <p:cNvPr name="Freeform 16" id="16"/>
            <p:cNvSpPr/>
            <p:nvPr/>
          </p:nvSpPr>
          <p:spPr>
            <a:xfrm flipH="false" flipV="false" rot="0">
              <a:off x="0" y="0"/>
              <a:ext cx="6171819" cy="654050"/>
            </a:xfrm>
            <a:custGeom>
              <a:avLst/>
              <a:gdLst/>
              <a:ahLst/>
              <a:cxnLst/>
              <a:rect r="r" b="b" t="t" l="l"/>
              <a:pathLst>
                <a:path h="654050" w="6171819">
                  <a:moveTo>
                    <a:pt x="0" y="327025"/>
                  </a:moveTo>
                  <a:cubicBezTo>
                    <a:pt x="0" y="146431"/>
                    <a:pt x="146431" y="0"/>
                    <a:pt x="327025" y="0"/>
                  </a:cubicBezTo>
                  <a:lnTo>
                    <a:pt x="5844794" y="0"/>
                  </a:lnTo>
                  <a:cubicBezTo>
                    <a:pt x="6025388" y="0"/>
                    <a:pt x="6171819" y="146431"/>
                    <a:pt x="6171819" y="327025"/>
                  </a:cubicBezTo>
                  <a:cubicBezTo>
                    <a:pt x="6171819" y="507619"/>
                    <a:pt x="6025388" y="654050"/>
                    <a:pt x="5844794" y="654050"/>
                  </a:cubicBezTo>
                  <a:lnTo>
                    <a:pt x="327025" y="654050"/>
                  </a:lnTo>
                  <a:cubicBezTo>
                    <a:pt x="146431" y="654177"/>
                    <a:pt x="0" y="507746"/>
                    <a:pt x="0" y="327152"/>
                  </a:cubicBezTo>
                  <a:close/>
                </a:path>
              </a:pathLst>
            </a:custGeom>
            <a:solidFill>
              <a:srgbClr val="FFFFFF"/>
            </a:solidFill>
          </p:spPr>
        </p:sp>
      </p:grpSp>
      <p:sp>
        <p:nvSpPr>
          <p:cNvPr name="TextBox 17" id="17"/>
          <p:cNvSpPr txBox="true"/>
          <p:nvPr/>
        </p:nvSpPr>
        <p:spPr>
          <a:xfrm rot="0">
            <a:off x="11505228" y="9250499"/>
            <a:ext cx="5166608" cy="302057"/>
          </a:xfrm>
          <a:prstGeom prst="rect">
            <a:avLst/>
          </a:prstGeom>
        </p:spPr>
        <p:txBody>
          <a:bodyPr anchor="t" rtlCol="false" tIns="0" lIns="0" bIns="0" rIns="0">
            <a:spAutoFit/>
          </a:bodyPr>
          <a:lstStyle/>
          <a:p>
            <a:pPr algn="l">
              <a:lnSpc>
                <a:spcPts val="2341"/>
              </a:lnSpc>
            </a:pPr>
            <a:r>
              <a:rPr lang="en-US" b="true" sz="1951" spc="118">
                <a:solidFill>
                  <a:srgbClr val="0B1F3A"/>
                </a:solidFill>
                <a:latin typeface="Overpass Medium"/>
                <a:ea typeface="Overpass Medium"/>
                <a:cs typeface="Overpass Medium"/>
                <a:sym typeface="Overpass Medium"/>
              </a:rPr>
              <a:t>VISIBLE CHECKPOINT NEEDED</a:t>
            </a:r>
          </a:p>
        </p:txBody>
      </p:sp>
      <p:grpSp>
        <p:nvGrpSpPr>
          <p:cNvPr name="Group 18" id="18"/>
          <p:cNvGrpSpPr/>
          <p:nvPr/>
        </p:nvGrpSpPr>
        <p:grpSpPr>
          <a:xfrm rot="0">
            <a:off x="16814816" y="9494320"/>
            <a:ext cx="915095" cy="457562"/>
            <a:chOff x="0" y="0"/>
            <a:chExt cx="1220127" cy="610083"/>
          </a:xfrm>
        </p:grpSpPr>
        <p:sp>
          <p:nvSpPr>
            <p:cNvPr name="Freeform 19" id="19" descr="preencoded.png"/>
            <p:cNvSpPr/>
            <p:nvPr/>
          </p:nvSpPr>
          <p:spPr>
            <a:xfrm flipH="false" flipV="false" rot="0">
              <a:off x="0" y="0"/>
              <a:ext cx="1220089" cy="610108"/>
            </a:xfrm>
            <a:custGeom>
              <a:avLst/>
              <a:gdLst/>
              <a:ahLst/>
              <a:cxnLst/>
              <a:rect r="r" b="b" t="t" l="l"/>
              <a:pathLst>
                <a:path h="610108" w="1220089">
                  <a:moveTo>
                    <a:pt x="0" y="0"/>
                  </a:moveTo>
                  <a:lnTo>
                    <a:pt x="1220089" y="0"/>
                  </a:lnTo>
                  <a:lnTo>
                    <a:pt x="1220089" y="610108"/>
                  </a:lnTo>
                  <a:lnTo>
                    <a:pt x="0" y="610108"/>
                  </a:lnTo>
                  <a:lnTo>
                    <a:pt x="0" y="0"/>
                  </a:lnTo>
                  <a:close/>
                </a:path>
              </a:pathLst>
            </a:custGeom>
            <a:blipFill>
              <a:blip r:embed="rId6"/>
              <a:stretch>
                <a:fillRect l="-1" t="0" r="-4" b="4"/>
              </a:stretch>
            </a:blipFill>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146248" y="629155"/>
            <a:ext cx="16924439" cy="305019"/>
          </a:xfrm>
          <a:prstGeom prst="rect">
            <a:avLst/>
          </a:prstGeom>
        </p:spPr>
        <p:txBody>
          <a:bodyPr anchor="t" rtlCol="false" tIns="0" lIns="0" bIns="0" rIns="0">
            <a:spAutoFit/>
          </a:bodyPr>
          <a:lstStyle/>
          <a:p>
            <a:pPr algn="l">
              <a:lnSpc>
                <a:spcPts val="2248"/>
              </a:lnSpc>
            </a:pPr>
            <a:r>
              <a:rPr lang="en-US" b="true" sz="1801" spc="108">
                <a:solidFill>
                  <a:srgbClr val="0F766E"/>
                </a:solidFill>
                <a:latin typeface="Overpass Medium"/>
                <a:ea typeface="Overpass Medium"/>
                <a:cs typeface="Overpass Medium"/>
                <a:sym typeface="Overpass Medium"/>
              </a:rPr>
              <a:t>PROPOSED SOLUTION</a:t>
            </a:r>
          </a:p>
        </p:txBody>
      </p:sp>
      <p:sp>
        <p:nvSpPr>
          <p:cNvPr name="TextBox 3" id="3"/>
          <p:cNvSpPr txBox="true"/>
          <p:nvPr/>
        </p:nvSpPr>
        <p:spPr>
          <a:xfrm rot="0">
            <a:off x="1146248" y="1150153"/>
            <a:ext cx="16009344" cy="568100"/>
          </a:xfrm>
          <a:prstGeom prst="rect">
            <a:avLst/>
          </a:prstGeom>
        </p:spPr>
        <p:txBody>
          <a:bodyPr anchor="t" rtlCol="false" tIns="0" lIns="0" bIns="0" rIns="0">
            <a:spAutoFit/>
          </a:bodyPr>
          <a:lstStyle/>
          <a:p>
            <a:pPr algn="l">
              <a:lnSpc>
                <a:spcPts val="4755"/>
              </a:lnSpc>
            </a:pPr>
            <a:r>
              <a:rPr lang="en-US" sz="4503" spc="-45">
                <a:solidFill>
                  <a:srgbClr val="0B1F3A"/>
                </a:solidFill>
                <a:latin typeface="Arimo"/>
                <a:ea typeface="Arimo"/>
                <a:cs typeface="Arimo"/>
                <a:sym typeface="Arimo"/>
              </a:rPr>
              <a:t>Workex places policy between the prompt and the model.</a:t>
            </a:r>
          </a:p>
        </p:txBody>
      </p:sp>
      <p:grpSp>
        <p:nvGrpSpPr>
          <p:cNvPr name="Group 4" id="4"/>
          <p:cNvGrpSpPr/>
          <p:nvPr/>
        </p:nvGrpSpPr>
        <p:grpSpPr>
          <a:xfrm rot="0">
            <a:off x="1220124" y="2764412"/>
            <a:ext cx="3393462" cy="2135267"/>
            <a:chOff x="0" y="0"/>
            <a:chExt cx="4524616" cy="2847022"/>
          </a:xfrm>
        </p:grpSpPr>
        <p:sp>
          <p:nvSpPr>
            <p:cNvPr name="Freeform 5" id="5"/>
            <p:cNvSpPr/>
            <p:nvPr/>
          </p:nvSpPr>
          <p:spPr>
            <a:xfrm flipH="false" flipV="false" rot="0">
              <a:off x="0" y="0"/>
              <a:ext cx="4524629" cy="2846959"/>
            </a:xfrm>
            <a:custGeom>
              <a:avLst/>
              <a:gdLst/>
              <a:ahLst/>
              <a:cxnLst/>
              <a:rect r="r" b="b" t="t" l="l"/>
              <a:pathLst>
                <a:path h="2846959" w="4524629">
                  <a:moveTo>
                    <a:pt x="0" y="62865"/>
                  </a:moveTo>
                  <a:cubicBezTo>
                    <a:pt x="0" y="28194"/>
                    <a:pt x="28194" y="0"/>
                    <a:pt x="62865" y="0"/>
                  </a:cubicBezTo>
                  <a:lnTo>
                    <a:pt x="4461764" y="0"/>
                  </a:lnTo>
                  <a:cubicBezTo>
                    <a:pt x="4496562" y="0"/>
                    <a:pt x="4524629" y="28194"/>
                    <a:pt x="4524629" y="62865"/>
                  </a:cubicBezTo>
                  <a:lnTo>
                    <a:pt x="4524629" y="2784094"/>
                  </a:lnTo>
                  <a:cubicBezTo>
                    <a:pt x="4524629" y="2818892"/>
                    <a:pt x="4496435" y="2846959"/>
                    <a:pt x="4461764" y="2846959"/>
                  </a:cubicBezTo>
                  <a:lnTo>
                    <a:pt x="62865" y="2846959"/>
                  </a:lnTo>
                  <a:cubicBezTo>
                    <a:pt x="28067" y="2846959"/>
                    <a:pt x="0" y="2818765"/>
                    <a:pt x="0" y="2784094"/>
                  </a:cubicBezTo>
                  <a:close/>
                </a:path>
              </a:pathLst>
            </a:custGeom>
            <a:solidFill>
              <a:srgbClr val="EAF4F6"/>
            </a:solidFill>
          </p:spPr>
        </p:sp>
      </p:grpSp>
      <p:sp>
        <p:nvSpPr>
          <p:cNvPr name="TextBox 6" id="6"/>
          <p:cNvSpPr txBox="true"/>
          <p:nvPr/>
        </p:nvSpPr>
        <p:spPr>
          <a:xfrm rot="0">
            <a:off x="841219" y="3333093"/>
            <a:ext cx="4151281" cy="305019"/>
          </a:xfrm>
          <a:prstGeom prst="rect">
            <a:avLst/>
          </a:prstGeom>
        </p:spPr>
        <p:txBody>
          <a:bodyPr anchor="t" rtlCol="false" tIns="0" lIns="0" bIns="0" rIns="0">
            <a:spAutoFit/>
          </a:bodyPr>
          <a:lstStyle/>
          <a:p>
            <a:pPr algn="ctr">
              <a:lnSpc>
                <a:spcPts val="2248"/>
              </a:lnSpc>
            </a:pPr>
            <a:r>
              <a:rPr lang="en-US" b="true" sz="1801" spc="108">
                <a:solidFill>
                  <a:srgbClr val="0F766E"/>
                </a:solidFill>
                <a:latin typeface="Overpass Medium"/>
                <a:ea typeface="Overpass Medium"/>
                <a:cs typeface="Overpass Medium"/>
                <a:sym typeface="Overpass Medium"/>
              </a:rPr>
              <a:t>INPUT</a:t>
            </a:r>
          </a:p>
        </p:txBody>
      </p:sp>
      <p:sp>
        <p:nvSpPr>
          <p:cNvPr name="TextBox 7" id="7"/>
          <p:cNvSpPr txBox="true"/>
          <p:nvPr/>
        </p:nvSpPr>
        <p:spPr>
          <a:xfrm rot="0">
            <a:off x="1298762" y="3728704"/>
            <a:ext cx="3236185" cy="583235"/>
          </a:xfrm>
          <a:prstGeom prst="rect">
            <a:avLst/>
          </a:prstGeom>
        </p:spPr>
        <p:txBody>
          <a:bodyPr anchor="t" rtlCol="false" tIns="0" lIns="0" bIns="0" rIns="0">
            <a:spAutoFit/>
          </a:bodyPr>
          <a:lstStyle/>
          <a:p>
            <a:pPr algn="ctr">
              <a:lnSpc>
                <a:spcPts val="4280"/>
              </a:lnSpc>
            </a:pPr>
            <a:r>
              <a:rPr lang="en-US" sz="3302">
                <a:solidFill>
                  <a:srgbClr val="17324D"/>
                </a:solidFill>
                <a:latin typeface="Fira Sans"/>
                <a:ea typeface="Fira Sans"/>
                <a:cs typeface="Fira Sans"/>
                <a:sym typeface="Fira Sans"/>
              </a:rPr>
              <a:t>User prompt</a:t>
            </a:r>
          </a:p>
        </p:txBody>
      </p:sp>
      <p:grpSp>
        <p:nvGrpSpPr>
          <p:cNvPr name="Group 8" id="8"/>
          <p:cNvGrpSpPr/>
          <p:nvPr/>
        </p:nvGrpSpPr>
        <p:grpSpPr>
          <a:xfrm rot="0">
            <a:off x="4918624" y="3507943"/>
            <a:ext cx="1105738" cy="610076"/>
            <a:chOff x="0" y="0"/>
            <a:chExt cx="1474318" cy="813435"/>
          </a:xfrm>
        </p:grpSpPr>
        <p:sp>
          <p:nvSpPr>
            <p:cNvPr name="Freeform 9" id="9"/>
            <p:cNvSpPr/>
            <p:nvPr/>
          </p:nvSpPr>
          <p:spPr>
            <a:xfrm flipH="false" flipV="false" rot="0">
              <a:off x="0" y="0"/>
              <a:ext cx="1474343" cy="813435"/>
            </a:xfrm>
            <a:custGeom>
              <a:avLst/>
              <a:gdLst/>
              <a:ahLst/>
              <a:cxnLst/>
              <a:rect r="r" b="b" t="t" l="l"/>
              <a:pathLst>
                <a:path h="813435" w="1474343">
                  <a:moveTo>
                    <a:pt x="0" y="203327"/>
                  </a:moveTo>
                  <a:lnTo>
                    <a:pt x="1067562" y="203327"/>
                  </a:lnTo>
                  <a:lnTo>
                    <a:pt x="1067562" y="0"/>
                  </a:lnTo>
                  <a:lnTo>
                    <a:pt x="1474343" y="406654"/>
                  </a:lnTo>
                  <a:lnTo>
                    <a:pt x="1067562" y="813435"/>
                  </a:lnTo>
                  <a:lnTo>
                    <a:pt x="1067562" y="610108"/>
                  </a:lnTo>
                  <a:lnTo>
                    <a:pt x="0" y="610108"/>
                  </a:lnTo>
                  <a:close/>
                </a:path>
              </a:pathLst>
            </a:custGeom>
            <a:solidFill>
              <a:srgbClr val="0F766E"/>
            </a:solidFill>
          </p:spPr>
        </p:sp>
      </p:grpSp>
      <p:grpSp>
        <p:nvGrpSpPr>
          <p:cNvPr name="Group 10" id="10"/>
          <p:cNvGrpSpPr/>
          <p:nvPr/>
        </p:nvGrpSpPr>
        <p:grpSpPr>
          <a:xfrm rot="0">
            <a:off x="6329391" y="2764412"/>
            <a:ext cx="3393462" cy="2135267"/>
            <a:chOff x="0" y="0"/>
            <a:chExt cx="4524616" cy="2847022"/>
          </a:xfrm>
        </p:grpSpPr>
        <p:sp>
          <p:nvSpPr>
            <p:cNvPr name="Freeform 11" id="11"/>
            <p:cNvSpPr/>
            <p:nvPr/>
          </p:nvSpPr>
          <p:spPr>
            <a:xfrm flipH="false" flipV="false" rot="0">
              <a:off x="0" y="0"/>
              <a:ext cx="4524629" cy="2846959"/>
            </a:xfrm>
            <a:custGeom>
              <a:avLst/>
              <a:gdLst/>
              <a:ahLst/>
              <a:cxnLst/>
              <a:rect r="r" b="b" t="t" l="l"/>
              <a:pathLst>
                <a:path h="2846959" w="4524629">
                  <a:moveTo>
                    <a:pt x="0" y="62865"/>
                  </a:moveTo>
                  <a:cubicBezTo>
                    <a:pt x="0" y="28194"/>
                    <a:pt x="28194" y="0"/>
                    <a:pt x="62865" y="0"/>
                  </a:cubicBezTo>
                  <a:lnTo>
                    <a:pt x="4461764" y="0"/>
                  </a:lnTo>
                  <a:cubicBezTo>
                    <a:pt x="4496562" y="0"/>
                    <a:pt x="4524629" y="28194"/>
                    <a:pt x="4524629" y="62865"/>
                  </a:cubicBezTo>
                  <a:lnTo>
                    <a:pt x="4524629" y="2784094"/>
                  </a:lnTo>
                  <a:cubicBezTo>
                    <a:pt x="4524629" y="2818892"/>
                    <a:pt x="4496435" y="2846959"/>
                    <a:pt x="4461764" y="2846959"/>
                  </a:cubicBezTo>
                  <a:lnTo>
                    <a:pt x="62865" y="2846959"/>
                  </a:lnTo>
                  <a:cubicBezTo>
                    <a:pt x="28067" y="2846959"/>
                    <a:pt x="0" y="2818765"/>
                    <a:pt x="0" y="2784094"/>
                  </a:cubicBezTo>
                  <a:close/>
                </a:path>
              </a:pathLst>
            </a:custGeom>
            <a:solidFill>
              <a:srgbClr val="EAF4F6"/>
            </a:solidFill>
          </p:spPr>
        </p:sp>
      </p:grpSp>
      <p:sp>
        <p:nvSpPr>
          <p:cNvPr name="TextBox 12" id="12"/>
          <p:cNvSpPr txBox="true"/>
          <p:nvPr/>
        </p:nvSpPr>
        <p:spPr>
          <a:xfrm rot="0">
            <a:off x="5950477" y="3333093"/>
            <a:ext cx="4151281" cy="305019"/>
          </a:xfrm>
          <a:prstGeom prst="rect">
            <a:avLst/>
          </a:prstGeom>
        </p:spPr>
        <p:txBody>
          <a:bodyPr anchor="t" rtlCol="false" tIns="0" lIns="0" bIns="0" rIns="0">
            <a:spAutoFit/>
          </a:bodyPr>
          <a:lstStyle/>
          <a:p>
            <a:pPr algn="ctr">
              <a:lnSpc>
                <a:spcPts val="2248"/>
              </a:lnSpc>
            </a:pPr>
            <a:r>
              <a:rPr lang="en-US" b="true" sz="1801" spc="108">
                <a:solidFill>
                  <a:srgbClr val="0F766E"/>
                </a:solidFill>
                <a:latin typeface="Overpass Medium"/>
                <a:ea typeface="Overpass Medium"/>
                <a:cs typeface="Overpass Medium"/>
                <a:sym typeface="Overpass Medium"/>
              </a:rPr>
              <a:t>SCAN</a:t>
            </a:r>
          </a:p>
        </p:txBody>
      </p:sp>
      <p:sp>
        <p:nvSpPr>
          <p:cNvPr name="TextBox 13" id="13"/>
          <p:cNvSpPr txBox="true"/>
          <p:nvPr/>
        </p:nvSpPr>
        <p:spPr>
          <a:xfrm rot="0">
            <a:off x="6408029" y="3728704"/>
            <a:ext cx="3236185" cy="583235"/>
          </a:xfrm>
          <a:prstGeom prst="rect">
            <a:avLst/>
          </a:prstGeom>
        </p:spPr>
        <p:txBody>
          <a:bodyPr anchor="t" rtlCol="false" tIns="0" lIns="0" bIns="0" rIns="0">
            <a:spAutoFit/>
          </a:bodyPr>
          <a:lstStyle/>
          <a:p>
            <a:pPr algn="ctr">
              <a:lnSpc>
                <a:spcPts val="4280"/>
              </a:lnSpc>
            </a:pPr>
            <a:r>
              <a:rPr lang="en-US" sz="3302">
                <a:solidFill>
                  <a:srgbClr val="17324D"/>
                </a:solidFill>
                <a:latin typeface="Fira Sans"/>
                <a:ea typeface="Fira Sans"/>
                <a:cs typeface="Fira Sans"/>
                <a:sym typeface="Fira Sans"/>
              </a:rPr>
              <a:t>Security engine</a:t>
            </a:r>
          </a:p>
        </p:txBody>
      </p:sp>
      <p:grpSp>
        <p:nvGrpSpPr>
          <p:cNvPr name="Group 14" id="14"/>
          <p:cNvGrpSpPr/>
          <p:nvPr/>
        </p:nvGrpSpPr>
        <p:grpSpPr>
          <a:xfrm rot="0">
            <a:off x="10027882" y="3507943"/>
            <a:ext cx="1105738" cy="610076"/>
            <a:chOff x="0" y="0"/>
            <a:chExt cx="1474318" cy="813435"/>
          </a:xfrm>
        </p:grpSpPr>
        <p:sp>
          <p:nvSpPr>
            <p:cNvPr name="Freeform 15" id="15"/>
            <p:cNvSpPr/>
            <p:nvPr/>
          </p:nvSpPr>
          <p:spPr>
            <a:xfrm flipH="false" flipV="false" rot="0">
              <a:off x="0" y="0"/>
              <a:ext cx="1474343" cy="813435"/>
            </a:xfrm>
            <a:custGeom>
              <a:avLst/>
              <a:gdLst/>
              <a:ahLst/>
              <a:cxnLst/>
              <a:rect r="r" b="b" t="t" l="l"/>
              <a:pathLst>
                <a:path h="813435" w="1474343">
                  <a:moveTo>
                    <a:pt x="0" y="203327"/>
                  </a:moveTo>
                  <a:lnTo>
                    <a:pt x="1067562" y="203327"/>
                  </a:lnTo>
                  <a:lnTo>
                    <a:pt x="1067562" y="0"/>
                  </a:lnTo>
                  <a:lnTo>
                    <a:pt x="1474343" y="406654"/>
                  </a:lnTo>
                  <a:lnTo>
                    <a:pt x="1067562" y="813435"/>
                  </a:lnTo>
                  <a:lnTo>
                    <a:pt x="1067562" y="610108"/>
                  </a:lnTo>
                  <a:lnTo>
                    <a:pt x="0" y="610108"/>
                  </a:lnTo>
                  <a:close/>
                </a:path>
              </a:pathLst>
            </a:custGeom>
            <a:solidFill>
              <a:srgbClr val="0F766E"/>
            </a:solidFill>
          </p:spPr>
        </p:sp>
      </p:grpSp>
      <p:grpSp>
        <p:nvGrpSpPr>
          <p:cNvPr name="Group 16" id="16"/>
          <p:cNvGrpSpPr/>
          <p:nvPr/>
        </p:nvGrpSpPr>
        <p:grpSpPr>
          <a:xfrm rot="0">
            <a:off x="11438649" y="2764412"/>
            <a:ext cx="3393462" cy="2135267"/>
            <a:chOff x="0" y="0"/>
            <a:chExt cx="4524616" cy="2847022"/>
          </a:xfrm>
        </p:grpSpPr>
        <p:sp>
          <p:nvSpPr>
            <p:cNvPr name="Freeform 17" id="17"/>
            <p:cNvSpPr/>
            <p:nvPr/>
          </p:nvSpPr>
          <p:spPr>
            <a:xfrm flipH="false" flipV="false" rot="0">
              <a:off x="0" y="0"/>
              <a:ext cx="4524629" cy="2846959"/>
            </a:xfrm>
            <a:custGeom>
              <a:avLst/>
              <a:gdLst/>
              <a:ahLst/>
              <a:cxnLst/>
              <a:rect r="r" b="b" t="t" l="l"/>
              <a:pathLst>
                <a:path h="2846959" w="4524629">
                  <a:moveTo>
                    <a:pt x="0" y="62865"/>
                  </a:moveTo>
                  <a:cubicBezTo>
                    <a:pt x="0" y="28194"/>
                    <a:pt x="28194" y="0"/>
                    <a:pt x="62865" y="0"/>
                  </a:cubicBezTo>
                  <a:lnTo>
                    <a:pt x="4461764" y="0"/>
                  </a:lnTo>
                  <a:cubicBezTo>
                    <a:pt x="4496562" y="0"/>
                    <a:pt x="4524629" y="28194"/>
                    <a:pt x="4524629" y="62865"/>
                  </a:cubicBezTo>
                  <a:lnTo>
                    <a:pt x="4524629" y="2784094"/>
                  </a:lnTo>
                  <a:cubicBezTo>
                    <a:pt x="4524629" y="2818892"/>
                    <a:pt x="4496435" y="2846959"/>
                    <a:pt x="4461764" y="2846959"/>
                  </a:cubicBezTo>
                  <a:lnTo>
                    <a:pt x="62865" y="2846959"/>
                  </a:lnTo>
                  <a:cubicBezTo>
                    <a:pt x="28067" y="2846959"/>
                    <a:pt x="0" y="2818765"/>
                    <a:pt x="0" y="2784094"/>
                  </a:cubicBezTo>
                  <a:close/>
                </a:path>
              </a:pathLst>
            </a:custGeom>
            <a:solidFill>
              <a:srgbClr val="EAF4F6"/>
            </a:solidFill>
          </p:spPr>
        </p:sp>
      </p:grpSp>
      <p:sp>
        <p:nvSpPr>
          <p:cNvPr name="TextBox 18" id="18"/>
          <p:cNvSpPr txBox="true"/>
          <p:nvPr/>
        </p:nvSpPr>
        <p:spPr>
          <a:xfrm rot="0">
            <a:off x="11059744" y="3333093"/>
            <a:ext cx="4151281" cy="305019"/>
          </a:xfrm>
          <a:prstGeom prst="rect">
            <a:avLst/>
          </a:prstGeom>
        </p:spPr>
        <p:txBody>
          <a:bodyPr anchor="t" rtlCol="false" tIns="0" lIns="0" bIns="0" rIns="0">
            <a:spAutoFit/>
          </a:bodyPr>
          <a:lstStyle/>
          <a:p>
            <a:pPr algn="ctr">
              <a:lnSpc>
                <a:spcPts val="2248"/>
              </a:lnSpc>
            </a:pPr>
            <a:r>
              <a:rPr lang="en-US" b="true" sz="1801" spc="108">
                <a:solidFill>
                  <a:srgbClr val="0F766E"/>
                </a:solidFill>
                <a:latin typeface="Overpass Medium"/>
                <a:ea typeface="Overpass Medium"/>
                <a:cs typeface="Overpass Medium"/>
                <a:sym typeface="Overpass Medium"/>
              </a:rPr>
              <a:t>DECIDE</a:t>
            </a:r>
          </a:p>
        </p:txBody>
      </p:sp>
      <p:sp>
        <p:nvSpPr>
          <p:cNvPr name="TextBox 19" id="19"/>
          <p:cNvSpPr txBox="true"/>
          <p:nvPr/>
        </p:nvSpPr>
        <p:spPr>
          <a:xfrm rot="0">
            <a:off x="11517297" y="3728704"/>
            <a:ext cx="3236185" cy="583235"/>
          </a:xfrm>
          <a:prstGeom prst="rect">
            <a:avLst/>
          </a:prstGeom>
        </p:spPr>
        <p:txBody>
          <a:bodyPr anchor="t" rtlCol="false" tIns="0" lIns="0" bIns="0" rIns="0">
            <a:spAutoFit/>
          </a:bodyPr>
          <a:lstStyle/>
          <a:p>
            <a:pPr algn="ctr">
              <a:lnSpc>
                <a:spcPts val="4280"/>
              </a:lnSpc>
            </a:pPr>
            <a:r>
              <a:rPr lang="en-US" sz="3302">
                <a:solidFill>
                  <a:srgbClr val="17324D"/>
                </a:solidFill>
                <a:latin typeface="Fira Sans"/>
                <a:ea typeface="Fira Sans"/>
                <a:cs typeface="Fira Sans"/>
                <a:sym typeface="Fira Sans"/>
              </a:rPr>
              <a:t>Policy gate</a:t>
            </a:r>
          </a:p>
        </p:txBody>
      </p:sp>
      <p:grpSp>
        <p:nvGrpSpPr>
          <p:cNvPr name="Group 20" id="20"/>
          <p:cNvGrpSpPr/>
          <p:nvPr/>
        </p:nvGrpSpPr>
        <p:grpSpPr>
          <a:xfrm rot="0">
            <a:off x="15060892" y="3584200"/>
            <a:ext cx="800710" cy="457562"/>
            <a:chOff x="0" y="0"/>
            <a:chExt cx="1067613" cy="610083"/>
          </a:xfrm>
        </p:grpSpPr>
        <p:sp>
          <p:nvSpPr>
            <p:cNvPr name="Freeform 21" id="21"/>
            <p:cNvSpPr/>
            <p:nvPr/>
          </p:nvSpPr>
          <p:spPr>
            <a:xfrm flipH="false" flipV="false" rot="0">
              <a:off x="0" y="0"/>
              <a:ext cx="1067562" cy="610108"/>
            </a:xfrm>
            <a:custGeom>
              <a:avLst/>
              <a:gdLst/>
              <a:ahLst/>
              <a:cxnLst/>
              <a:rect r="r" b="b" t="t" l="l"/>
              <a:pathLst>
                <a:path h="610108" w="1067562">
                  <a:moveTo>
                    <a:pt x="0" y="152527"/>
                  </a:moveTo>
                  <a:lnTo>
                    <a:pt x="762508" y="152527"/>
                  </a:lnTo>
                  <a:lnTo>
                    <a:pt x="762508" y="0"/>
                  </a:lnTo>
                  <a:lnTo>
                    <a:pt x="1067562" y="305054"/>
                  </a:lnTo>
                  <a:lnTo>
                    <a:pt x="762508" y="610108"/>
                  </a:lnTo>
                  <a:lnTo>
                    <a:pt x="762508" y="457581"/>
                  </a:lnTo>
                  <a:lnTo>
                    <a:pt x="0" y="457581"/>
                  </a:lnTo>
                  <a:close/>
                </a:path>
              </a:pathLst>
            </a:custGeom>
            <a:solidFill>
              <a:srgbClr val="0F766E"/>
            </a:solidFill>
          </p:spPr>
        </p:sp>
      </p:grpSp>
      <p:grpSp>
        <p:nvGrpSpPr>
          <p:cNvPr name="Group 22" id="22"/>
          <p:cNvGrpSpPr/>
          <p:nvPr/>
        </p:nvGrpSpPr>
        <p:grpSpPr>
          <a:xfrm rot="0">
            <a:off x="16052235" y="3221965"/>
            <a:ext cx="2020824" cy="1182024"/>
            <a:chOff x="0" y="0"/>
            <a:chExt cx="2694432" cy="1576032"/>
          </a:xfrm>
        </p:grpSpPr>
        <p:sp>
          <p:nvSpPr>
            <p:cNvPr name="Freeform 23" id="23"/>
            <p:cNvSpPr/>
            <p:nvPr/>
          </p:nvSpPr>
          <p:spPr>
            <a:xfrm flipH="false" flipV="false" rot="0">
              <a:off x="0" y="0"/>
              <a:ext cx="2694432" cy="1575943"/>
            </a:xfrm>
            <a:custGeom>
              <a:avLst/>
              <a:gdLst/>
              <a:ahLst/>
              <a:cxnLst/>
              <a:rect r="r" b="b" t="t" l="l"/>
              <a:pathLst>
                <a:path h="1575943" w="2694432">
                  <a:moveTo>
                    <a:pt x="0" y="62865"/>
                  </a:moveTo>
                  <a:cubicBezTo>
                    <a:pt x="0" y="28194"/>
                    <a:pt x="28194" y="0"/>
                    <a:pt x="62865" y="0"/>
                  </a:cubicBezTo>
                  <a:lnTo>
                    <a:pt x="2631567" y="0"/>
                  </a:lnTo>
                  <a:cubicBezTo>
                    <a:pt x="2666365" y="0"/>
                    <a:pt x="2694432" y="28194"/>
                    <a:pt x="2694432" y="62865"/>
                  </a:cubicBezTo>
                  <a:lnTo>
                    <a:pt x="2694432" y="1513078"/>
                  </a:lnTo>
                  <a:cubicBezTo>
                    <a:pt x="2694432" y="1547876"/>
                    <a:pt x="2666238" y="1575943"/>
                    <a:pt x="2631567" y="1575943"/>
                  </a:cubicBezTo>
                  <a:lnTo>
                    <a:pt x="62865" y="1575943"/>
                  </a:lnTo>
                  <a:cubicBezTo>
                    <a:pt x="28067" y="1575943"/>
                    <a:pt x="0" y="1547749"/>
                    <a:pt x="0" y="1513078"/>
                  </a:cubicBezTo>
                  <a:close/>
                </a:path>
              </a:pathLst>
            </a:custGeom>
            <a:solidFill>
              <a:srgbClr val="2563A6"/>
            </a:solidFill>
          </p:spPr>
        </p:sp>
      </p:grpSp>
      <p:sp>
        <p:nvSpPr>
          <p:cNvPr name="TextBox 24" id="24"/>
          <p:cNvSpPr txBox="true"/>
          <p:nvPr/>
        </p:nvSpPr>
        <p:spPr>
          <a:xfrm rot="0">
            <a:off x="16130883" y="3309147"/>
            <a:ext cx="1863547" cy="950519"/>
          </a:xfrm>
          <a:prstGeom prst="rect">
            <a:avLst/>
          </a:prstGeom>
        </p:spPr>
        <p:txBody>
          <a:bodyPr anchor="t" rtlCol="false" tIns="0" lIns="0" bIns="0" rIns="0">
            <a:spAutoFit/>
          </a:bodyPr>
          <a:lstStyle/>
          <a:p>
            <a:pPr algn="ctr">
              <a:lnSpc>
                <a:spcPts val="3507"/>
              </a:lnSpc>
            </a:pPr>
            <a:r>
              <a:rPr lang="en-US" sz="2476" b="true">
                <a:solidFill>
                  <a:srgbClr val="051230"/>
                </a:solidFill>
                <a:latin typeface="Fira Sans Bold"/>
                <a:ea typeface="Fira Sans Bold"/>
                <a:cs typeface="Fira Sans Bold"/>
                <a:sym typeface="Fira Sans Bold"/>
              </a:rPr>
              <a:t>BLOCK</a:t>
            </a:r>
          </a:p>
          <a:p>
            <a:pPr algn="ctr">
              <a:lnSpc>
                <a:spcPts val="3507"/>
              </a:lnSpc>
            </a:pPr>
            <a:r>
              <a:rPr lang="en-US" sz="2476">
                <a:solidFill>
                  <a:srgbClr val="051230"/>
                </a:solidFill>
                <a:latin typeface="Fira Sans"/>
                <a:ea typeface="Fira Sans"/>
                <a:cs typeface="Fira Sans"/>
                <a:sym typeface="Fira Sans"/>
              </a:rPr>
              <a:t>verdict only</a:t>
            </a:r>
          </a:p>
        </p:txBody>
      </p:sp>
      <p:grpSp>
        <p:nvGrpSpPr>
          <p:cNvPr name="Group 25" id="25"/>
          <p:cNvGrpSpPr/>
          <p:nvPr/>
        </p:nvGrpSpPr>
        <p:grpSpPr>
          <a:xfrm rot="5400000">
            <a:off x="12963801" y="5147520"/>
            <a:ext cx="343157" cy="533819"/>
            <a:chOff x="0" y="0"/>
            <a:chExt cx="457543" cy="711759"/>
          </a:xfrm>
        </p:grpSpPr>
        <p:sp>
          <p:nvSpPr>
            <p:cNvPr name="Freeform 26" id="26"/>
            <p:cNvSpPr/>
            <p:nvPr/>
          </p:nvSpPr>
          <p:spPr>
            <a:xfrm flipH="false" flipV="false" rot="0">
              <a:off x="0" y="0"/>
              <a:ext cx="457581" cy="711708"/>
            </a:xfrm>
            <a:custGeom>
              <a:avLst/>
              <a:gdLst/>
              <a:ahLst/>
              <a:cxnLst/>
              <a:rect r="r" b="b" t="t" l="l"/>
              <a:pathLst>
                <a:path h="711708" w="457581">
                  <a:moveTo>
                    <a:pt x="0" y="177927"/>
                  </a:moveTo>
                  <a:lnTo>
                    <a:pt x="228727" y="177927"/>
                  </a:lnTo>
                  <a:lnTo>
                    <a:pt x="228727" y="0"/>
                  </a:lnTo>
                  <a:lnTo>
                    <a:pt x="457581" y="355854"/>
                  </a:lnTo>
                  <a:lnTo>
                    <a:pt x="228727" y="711708"/>
                  </a:lnTo>
                  <a:lnTo>
                    <a:pt x="228727" y="533781"/>
                  </a:lnTo>
                  <a:lnTo>
                    <a:pt x="0" y="533781"/>
                  </a:lnTo>
                  <a:close/>
                </a:path>
              </a:pathLst>
            </a:custGeom>
            <a:solidFill>
              <a:srgbClr val="0F766E"/>
            </a:solidFill>
          </p:spPr>
        </p:sp>
      </p:grpSp>
      <p:grpSp>
        <p:nvGrpSpPr>
          <p:cNvPr name="Group 27" id="27"/>
          <p:cNvGrpSpPr/>
          <p:nvPr/>
        </p:nvGrpSpPr>
        <p:grpSpPr>
          <a:xfrm rot="0">
            <a:off x="11438649" y="6138901"/>
            <a:ext cx="3393462" cy="2135267"/>
            <a:chOff x="0" y="0"/>
            <a:chExt cx="4524616" cy="2847022"/>
          </a:xfrm>
        </p:grpSpPr>
        <p:sp>
          <p:nvSpPr>
            <p:cNvPr name="Freeform 28" id="28"/>
            <p:cNvSpPr/>
            <p:nvPr/>
          </p:nvSpPr>
          <p:spPr>
            <a:xfrm flipH="false" flipV="false" rot="0">
              <a:off x="0" y="0"/>
              <a:ext cx="4524629" cy="2846959"/>
            </a:xfrm>
            <a:custGeom>
              <a:avLst/>
              <a:gdLst/>
              <a:ahLst/>
              <a:cxnLst/>
              <a:rect r="r" b="b" t="t" l="l"/>
              <a:pathLst>
                <a:path h="2846959" w="4524629">
                  <a:moveTo>
                    <a:pt x="0" y="62865"/>
                  </a:moveTo>
                  <a:cubicBezTo>
                    <a:pt x="0" y="28194"/>
                    <a:pt x="28194" y="0"/>
                    <a:pt x="62865" y="0"/>
                  </a:cubicBezTo>
                  <a:lnTo>
                    <a:pt x="4461764" y="0"/>
                  </a:lnTo>
                  <a:cubicBezTo>
                    <a:pt x="4496562" y="0"/>
                    <a:pt x="4524629" y="28194"/>
                    <a:pt x="4524629" y="62865"/>
                  </a:cubicBezTo>
                  <a:lnTo>
                    <a:pt x="4524629" y="2784094"/>
                  </a:lnTo>
                  <a:cubicBezTo>
                    <a:pt x="4524629" y="2818892"/>
                    <a:pt x="4496435" y="2846959"/>
                    <a:pt x="4461764" y="2846959"/>
                  </a:cubicBezTo>
                  <a:lnTo>
                    <a:pt x="62865" y="2846959"/>
                  </a:lnTo>
                  <a:cubicBezTo>
                    <a:pt x="28067" y="2846959"/>
                    <a:pt x="0" y="2818765"/>
                    <a:pt x="0" y="2784094"/>
                  </a:cubicBezTo>
                  <a:close/>
                </a:path>
              </a:pathLst>
            </a:custGeom>
            <a:solidFill>
              <a:srgbClr val="0B1F3A"/>
            </a:solidFill>
          </p:spPr>
        </p:sp>
      </p:grpSp>
      <p:sp>
        <p:nvSpPr>
          <p:cNvPr name="TextBox 29" id="29"/>
          <p:cNvSpPr txBox="true"/>
          <p:nvPr/>
        </p:nvSpPr>
        <p:spPr>
          <a:xfrm rot="0">
            <a:off x="11517297" y="6564592"/>
            <a:ext cx="3236185" cy="590998"/>
          </a:xfrm>
          <a:prstGeom prst="rect">
            <a:avLst/>
          </a:prstGeom>
        </p:spPr>
        <p:txBody>
          <a:bodyPr anchor="t" rtlCol="false" tIns="0" lIns="0" bIns="0" rIns="0">
            <a:spAutoFit/>
          </a:bodyPr>
          <a:lstStyle/>
          <a:p>
            <a:pPr algn="ctr">
              <a:lnSpc>
                <a:spcPts val="2248"/>
              </a:lnSpc>
            </a:pPr>
            <a:r>
              <a:rPr lang="en-US" b="true" sz="1801" spc="108">
                <a:solidFill>
                  <a:srgbClr val="0F766E"/>
                </a:solidFill>
                <a:latin typeface="Overpass Medium"/>
                <a:ea typeface="Overpass Medium"/>
                <a:cs typeface="Overpass Medium"/>
                <a:sym typeface="Overpass Medium"/>
              </a:rPr>
              <a:t>MODEL CALL · IF PERMITTED</a:t>
            </a:r>
          </a:p>
        </p:txBody>
      </p:sp>
      <p:sp>
        <p:nvSpPr>
          <p:cNvPr name="TextBox 30" id="30"/>
          <p:cNvSpPr txBox="true"/>
          <p:nvPr/>
        </p:nvSpPr>
        <p:spPr>
          <a:xfrm rot="0">
            <a:off x="11517297" y="7246182"/>
            <a:ext cx="3236185" cy="583235"/>
          </a:xfrm>
          <a:prstGeom prst="rect">
            <a:avLst/>
          </a:prstGeom>
        </p:spPr>
        <p:txBody>
          <a:bodyPr anchor="t" rtlCol="false" tIns="0" lIns="0" bIns="0" rIns="0">
            <a:spAutoFit/>
          </a:bodyPr>
          <a:lstStyle/>
          <a:p>
            <a:pPr algn="ctr">
              <a:lnSpc>
                <a:spcPts val="4280"/>
              </a:lnSpc>
            </a:pPr>
            <a:r>
              <a:rPr lang="en-US" sz="3302">
                <a:solidFill>
                  <a:srgbClr val="FFFFFF"/>
                </a:solidFill>
                <a:latin typeface="Fira Sans"/>
                <a:ea typeface="Fira Sans"/>
                <a:cs typeface="Fira Sans"/>
                <a:sym typeface="Fira Sans"/>
              </a:rPr>
              <a:t>Gemini API</a:t>
            </a:r>
          </a:p>
        </p:txBody>
      </p:sp>
      <p:grpSp>
        <p:nvGrpSpPr>
          <p:cNvPr name="Group 31" id="31"/>
          <p:cNvGrpSpPr/>
          <p:nvPr/>
        </p:nvGrpSpPr>
        <p:grpSpPr>
          <a:xfrm rot="0">
            <a:off x="10027882" y="6882432"/>
            <a:ext cx="1105738" cy="610076"/>
            <a:chOff x="0" y="0"/>
            <a:chExt cx="1474318" cy="813435"/>
          </a:xfrm>
        </p:grpSpPr>
        <p:sp>
          <p:nvSpPr>
            <p:cNvPr name="Freeform 32" id="32"/>
            <p:cNvSpPr/>
            <p:nvPr/>
          </p:nvSpPr>
          <p:spPr>
            <a:xfrm flipH="false" flipV="false" rot="0">
              <a:off x="0" y="0"/>
              <a:ext cx="1474343" cy="813435"/>
            </a:xfrm>
            <a:custGeom>
              <a:avLst/>
              <a:gdLst/>
              <a:ahLst/>
              <a:cxnLst/>
              <a:rect r="r" b="b" t="t" l="l"/>
              <a:pathLst>
                <a:path h="813435" w="1474343">
                  <a:moveTo>
                    <a:pt x="1474343" y="203327"/>
                  </a:moveTo>
                  <a:lnTo>
                    <a:pt x="406781" y="203327"/>
                  </a:lnTo>
                  <a:lnTo>
                    <a:pt x="406781" y="0"/>
                  </a:lnTo>
                  <a:lnTo>
                    <a:pt x="0" y="406654"/>
                  </a:lnTo>
                  <a:lnTo>
                    <a:pt x="406781" y="813435"/>
                  </a:lnTo>
                  <a:lnTo>
                    <a:pt x="406781" y="610108"/>
                  </a:lnTo>
                  <a:lnTo>
                    <a:pt x="1474343" y="610108"/>
                  </a:lnTo>
                  <a:close/>
                </a:path>
              </a:pathLst>
            </a:custGeom>
            <a:solidFill>
              <a:srgbClr val="0F766E"/>
            </a:solidFill>
          </p:spPr>
        </p:sp>
      </p:grpSp>
      <p:grpSp>
        <p:nvGrpSpPr>
          <p:cNvPr name="Group 33" id="33"/>
          <p:cNvGrpSpPr/>
          <p:nvPr/>
        </p:nvGrpSpPr>
        <p:grpSpPr>
          <a:xfrm rot="0">
            <a:off x="6329391" y="6138901"/>
            <a:ext cx="3393462" cy="2135267"/>
            <a:chOff x="0" y="0"/>
            <a:chExt cx="4524616" cy="2847022"/>
          </a:xfrm>
        </p:grpSpPr>
        <p:sp>
          <p:nvSpPr>
            <p:cNvPr name="Freeform 34" id="34"/>
            <p:cNvSpPr/>
            <p:nvPr/>
          </p:nvSpPr>
          <p:spPr>
            <a:xfrm flipH="false" flipV="false" rot="0">
              <a:off x="0" y="0"/>
              <a:ext cx="4524629" cy="2846959"/>
            </a:xfrm>
            <a:custGeom>
              <a:avLst/>
              <a:gdLst/>
              <a:ahLst/>
              <a:cxnLst/>
              <a:rect r="r" b="b" t="t" l="l"/>
              <a:pathLst>
                <a:path h="2846959" w="4524629">
                  <a:moveTo>
                    <a:pt x="0" y="62865"/>
                  </a:moveTo>
                  <a:cubicBezTo>
                    <a:pt x="0" y="28194"/>
                    <a:pt x="28194" y="0"/>
                    <a:pt x="62865" y="0"/>
                  </a:cubicBezTo>
                  <a:lnTo>
                    <a:pt x="4461764" y="0"/>
                  </a:lnTo>
                  <a:cubicBezTo>
                    <a:pt x="4496562" y="0"/>
                    <a:pt x="4524629" y="28194"/>
                    <a:pt x="4524629" y="62865"/>
                  </a:cubicBezTo>
                  <a:lnTo>
                    <a:pt x="4524629" y="2784094"/>
                  </a:lnTo>
                  <a:cubicBezTo>
                    <a:pt x="4524629" y="2818892"/>
                    <a:pt x="4496435" y="2846959"/>
                    <a:pt x="4461764" y="2846959"/>
                  </a:cubicBezTo>
                  <a:lnTo>
                    <a:pt x="62865" y="2846959"/>
                  </a:lnTo>
                  <a:cubicBezTo>
                    <a:pt x="28067" y="2846959"/>
                    <a:pt x="0" y="2818765"/>
                    <a:pt x="0" y="2784094"/>
                  </a:cubicBezTo>
                  <a:close/>
                </a:path>
              </a:pathLst>
            </a:custGeom>
            <a:solidFill>
              <a:srgbClr val="EAF4F6"/>
            </a:solidFill>
          </p:spPr>
        </p:sp>
      </p:grpSp>
      <p:sp>
        <p:nvSpPr>
          <p:cNvPr name="TextBox 35" id="35"/>
          <p:cNvSpPr txBox="true"/>
          <p:nvPr/>
        </p:nvSpPr>
        <p:spPr>
          <a:xfrm rot="0">
            <a:off x="5950477" y="6435014"/>
            <a:ext cx="4151281" cy="305019"/>
          </a:xfrm>
          <a:prstGeom prst="rect">
            <a:avLst/>
          </a:prstGeom>
        </p:spPr>
        <p:txBody>
          <a:bodyPr anchor="t" rtlCol="false" tIns="0" lIns="0" bIns="0" rIns="0">
            <a:spAutoFit/>
          </a:bodyPr>
          <a:lstStyle/>
          <a:p>
            <a:pPr algn="ctr">
              <a:lnSpc>
                <a:spcPts val="2248"/>
              </a:lnSpc>
            </a:pPr>
            <a:r>
              <a:rPr lang="en-US" b="true" sz="1801" spc="108">
                <a:solidFill>
                  <a:srgbClr val="0F766E"/>
                </a:solidFill>
                <a:latin typeface="Overpass Medium"/>
                <a:ea typeface="Overpass Medium"/>
                <a:cs typeface="Overpass Medium"/>
                <a:sym typeface="Overpass Medium"/>
              </a:rPr>
              <a:t>OUTPUT CHECK</a:t>
            </a:r>
          </a:p>
        </p:txBody>
      </p:sp>
      <p:sp>
        <p:nvSpPr>
          <p:cNvPr name="TextBox 36" id="36"/>
          <p:cNvSpPr txBox="true"/>
          <p:nvPr/>
        </p:nvSpPr>
        <p:spPr>
          <a:xfrm rot="0">
            <a:off x="6408029" y="6830625"/>
            <a:ext cx="3236185" cy="1128370"/>
          </a:xfrm>
          <a:prstGeom prst="rect">
            <a:avLst/>
          </a:prstGeom>
        </p:spPr>
        <p:txBody>
          <a:bodyPr anchor="t" rtlCol="false" tIns="0" lIns="0" bIns="0" rIns="0">
            <a:spAutoFit/>
          </a:bodyPr>
          <a:lstStyle/>
          <a:p>
            <a:pPr algn="ctr">
              <a:lnSpc>
                <a:spcPts val="4280"/>
              </a:lnSpc>
            </a:pPr>
            <a:r>
              <a:rPr lang="en-US" sz="3302">
                <a:solidFill>
                  <a:srgbClr val="17324D"/>
                </a:solidFill>
                <a:latin typeface="Fira Sans"/>
                <a:ea typeface="Fira Sans"/>
                <a:cs typeface="Fira Sans"/>
                <a:sym typeface="Fira Sans"/>
              </a:rPr>
              <a:t>Scan generated response</a:t>
            </a:r>
          </a:p>
        </p:txBody>
      </p:sp>
      <p:grpSp>
        <p:nvGrpSpPr>
          <p:cNvPr name="Group 37" id="37"/>
          <p:cNvGrpSpPr/>
          <p:nvPr/>
        </p:nvGrpSpPr>
        <p:grpSpPr>
          <a:xfrm rot="0">
            <a:off x="4918624" y="6882432"/>
            <a:ext cx="1105738" cy="610076"/>
            <a:chOff x="0" y="0"/>
            <a:chExt cx="1474318" cy="813435"/>
          </a:xfrm>
        </p:grpSpPr>
        <p:sp>
          <p:nvSpPr>
            <p:cNvPr name="Freeform 38" id="38"/>
            <p:cNvSpPr/>
            <p:nvPr/>
          </p:nvSpPr>
          <p:spPr>
            <a:xfrm flipH="false" flipV="false" rot="0">
              <a:off x="0" y="0"/>
              <a:ext cx="1474343" cy="813435"/>
            </a:xfrm>
            <a:custGeom>
              <a:avLst/>
              <a:gdLst/>
              <a:ahLst/>
              <a:cxnLst/>
              <a:rect r="r" b="b" t="t" l="l"/>
              <a:pathLst>
                <a:path h="813435" w="1474343">
                  <a:moveTo>
                    <a:pt x="1474343" y="203327"/>
                  </a:moveTo>
                  <a:lnTo>
                    <a:pt x="406781" y="203327"/>
                  </a:lnTo>
                  <a:lnTo>
                    <a:pt x="406781" y="0"/>
                  </a:lnTo>
                  <a:lnTo>
                    <a:pt x="0" y="406654"/>
                  </a:lnTo>
                  <a:lnTo>
                    <a:pt x="406781" y="813435"/>
                  </a:lnTo>
                  <a:lnTo>
                    <a:pt x="406781" y="610108"/>
                  </a:lnTo>
                  <a:lnTo>
                    <a:pt x="1474343" y="610108"/>
                  </a:lnTo>
                  <a:close/>
                </a:path>
              </a:pathLst>
            </a:custGeom>
            <a:solidFill>
              <a:srgbClr val="0F766E"/>
            </a:solidFill>
          </p:spPr>
        </p:sp>
      </p:grpSp>
      <p:grpSp>
        <p:nvGrpSpPr>
          <p:cNvPr name="Group 39" id="39"/>
          <p:cNvGrpSpPr/>
          <p:nvPr/>
        </p:nvGrpSpPr>
        <p:grpSpPr>
          <a:xfrm rot="0">
            <a:off x="1220124" y="6138901"/>
            <a:ext cx="3393462" cy="2135267"/>
            <a:chOff x="0" y="0"/>
            <a:chExt cx="4524616" cy="2847022"/>
          </a:xfrm>
        </p:grpSpPr>
        <p:sp>
          <p:nvSpPr>
            <p:cNvPr name="Freeform 40" id="40"/>
            <p:cNvSpPr/>
            <p:nvPr/>
          </p:nvSpPr>
          <p:spPr>
            <a:xfrm flipH="false" flipV="false" rot="0">
              <a:off x="0" y="0"/>
              <a:ext cx="4524629" cy="2846959"/>
            </a:xfrm>
            <a:custGeom>
              <a:avLst/>
              <a:gdLst/>
              <a:ahLst/>
              <a:cxnLst/>
              <a:rect r="r" b="b" t="t" l="l"/>
              <a:pathLst>
                <a:path h="2846959" w="4524629">
                  <a:moveTo>
                    <a:pt x="0" y="62865"/>
                  </a:moveTo>
                  <a:cubicBezTo>
                    <a:pt x="0" y="28194"/>
                    <a:pt x="28194" y="0"/>
                    <a:pt x="62865" y="0"/>
                  </a:cubicBezTo>
                  <a:lnTo>
                    <a:pt x="4461764" y="0"/>
                  </a:lnTo>
                  <a:cubicBezTo>
                    <a:pt x="4496562" y="0"/>
                    <a:pt x="4524629" y="28194"/>
                    <a:pt x="4524629" y="62865"/>
                  </a:cubicBezTo>
                  <a:lnTo>
                    <a:pt x="4524629" y="2784094"/>
                  </a:lnTo>
                  <a:cubicBezTo>
                    <a:pt x="4524629" y="2818892"/>
                    <a:pt x="4496435" y="2846959"/>
                    <a:pt x="4461764" y="2846959"/>
                  </a:cubicBezTo>
                  <a:lnTo>
                    <a:pt x="62865" y="2846959"/>
                  </a:lnTo>
                  <a:cubicBezTo>
                    <a:pt x="28067" y="2846959"/>
                    <a:pt x="0" y="2818765"/>
                    <a:pt x="0" y="2784094"/>
                  </a:cubicBezTo>
                  <a:close/>
                </a:path>
              </a:pathLst>
            </a:custGeom>
            <a:solidFill>
              <a:srgbClr val="EAF4F6"/>
            </a:solidFill>
          </p:spPr>
        </p:sp>
      </p:grpSp>
      <p:sp>
        <p:nvSpPr>
          <p:cNvPr name="TextBox 41" id="41"/>
          <p:cNvSpPr txBox="true"/>
          <p:nvPr/>
        </p:nvSpPr>
        <p:spPr>
          <a:xfrm rot="0">
            <a:off x="841219" y="6707581"/>
            <a:ext cx="4151281" cy="305019"/>
          </a:xfrm>
          <a:prstGeom prst="rect">
            <a:avLst/>
          </a:prstGeom>
        </p:spPr>
        <p:txBody>
          <a:bodyPr anchor="t" rtlCol="false" tIns="0" lIns="0" bIns="0" rIns="0">
            <a:spAutoFit/>
          </a:bodyPr>
          <a:lstStyle/>
          <a:p>
            <a:pPr algn="ctr">
              <a:lnSpc>
                <a:spcPts val="2248"/>
              </a:lnSpc>
            </a:pPr>
            <a:r>
              <a:rPr lang="en-US" b="true" sz="1801" spc="108">
                <a:solidFill>
                  <a:srgbClr val="0F766E"/>
                </a:solidFill>
                <a:latin typeface="Overpass Medium"/>
                <a:ea typeface="Overpass Medium"/>
                <a:cs typeface="Overpass Medium"/>
                <a:sym typeface="Overpass Medium"/>
              </a:rPr>
              <a:t>RESULT</a:t>
            </a:r>
          </a:p>
        </p:txBody>
      </p:sp>
      <p:sp>
        <p:nvSpPr>
          <p:cNvPr name="TextBox 42" id="42"/>
          <p:cNvSpPr txBox="true"/>
          <p:nvPr/>
        </p:nvSpPr>
        <p:spPr>
          <a:xfrm rot="0">
            <a:off x="1298762" y="7103193"/>
            <a:ext cx="3236185" cy="583235"/>
          </a:xfrm>
          <a:prstGeom prst="rect">
            <a:avLst/>
          </a:prstGeom>
        </p:spPr>
        <p:txBody>
          <a:bodyPr anchor="t" rtlCol="false" tIns="0" lIns="0" bIns="0" rIns="0">
            <a:spAutoFit/>
          </a:bodyPr>
          <a:lstStyle/>
          <a:p>
            <a:pPr algn="ctr">
              <a:lnSpc>
                <a:spcPts val="4280"/>
              </a:lnSpc>
            </a:pPr>
            <a:r>
              <a:rPr lang="en-US" sz="3302">
                <a:solidFill>
                  <a:srgbClr val="17324D"/>
                </a:solidFill>
                <a:latin typeface="Fira Sans"/>
                <a:ea typeface="Fira Sans"/>
                <a:cs typeface="Fira Sans"/>
                <a:sym typeface="Fira Sans"/>
              </a:rPr>
              <a:t>User response</a:t>
            </a:r>
          </a:p>
        </p:txBody>
      </p:sp>
      <p:grpSp>
        <p:nvGrpSpPr>
          <p:cNvPr name="Group 43" id="43"/>
          <p:cNvGrpSpPr/>
          <p:nvPr/>
        </p:nvGrpSpPr>
        <p:grpSpPr>
          <a:xfrm rot="0">
            <a:off x="1298762" y="8998629"/>
            <a:ext cx="4458986" cy="490623"/>
            <a:chOff x="0" y="0"/>
            <a:chExt cx="5945314" cy="654164"/>
          </a:xfrm>
        </p:grpSpPr>
        <p:sp>
          <p:nvSpPr>
            <p:cNvPr name="Freeform 44" id="44"/>
            <p:cNvSpPr/>
            <p:nvPr/>
          </p:nvSpPr>
          <p:spPr>
            <a:xfrm flipH="false" flipV="false" rot="0">
              <a:off x="0" y="0"/>
              <a:ext cx="5945251" cy="654050"/>
            </a:xfrm>
            <a:custGeom>
              <a:avLst/>
              <a:gdLst/>
              <a:ahLst/>
              <a:cxnLst/>
              <a:rect r="r" b="b" t="t" l="l"/>
              <a:pathLst>
                <a:path h="654050" w="5945251">
                  <a:moveTo>
                    <a:pt x="0" y="327025"/>
                  </a:moveTo>
                  <a:cubicBezTo>
                    <a:pt x="0" y="146431"/>
                    <a:pt x="146431" y="0"/>
                    <a:pt x="327025" y="0"/>
                  </a:cubicBezTo>
                  <a:lnTo>
                    <a:pt x="5618226" y="0"/>
                  </a:lnTo>
                  <a:cubicBezTo>
                    <a:pt x="5798820" y="0"/>
                    <a:pt x="5945251" y="146431"/>
                    <a:pt x="5945251" y="327025"/>
                  </a:cubicBezTo>
                  <a:cubicBezTo>
                    <a:pt x="5945251" y="507619"/>
                    <a:pt x="5798820" y="654050"/>
                    <a:pt x="5618226" y="654050"/>
                  </a:cubicBezTo>
                  <a:lnTo>
                    <a:pt x="327025" y="654050"/>
                  </a:lnTo>
                  <a:cubicBezTo>
                    <a:pt x="146431" y="654177"/>
                    <a:pt x="0" y="507746"/>
                    <a:pt x="0" y="327152"/>
                  </a:cubicBezTo>
                  <a:close/>
                </a:path>
              </a:pathLst>
            </a:custGeom>
            <a:solidFill>
              <a:srgbClr val="FFFFFF"/>
            </a:solidFill>
          </p:spPr>
        </p:sp>
      </p:grpSp>
      <p:sp>
        <p:nvSpPr>
          <p:cNvPr name="TextBox 45" id="45"/>
          <p:cNvSpPr txBox="true"/>
          <p:nvPr/>
        </p:nvSpPr>
        <p:spPr>
          <a:xfrm rot="0">
            <a:off x="1487472" y="9092908"/>
            <a:ext cx="4996663" cy="302057"/>
          </a:xfrm>
          <a:prstGeom prst="rect">
            <a:avLst/>
          </a:prstGeom>
        </p:spPr>
        <p:txBody>
          <a:bodyPr anchor="t" rtlCol="false" tIns="0" lIns="0" bIns="0" rIns="0">
            <a:spAutoFit/>
          </a:bodyPr>
          <a:lstStyle/>
          <a:p>
            <a:pPr algn="l">
              <a:lnSpc>
                <a:spcPts val="2341"/>
              </a:lnSpc>
            </a:pPr>
            <a:r>
              <a:rPr lang="en-US" b="true" sz="1951" spc="118">
                <a:solidFill>
                  <a:srgbClr val="0B1F3A"/>
                </a:solidFill>
                <a:latin typeface="Overpass Medium"/>
                <a:ea typeface="Overpass Medium"/>
                <a:cs typeface="Overpass Medium"/>
                <a:sym typeface="Overpass Medium"/>
              </a:rPr>
              <a:t>ALLOW · SANITIZE · BLOCK</a:t>
            </a:r>
          </a:p>
        </p:txBody>
      </p:sp>
      <p:grpSp>
        <p:nvGrpSpPr>
          <p:cNvPr name="Group 46" id="46"/>
          <p:cNvGrpSpPr/>
          <p:nvPr/>
        </p:nvGrpSpPr>
        <p:grpSpPr>
          <a:xfrm rot="0">
            <a:off x="16814816" y="9494320"/>
            <a:ext cx="915095" cy="457562"/>
            <a:chOff x="0" y="0"/>
            <a:chExt cx="1220127" cy="610083"/>
          </a:xfrm>
        </p:grpSpPr>
        <p:sp>
          <p:nvSpPr>
            <p:cNvPr name="Freeform 47" id="47" descr="preencoded.png"/>
            <p:cNvSpPr/>
            <p:nvPr/>
          </p:nvSpPr>
          <p:spPr>
            <a:xfrm flipH="false" flipV="false" rot="0">
              <a:off x="0" y="0"/>
              <a:ext cx="1220089" cy="610108"/>
            </a:xfrm>
            <a:custGeom>
              <a:avLst/>
              <a:gdLst/>
              <a:ahLst/>
              <a:cxnLst/>
              <a:rect r="r" b="b" t="t" l="l"/>
              <a:pathLst>
                <a:path h="610108" w="1220089">
                  <a:moveTo>
                    <a:pt x="0" y="0"/>
                  </a:moveTo>
                  <a:lnTo>
                    <a:pt x="1220089" y="0"/>
                  </a:lnTo>
                  <a:lnTo>
                    <a:pt x="1220089" y="610108"/>
                  </a:lnTo>
                  <a:lnTo>
                    <a:pt x="0" y="610108"/>
                  </a:lnTo>
                  <a:lnTo>
                    <a:pt x="0" y="0"/>
                  </a:lnTo>
                  <a:close/>
                </a:path>
              </a:pathLst>
            </a:custGeom>
            <a:blipFill>
              <a:blip r:embed="rId3"/>
              <a:stretch>
                <a:fillRect l="-1" t="0" r="-4" b="4"/>
              </a:stretch>
            </a:blipFill>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628307" y="9846183"/>
            <a:ext cx="1609020" cy="384353"/>
            <a:chOff x="0" y="0"/>
            <a:chExt cx="2145360" cy="512470"/>
          </a:xfrm>
        </p:grpSpPr>
        <p:sp>
          <p:nvSpPr>
            <p:cNvPr name="Freeform 3" id="3" descr="preencoded.png">
              <a:hlinkClick r:id="rId3" tooltip="https://gamma.app/?utm_source=made-with-gamma"/>
            </p:cNvPr>
            <p:cNvSpPr/>
            <p:nvPr/>
          </p:nvSpPr>
          <p:spPr>
            <a:xfrm flipH="false" flipV="false" rot="0">
              <a:off x="0" y="0"/>
              <a:ext cx="2145411" cy="512445"/>
            </a:xfrm>
            <a:custGeom>
              <a:avLst/>
              <a:gdLst/>
              <a:ahLst/>
              <a:cxnLst/>
              <a:rect r="r" b="b" t="t" l="l"/>
              <a:pathLst>
                <a:path h="512445" w="2145411">
                  <a:moveTo>
                    <a:pt x="0" y="0"/>
                  </a:moveTo>
                  <a:lnTo>
                    <a:pt x="2145411" y="0"/>
                  </a:lnTo>
                  <a:lnTo>
                    <a:pt x="2145411" y="512445"/>
                  </a:lnTo>
                  <a:lnTo>
                    <a:pt x="0" y="512445"/>
                  </a:lnTo>
                  <a:lnTo>
                    <a:pt x="0" y="0"/>
                  </a:lnTo>
                  <a:close/>
                </a:path>
              </a:pathLst>
            </a:custGeom>
            <a:blipFill>
              <a:blip r:embed="rId4"/>
              <a:stretch>
                <a:fillRect l="0" t="0" r="2" b="-4"/>
              </a:stretch>
            </a:blipFill>
          </p:spPr>
        </p:sp>
      </p:grpSp>
      <p:sp>
        <p:nvSpPr>
          <p:cNvPr name="TextBox 4" id="4"/>
          <p:cNvSpPr txBox="true"/>
          <p:nvPr/>
        </p:nvSpPr>
        <p:spPr>
          <a:xfrm rot="0">
            <a:off x="1029481" y="896064"/>
            <a:ext cx="10127075" cy="305019"/>
          </a:xfrm>
          <a:prstGeom prst="rect">
            <a:avLst/>
          </a:prstGeom>
        </p:spPr>
        <p:txBody>
          <a:bodyPr anchor="t" rtlCol="false" tIns="0" lIns="0" bIns="0" rIns="0">
            <a:spAutoFit/>
          </a:bodyPr>
          <a:lstStyle/>
          <a:p>
            <a:pPr algn="l">
              <a:lnSpc>
                <a:spcPts val="2248"/>
              </a:lnSpc>
            </a:pPr>
            <a:r>
              <a:rPr lang="en-US" b="true" sz="1801" spc="108">
                <a:solidFill>
                  <a:srgbClr val="0F766E"/>
                </a:solidFill>
                <a:latin typeface="Overpass Medium"/>
                <a:ea typeface="Overpass Medium"/>
                <a:cs typeface="Overpass Medium"/>
                <a:sym typeface="Overpass Medium"/>
              </a:rPr>
              <a:t>INNOVATION · USP</a:t>
            </a:r>
          </a:p>
        </p:txBody>
      </p:sp>
      <p:sp>
        <p:nvSpPr>
          <p:cNvPr name="TextBox 5" id="5"/>
          <p:cNvSpPr txBox="true"/>
          <p:nvPr/>
        </p:nvSpPr>
        <p:spPr>
          <a:xfrm rot="0">
            <a:off x="1029481" y="1493444"/>
            <a:ext cx="9326375" cy="1634871"/>
          </a:xfrm>
          <a:prstGeom prst="rect">
            <a:avLst/>
          </a:prstGeom>
        </p:spPr>
        <p:txBody>
          <a:bodyPr anchor="t" rtlCol="false" tIns="0" lIns="0" bIns="0" rIns="0">
            <a:spAutoFit/>
          </a:bodyPr>
          <a:lstStyle/>
          <a:p>
            <a:pPr algn="l">
              <a:lnSpc>
                <a:spcPts val="6737"/>
              </a:lnSpc>
            </a:pPr>
            <a:r>
              <a:rPr lang="en-US" sz="6605" spc="-66">
                <a:solidFill>
                  <a:srgbClr val="0B1F3A"/>
                </a:solidFill>
                <a:latin typeface="Arimo"/>
                <a:ea typeface="Arimo"/>
                <a:cs typeface="Arimo"/>
                <a:sym typeface="Arimo"/>
              </a:rPr>
              <a:t>Make AI security</a:t>
            </a:r>
          </a:p>
          <a:p>
            <a:pPr algn="l">
              <a:lnSpc>
                <a:spcPts val="6737"/>
              </a:lnSpc>
            </a:pPr>
            <a:r>
              <a:rPr lang="en-US" sz="6605" spc="-66">
                <a:solidFill>
                  <a:srgbClr val="0B1F3A"/>
                </a:solidFill>
                <a:latin typeface="Arimo"/>
                <a:ea typeface="Arimo"/>
                <a:cs typeface="Arimo"/>
                <a:sym typeface="Arimo"/>
              </a:rPr>
              <a:t>inspectable.</a:t>
            </a:r>
          </a:p>
        </p:txBody>
      </p:sp>
      <p:sp>
        <p:nvSpPr>
          <p:cNvPr name="TextBox 6" id="6"/>
          <p:cNvSpPr txBox="true"/>
          <p:nvPr/>
        </p:nvSpPr>
        <p:spPr>
          <a:xfrm rot="0">
            <a:off x="1029481" y="3283982"/>
            <a:ext cx="9326375" cy="1609592"/>
          </a:xfrm>
          <a:prstGeom prst="rect">
            <a:avLst/>
          </a:prstGeom>
        </p:spPr>
        <p:txBody>
          <a:bodyPr anchor="t" rtlCol="false" tIns="0" lIns="0" bIns="0" rIns="0">
            <a:spAutoFit/>
          </a:bodyPr>
          <a:lstStyle/>
          <a:p>
            <a:pPr algn="l">
              <a:lnSpc>
                <a:spcPts val="4038"/>
              </a:lnSpc>
            </a:pPr>
            <a:r>
              <a:rPr lang="en-US" sz="2852">
                <a:solidFill>
                  <a:srgbClr val="17324D"/>
                </a:solidFill>
                <a:latin typeface="Fira Sans"/>
                <a:ea typeface="Fira Sans"/>
                <a:cs typeface="Fira Sans"/>
                <a:sym typeface="Fira Sans"/>
              </a:rPr>
              <a:t>Workex combines input screening, configurable policies, explainable risk signals and generated-output checking around the model call.</a:t>
            </a:r>
          </a:p>
        </p:txBody>
      </p:sp>
      <p:sp>
        <p:nvSpPr>
          <p:cNvPr name="TextBox 7" id="7"/>
          <p:cNvSpPr txBox="true"/>
          <p:nvPr/>
        </p:nvSpPr>
        <p:spPr>
          <a:xfrm rot="0">
            <a:off x="1029481" y="5117630"/>
            <a:ext cx="9326375" cy="950519"/>
          </a:xfrm>
          <a:prstGeom prst="rect">
            <a:avLst/>
          </a:prstGeom>
        </p:spPr>
        <p:txBody>
          <a:bodyPr anchor="t" rtlCol="false" tIns="0" lIns="0" bIns="0" rIns="0">
            <a:spAutoFit/>
          </a:bodyPr>
          <a:lstStyle/>
          <a:p>
            <a:pPr algn="l">
              <a:lnSpc>
                <a:spcPts val="3507"/>
              </a:lnSpc>
            </a:pPr>
            <a:r>
              <a:rPr lang="en-US" sz="2476">
                <a:solidFill>
                  <a:srgbClr val="17324D"/>
                </a:solidFill>
                <a:latin typeface="Fira Sans"/>
                <a:ea typeface="Fira Sans"/>
                <a:cs typeface="Fira Sans"/>
                <a:sym typeface="Fira Sans"/>
              </a:rPr>
              <a:t>It is a lightweight gateway for teams that need a clear place to inspect, test and govern decisions.</a:t>
            </a:r>
          </a:p>
        </p:txBody>
      </p:sp>
      <p:grpSp>
        <p:nvGrpSpPr>
          <p:cNvPr name="Group 8" id="8"/>
          <p:cNvGrpSpPr/>
          <p:nvPr/>
        </p:nvGrpSpPr>
        <p:grpSpPr>
          <a:xfrm rot="0">
            <a:off x="11842728" y="0"/>
            <a:ext cx="6459112" cy="10295039"/>
            <a:chOff x="0" y="0"/>
            <a:chExt cx="8612149" cy="13726719"/>
          </a:xfrm>
        </p:grpSpPr>
        <p:sp>
          <p:nvSpPr>
            <p:cNvPr name="Freeform 9" id="9"/>
            <p:cNvSpPr/>
            <p:nvPr/>
          </p:nvSpPr>
          <p:spPr>
            <a:xfrm flipH="false" flipV="false" rot="0">
              <a:off x="0" y="0"/>
              <a:ext cx="8612124" cy="13726668"/>
            </a:xfrm>
            <a:custGeom>
              <a:avLst/>
              <a:gdLst/>
              <a:ahLst/>
              <a:cxnLst/>
              <a:rect r="r" b="b" t="t" l="l"/>
              <a:pathLst>
                <a:path h="13726668" w="8612124">
                  <a:moveTo>
                    <a:pt x="0" y="0"/>
                  </a:moveTo>
                  <a:lnTo>
                    <a:pt x="8612124" y="0"/>
                  </a:lnTo>
                  <a:lnTo>
                    <a:pt x="8612124" y="13726668"/>
                  </a:lnTo>
                  <a:lnTo>
                    <a:pt x="0" y="13726668"/>
                  </a:lnTo>
                  <a:close/>
                </a:path>
              </a:pathLst>
            </a:custGeom>
            <a:solidFill>
              <a:srgbClr val="0B1F3A"/>
            </a:solidFill>
          </p:spPr>
        </p:sp>
      </p:grpSp>
      <p:grpSp>
        <p:nvGrpSpPr>
          <p:cNvPr name="Group 10" id="10"/>
          <p:cNvGrpSpPr/>
          <p:nvPr/>
        </p:nvGrpSpPr>
        <p:grpSpPr>
          <a:xfrm rot="0">
            <a:off x="12490914" y="648205"/>
            <a:ext cx="5162731" cy="8226800"/>
            <a:chOff x="0" y="0"/>
            <a:chExt cx="6883641" cy="10969066"/>
          </a:xfrm>
        </p:grpSpPr>
        <p:sp>
          <p:nvSpPr>
            <p:cNvPr name="Freeform 11" id="11" descr="preencoded.png"/>
            <p:cNvSpPr/>
            <p:nvPr/>
          </p:nvSpPr>
          <p:spPr>
            <a:xfrm flipH="false" flipV="false" rot="0">
              <a:off x="0" y="0"/>
              <a:ext cx="6883654" cy="10969117"/>
            </a:xfrm>
            <a:custGeom>
              <a:avLst/>
              <a:gdLst/>
              <a:ahLst/>
              <a:cxnLst/>
              <a:rect r="r" b="b" t="t" l="l"/>
              <a:pathLst>
                <a:path h="10969117" w="6883654">
                  <a:moveTo>
                    <a:pt x="0" y="0"/>
                  </a:moveTo>
                  <a:lnTo>
                    <a:pt x="6883654" y="0"/>
                  </a:lnTo>
                  <a:lnTo>
                    <a:pt x="6883654" y="10969117"/>
                  </a:lnTo>
                  <a:lnTo>
                    <a:pt x="0" y="10969117"/>
                  </a:lnTo>
                  <a:lnTo>
                    <a:pt x="0" y="0"/>
                  </a:lnTo>
                  <a:close/>
                </a:path>
              </a:pathLst>
            </a:custGeom>
            <a:blipFill>
              <a:blip r:embed="rId5"/>
              <a:stretch>
                <a:fillRect l="-73" t="0" r="-73" b="0"/>
              </a:stretch>
            </a:blipFill>
          </p:spPr>
        </p:sp>
      </p:grpSp>
      <p:grpSp>
        <p:nvGrpSpPr>
          <p:cNvPr name="Group 12" id="12"/>
          <p:cNvGrpSpPr/>
          <p:nvPr/>
        </p:nvGrpSpPr>
        <p:grpSpPr>
          <a:xfrm rot="0">
            <a:off x="12490914" y="9156211"/>
            <a:ext cx="3948722" cy="490623"/>
            <a:chOff x="0" y="0"/>
            <a:chExt cx="5264963" cy="654164"/>
          </a:xfrm>
        </p:grpSpPr>
        <p:sp>
          <p:nvSpPr>
            <p:cNvPr name="Freeform 13" id="13"/>
            <p:cNvSpPr/>
            <p:nvPr/>
          </p:nvSpPr>
          <p:spPr>
            <a:xfrm flipH="false" flipV="false" rot="0">
              <a:off x="0" y="0"/>
              <a:ext cx="5264912" cy="654050"/>
            </a:xfrm>
            <a:custGeom>
              <a:avLst/>
              <a:gdLst/>
              <a:ahLst/>
              <a:cxnLst/>
              <a:rect r="r" b="b" t="t" l="l"/>
              <a:pathLst>
                <a:path h="654050" w="5264912">
                  <a:moveTo>
                    <a:pt x="0" y="327025"/>
                  </a:moveTo>
                  <a:cubicBezTo>
                    <a:pt x="0" y="146431"/>
                    <a:pt x="146431" y="0"/>
                    <a:pt x="327025" y="0"/>
                  </a:cubicBezTo>
                  <a:lnTo>
                    <a:pt x="4937887" y="0"/>
                  </a:lnTo>
                  <a:cubicBezTo>
                    <a:pt x="5118481" y="0"/>
                    <a:pt x="5264912" y="146431"/>
                    <a:pt x="5264912" y="327025"/>
                  </a:cubicBezTo>
                  <a:cubicBezTo>
                    <a:pt x="5264912" y="507619"/>
                    <a:pt x="5118481" y="654050"/>
                    <a:pt x="4937887" y="654050"/>
                  </a:cubicBezTo>
                  <a:lnTo>
                    <a:pt x="327025" y="654050"/>
                  </a:lnTo>
                  <a:cubicBezTo>
                    <a:pt x="146431" y="654177"/>
                    <a:pt x="0" y="507746"/>
                    <a:pt x="0" y="327152"/>
                  </a:cubicBezTo>
                  <a:close/>
                </a:path>
              </a:pathLst>
            </a:custGeom>
            <a:solidFill>
              <a:srgbClr val="FFFFFF"/>
            </a:solidFill>
          </p:spPr>
        </p:sp>
      </p:grpSp>
      <p:sp>
        <p:nvSpPr>
          <p:cNvPr name="TextBox 14" id="14"/>
          <p:cNvSpPr txBox="true"/>
          <p:nvPr/>
        </p:nvSpPr>
        <p:spPr>
          <a:xfrm rot="0">
            <a:off x="12679623" y="9250499"/>
            <a:ext cx="4486389" cy="302057"/>
          </a:xfrm>
          <a:prstGeom prst="rect">
            <a:avLst/>
          </a:prstGeom>
        </p:spPr>
        <p:txBody>
          <a:bodyPr anchor="t" rtlCol="false" tIns="0" lIns="0" bIns="0" rIns="0">
            <a:spAutoFit/>
          </a:bodyPr>
          <a:lstStyle/>
          <a:p>
            <a:pPr algn="l">
              <a:lnSpc>
                <a:spcPts val="2341"/>
              </a:lnSpc>
            </a:pPr>
            <a:r>
              <a:rPr lang="en-US" b="true" sz="1951" spc="118">
                <a:solidFill>
                  <a:srgbClr val="0B1F3A"/>
                </a:solidFill>
                <a:latin typeface="Overpass Medium"/>
                <a:ea typeface="Overpass Medium"/>
                <a:cs typeface="Overpass Medium"/>
                <a:sym typeface="Overpass Medium"/>
              </a:rPr>
              <a:t>EXPLAINABLE BY DESIGN</a:t>
            </a:r>
          </a:p>
        </p:txBody>
      </p:sp>
      <p:grpSp>
        <p:nvGrpSpPr>
          <p:cNvPr name="Group 15" id="15"/>
          <p:cNvGrpSpPr/>
          <p:nvPr/>
        </p:nvGrpSpPr>
        <p:grpSpPr>
          <a:xfrm rot="0">
            <a:off x="16814816" y="9494320"/>
            <a:ext cx="915095" cy="457562"/>
            <a:chOff x="0" y="0"/>
            <a:chExt cx="1220127" cy="610083"/>
          </a:xfrm>
        </p:grpSpPr>
        <p:sp>
          <p:nvSpPr>
            <p:cNvPr name="Freeform 16" id="16" descr="preencoded.png"/>
            <p:cNvSpPr/>
            <p:nvPr/>
          </p:nvSpPr>
          <p:spPr>
            <a:xfrm flipH="false" flipV="false" rot="0">
              <a:off x="0" y="0"/>
              <a:ext cx="1220089" cy="610108"/>
            </a:xfrm>
            <a:custGeom>
              <a:avLst/>
              <a:gdLst/>
              <a:ahLst/>
              <a:cxnLst/>
              <a:rect r="r" b="b" t="t" l="l"/>
              <a:pathLst>
                <a:path h="610108" w="1220089">
                  <a:moveTo>
                    <a:pt x="0" y="0"/>
                  </a:moveTo>
                  <a:lnTo>
                    <a:pt x="1220089" y="0"/>
                  </a:lnTo>
                  <a:lnTo>
                    <a:pt x="1220089" y="610108"/>
                  </a:lnTo>
                  <a:lnTo>
                    <a:pt x="0" y="610108"/>
                  </a:lnTo>
                  <a:lnTo>
                    <a:pt x="0" y="0"/>
                  </a:lnTo>
                  <a:close/>
                </a:path>
              </a:pathLst>
            </a:custGeom>
            <a:blipFill>
              <a:blip r:embed="rId6"/>
              <a:stretch>
                <a:fillRect l="-1" t="0" r="-4" b="4"/>
              </a:stretch>
            </a:blipFill>
          </p:spPr>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762581" y="552898"/>
            <a:ext cx="17539268" cy="305019"/>
          </a:xfrm>
          <a:prstGeom prst="rect">
            <a:avLst/>
          </a:prstGeom>
        </p:spPr>
        <p:txBody>
          <a:bodyPr anchor="t" rtlCol="false" tIns="0" lIns="0" bIns="0" rIns="0">
            <a:spAutoFit/>
          </a:bodyPr>
          <a:lstStyle/>
          <a:p>
            <a:pPr algn="l">
              <a:lnSpc>
                <a:spcPts val="2248"/>
              </a:lnSpc>
            </a:pPr>
            <a:r>
              <a:rPr lang="en-US" b="true" sz="1801" spc="108">
                <a:solidFill>
                  <a:srgbClr val="0F766E"/>
                </a:solidFill>
                <a:latin typeface="Overpass Medium"/>
                <a:ea typeface="Overpass Medium"/>
                <a:cs typeface="Overpass Medium"/>
                <a:sym typeface="Overpass Medium"/>
              </a:rPr>
              <a:t>END-TO-END WORKFLOW</a:t>
            </a:r>
          </a:p>
        </p:txBody>
      </p:sp>
      <p:sp>
        <p:nvSpPr>
          <p:cNvPr name="TextBox 3" id="3"/>
          <p:cNvSpPr txBox="true"/>
          <p:nvPr/>
        </p:nvSpPr>
        <p:spPr>
          <a:xfrm rot="0">
            <a:off x="762581" y="1073896"/>
            <a:ext cx="16776687" cy="568100"/>
          </a:xfrm>
          <a:prstGeom prst="rect">
            <a:avLst/>
          </a:prstGeom>
        </p:spPr>
        <p:txBody>
          <a:bodyPr anchor="t" rtlCol="false" tIns="0" lIns="0" bIns="0" rIns="0">
            <a:spAutoFit/>
          </a:bodyPr>
          <a:lstStyle/>
          <a:p>
            <a:pPr algn="l">
              <a:lnSpc>
                <a:spcPts val="4755"/>
              </a:lnSpc>
            </a:pPr>
            <a:r>
              <a:rPr lang="en-US" sz="4503" spc="-45">
                <a:solidFill>
                  <a:srgbClr val="0B1F3A"/>
                </a:solidFill>
                <a:latin typeface="Arimo"/>
                <a:ea typeface="Arimo"/>
                <a:cs typeface="Arimo"/>
                <a:sym typeface="Arimo"/>
              </a:rPr>
              <a:t>Every prompt follows a visible route.</a:t>
            </a:r>
          </a:p>
        </p:txBody>
      </p:sp>
      <p:sp>
        <p:nvSpPr>
          <p:cNvPr name="TextBox 4" id="4"/>
          <p:cNvSpPr txBox="true"/>
          <p:nvPr/>
        </p:nvSpPr>
        <p:spPr>
          <a:xfrm rot="0">
            <a:off x="762581" y="1845469"/>
            <a:ext cx="16776687" cy="950519"/>
          </a:xfrm>
          <a:prstGeom prst="rect">
            <a:avLst/>
          </a:prstGeom>
        </p:spPr>
        <p:txBody>
          <a:bodyPr anchor="t" rtlCol="false" tIns="0" lIns="0" bIns="0" rIns="0">
            <a:spAutoFit/>
          </a:bodyPr>
          <a:lstStyle/>
          <a:p>
            <a:pPr algn="l">
              <a:lnSpc>
                <a:spcPts val="3507"/>
              </a:lnSpc>
            </a:pPr>
            <a:r>
              <a:rPr lang="en-US" sz="2476">
                <a:solidFill>
                  <a:srgbClr val="17324D"/>
                </a:solidFill>
                <a:latin typeface="Fira Sans"/>
                <a:ea typeface="Fira Sans"/>
                <a:cs typeface="Fira Sans"/>
                <a:sym typeface="Fira Sans"/>
              </a:rPr>
              <a:t>User → Scanner / Batch Scan (input) → security processing and policy → Gemini API only when permitted → output check → response or withheld result → action.</a:t>
            </a:r>
          </a:p>
        </p:txBody>
      </p:sp>
      <p:grpSp>
        <p:nvGrpSpPr>
          <p:cNvPr name="Group 5" id="5"/>
          <p:cNvGrpSpPr/>
          <p:nvPr/>
        </p:nvGrpSpPr>
        <p:grpSpPr>
          <a:xfrm rot="0">
            <a:off x="2160384" y="3363163"/>
            <a:ext cx="1397956" cy="114386"/>
            <a:chOff x="0" y="0"/>
            <a:chExt cx="1863941" cy="152514"/>
          </a:xfrm>
        </p:grpSpPr>
        <p:sp>
          <p:nvSpPr>
            <p:cNvPr name="Freeform 6" id="6"/>
            <p:cNvSpPr/>
            <p:nvPr/>
          </p:nvSpPr>
          <p:spPr>
            <a:xfrm flipH="false" flipV="false" rot="0">
              <a:off x="0" y="0"/>
              <a:ext cx="1863979" cy="152527"/>
            </a:xfrm>
            <a:custGeom>
              <a:avLst/>
              <a:gdLst/>
              <a:ahLst/>
              <a:cxnLst/>
              <a:rect r="r" b="b" t="t" l="l"/>
              <a:pathLst>
                <a:path h="152527" w="1863979">
                  <a:moveTo>
                    <a:pt x="0" y="0"/>
                  </a:moveTo>
                  <a:lnTo>
                    <a:pt x="1863979" y="0"/>
                  </a:lnTo>
                  <a:lnTo>
                    <a:pt x="1863979" y="152527"/>
                  </a:lnTo>
                  <a:lnTo>
                    <a:pt x="0" y="152527"/>
                  </a:lnTo>
                  <a:close/>
                </a:path>
              </a:pathLst>
            </a:custGeom>
            <a:solidFill>
              <a:srgbClr val="0F766E"/>
            </a:solidFill>
          </p:spPr>
        </p:sp>
      </p:grpSp>
      <p:grpSp>
        <p:nvGrpSpPr>
          <p:cNvPr name="Group 7" id="7"/>
          <p:cNvGrpSpPr/>
          <p:nvPr/>
        </p:nvGrpSpPr>
        <p:grpSpPr>
          <a:xfrm rot="0">
            <a:off x="3444107" y="3286906"/>
            <a:ext cx="228771" cy="266910"/>
            <a:chOff x="0" y="0"/>
            <a:chExt cx="305029" cy="355879"/>
          </a:xfrm>
        </p:grpSpPr>
        <p:sp>
          <p:nvSpPr>
            <p:cNvPr name="Freeform 8" id="8"/>
            <p:cNvSpPr/>
            <p:nvPr/>
          </p:nvSpPr>
          <p:spPr>
            <a:xfrm flipH="false" flipV="false" rot="0">
              <a:off x="0" y="0"/>
              <a:ext cx="305054" cy="355854"/>
            </a:xfrm>
            <a:custGeom>
              <a:avLst/>
              <a:gdLst/>
              <a:ahLst/>
              <a:cxnLst/>
              <a:rect r="r" b="b" t="t" l="l"/>
              <a:pathLst>
                <a:path h="355854" w="305054">
                  <a:moveTo>
                    <a:pt x="0" y="0"/>
                  </a:moveTo>
                  <a:lnTo>
                    <a:pt x="305054" y="0"/>
                  </a:lnTo>
                  <a:lnTo>
                    <a:pt x="305054" y="355854"/>
                  </a:lnTo>
                  <a:lnTo>
                    <a:pt x="0" y="355854"/>
                  </a:lnTo>
                  <a:close/>
                </a:path>
              </a:pathLst>
            </a:custGeom>
            <a:solidFill>
              <a:srgbClr val="0F766E"/>
            </a:solidFill>
          </p:spPr>
        </p:sp>
      </p:grpSp>
      <p:grpSp>
        <p:nvGrpSpPr>
          <p:cNvPr name="Group 9" id="9"/>
          <p:cNvGrpSpPr/>
          <p:nvPr/>
        </p:nvGrpSpPr>
        <p:grpSpPr>
          <a:xfrm rot="0">
            <a:off x="1788776" y="3048600"/>
            <a:ext cx="743512" cy="743531"/>
            <a:chOff x="0" y="0"/>
            <a:chExt cx="991349" cy="991375"/>
          </a:xfrm>
        </p:grpSpPr>
        <p:sp>
          <p:nvSpPr>
            <p:cNvPr name="Freeform 10" id="10"/>
            <p:cNvSpPr/>
            <p:nvPr/>
          </p:nvSpPr>
          <p:spPr>
            <a:xfrm flipH="false" flipV="false" rot="0">
              <a:off x="0" y="0"/>
              <a:ext cx="991362" cy="991362"/>
            </a:xfrm>
            <a:custGeom>
              <a:avLst/>
              <a:gdLst/>
              <a:ahLst/>
              <a:cxnLst/>
              <a:rect r="r" b="b" t="t" l="l"/>
              <a:pathLst>
                <a:path h="991362" w="991362">
                  <a:moveTo>
                    <a:pt x="0" y="495681"/>
                  </a:moveTo>
                  <a:cubicBezTo>
                    <a:pt x="0" y="221869"/>
                    <a:pt x="221869" y="0"/>
                    <a:pt x="495681" y="0"/>
                  </a:cubicBezTo>
                  <a:cubicBezTo>
                    <a:pt x="769493" y="0"/>
                    <a:pt x="991362" y="221869"/>
                    <a:pt x="991362" y="495681"/>
                  </a:cubicBezTo>
                  <a:cubicBezTo>
                    <a:pt x="991362" y="769493"/>
                    <a:pt x="769366" y="991362"/>
                    <a:pt x="495681" y="991362"/>
                  </a:cubicBezTo>
                  <a:cubicBezTo>
                    <a:pt x="221996" y="991362"/>
                    <a:pt x="0" y="769493"/>
                    <a:pt x="0" y="495681"/>
                  </a:cubicBezTo>
                  <a:close/>
                </a:path>
              </a:pathLst>
            </a:custGeom>
            <a:solidFill>
              <a:srgbClr val="FFFFFF"/>
            </a:solidFill>
            <a:ln w="57193" cap="sq">
              <a:solidFill>
                <a:srgbClr val="0F766E"/>
              </a:solidFill>
              <a:prstDash val="solid"/>
              <a:miter/>
            </a:ln>
          </p:spPr>
        </p:sp>
      </p:grpSp>
      <p:sp>
        <p:nvSpPr>
          <p:cNvPr name="TextBox 11" id="11"/>
          <p:cNvSpPr txBox="true"/>
          <p:nvPr/>
        </p:nvSpPr>
        <p:spPr>
          <a:xfrm rot="0">
            <a:off x="2073554" y="3286858"/>
            <a:ext cx="1089050" cy="324145"/>
          </a:xfrm>
          <a:prstGeom prst="rect">
            <a:avLst/>
          </a:prstGeom>
        </p:spPr>
        <p:txBody>
          <a:bodyPr anchor="t" rtlCol="false" tIns="0" lIns="0" bIns="0" rIns="0">
            <a:spAutoFit/>
          </a:bodyPr>
          <a:lstStyle/>
          <a:p>
            <a:pPr algn="l">
              <a:lnSpc>
                <a:spcPts val="2990"/>
              </a:lnSpc>
            </a:pPr>
            <a:r>
              <a:rPr lang="en-US" sz="3002">
                <a:solidFill>
                  <a:srgbClr val="0B1F3A"/>
                </a:solidFill>
                <a:latin typeface="Fira Sans"/>
                <a:ea typeface="Fira Sans"/>
                <a:cs typeface="Fira Sans"/>
                <a:sym typeface="Fira Sans"/>
              </a:rPr>
              <a:t>1</a:t>
            </a:r>
          </a:p>
        </p:txBody>
      </p:sp>
      <p:sp>
        <p:nvSpPr>
          <p:cNvPr name="TextBox 12" id="12"/>
          <p:cNvSpPr txBox="true"/>
          <p:nvPr/>
        </p:nvSpPr>
        <p:spPr>
          <a:xfrm rot="0">
            <a:off x="762505" y="3856025"/>
            <a:ext cx="2796064" cy="459315"/>
          </a:xfrm>
          <a:prstGeom prst="rect">
            <a:avLst/>
          </a:prstGeom>
        </p:spPr>
        <p:txBody>
          <a:bodyPr anchor="t" rtlCol="false" tIns="0" lIns="0" bIns="0" rIns="0">
            <a:spAutoFit/>
          </a:bodyPr>
          <a:lstStyle/>
          <a:p>
            <a:pPr algn="ctr">
              <a:lnSpc>
                <a:spcPts val="3307"/>
              </a:lnSpc>
            </a:pPr>
            <a:r>
              <a:rPr lang="en-US" sz="2551">
                <a:solidFill>
                  <a:srgbClr val="0B1F3A"/>
                </a:solidFill>
                <a:latin typeface="Fira Sans"/>
                <a:ea typeface="Fira Sans"/>
                <a:cs typeface="Fira Sans"/>
                <a:sym typeface="Fira Sans"/>
              </a:rPr>
              <a:t>Input</a:t>
            </a:r>
          </a:p>
        </p:txBody>
      </p:sp>
      <p:sp>
        <p:nvSpPr>
          <p:cNvPr name="TextBox 13" id="13"/>
          <p:cNvSpPr txBox="true"/>
          <p:nvPr/>
        </p:nvSpPr>
        <p:spPr>
          <a:xfrm rot="0">
            <a:off x="919858" y="4489818"/>
            <a:ext cx="2481501" cy="440093"/>
          </a:xfrm>
          <a:prstGeom prst="rect">
            <a:avLst/>
          </a:prstGeom>
        </p:spPr>
        <p:txBody>
          <a:bodyPr anchor="t" rtlCol="false" tIns="0" lIns="0" bIns="0" rIns="0">
            <a:spAutoFit/>
          </a:bodyPr>
          <a:lstStyle/>
          <a:p>
            <a:pPr algn="ctr">
              <a:lnSpc>
                <a:spcPts val="3082"/>
              </a:lnSpc>
            </a:pPr>
            <a:r>
              <a:rPr lang="en-US" sz="2176">
                <a:solidFill>
                  <a:srgbClr val="17324D"/>
                </a:solidFill>
                <a:latin typeface="Fira Sans"/>
                <a:ea typeface="Fira Sans"/>
                <a:cs typeface="Fira Sans"/>
                <a:sym typeface="Fira Sans"/>
              </a:rPr>
              <a:t>User prompt</a:t>
            </a:r>
          </a:p>
        </p:txBody>
      </p:sp>
      <p:grpSp>
        <p:nvGrpSpPr>
          <p:cNvPr name="Group 14" id="14"/>
          <p:cNvGrpSpPr/>
          <p:nvPr/>
        </p:nvGrpSpPr>
        <p:grpSpPr>
          <a:xfrm rot="0">
            <a:off x="3558645" y="3363163"/>
            <a:ext cx="2795921" cy="114386"/>
            <a:chOff x="0" y="0"/>
            <a:chExt cx="3727895" cy="152514"/>
          </a:xfrm>
        </p:grpSpPr>
        <p:sp>
          <p:nvSpPr>
            <p:cNvPr name="Freeform 15" id="15"/>
            <p:cNvSpPr/>
            <p:nvPr/>
          </p:nvSpPr>
          <p:spPr>
            <a:xfrm flipH="false" flipV="false" rot="0">
              <a:off x="0" y="0"/>
              <a:ext cx="3727831" cy="152527"/>
            </a:xfrm>
            <a:custGeom>
              <a:avLst/>
              <a:gdLst/>
              <a:ahLst/>
              <a:cxnLst/>
              <a:rect r="r" b="b" t="t" l="l"/>
              <a:pathLst>
                <a:path h="152527" w="3727831">
                  <a:moveTo>
                    <a:pt x="0" y="0"/>
                  </a:moveTo>
                  <a:lnTo>
                    <a:pt x="3727831" y="0"/>
                  </a:lnTo>
                  <a:lnTo>
                    <a:pt x="3727831" y="152527"/>
                  </a:lnTo>
                  <a:lnTo>
                    <a:pt x="0" y="152527"/>
                  </a:lnTo>
                  <a:close/>
                </a:path>
              </a:pathLst>
            </a:custGeom>
            <a:solidFill>
              <a:srgbClr val="0F766E"/>
            </a:solidFill>
          </p:spPr>
        </p:sp>
      </p:grpSp>
      <p:grpSp>
        <p:nvGrpSpPr>
          <p:cNvPr name="Group 16" id="16"/>
          <p:cNvGrpSpPr/>
          <p:nvPr/>
        </p:nvGrpSpPr>
        <p:grpSpPr>
          <a:xfrm rot="0">
            <a:off x="6240170" y="3286906"/>
            <a:ext cx="228771" cy="266910"/>
            <a:chOff x="0" y="0"/>
            <a:chExt cx="305029" cy="355879"/>
          </a:xfrm>
        </p:grpSpPr>
        <p:sp>
          <p:nvSpPr>
            <p:cNvPr name="Freeform 17" id="17"/>
            <p:cNvSpPr/>
            <p:nvPr/>
          </p:nvSpPr>
          <p:spPr>
            <a:xfrm flipH="false" flipV="false" rot="0">
              <a:off x="0" y="0"/>
              <a:ext cx="305054" cy="355854"/>
            </a:xfrm>
            <a:custGeom>
              <a:avLst/>
              <a:gdLst/>
              <a:ahLst/>
              <a:cxnLst/>
              <a:rect r="r" b="b" t="t" l="l"/>
              <a:pathLst>
                <a:path h="355854" w="305054">
                  <a:moveTo>
                    <a:pt x="0" y="0"/>
                  </a:moveTo>
                  <a:lnTo>
                    <a:pt x="305054" y="0"/>
                  </a:lnTo>
                  <a:lnTo>
                    <a:pt x="305054" y="355854"/>
                  </a:lnTo>
                  <a:lnTo>
                    <a:pt x="0" y="355854"/>
                  </a:lnTo>
                  <a:close/>
                </a:path>
              </a:pathLst>
            </a:custGeom>
            <a:solidFill>
              <a:srgbClr val="0F766E"/>
            </a:solidFill>
          </p:spPr>
        </p:sp>
      </p:grpSp>
      <p:grpSp>
        <p:nvGrpSpPr>
          <p:cNvPr name="Group 18" id="18"/>
          <p:cNvGrpSpPr/>
          <p:nvPr/>
        </p:nvGrpSpPr>
        <p:grpSpPr>
          <a:xfrm rot="0">
            <a:off x="4584840" y="3048600"/>
            <a:ext cx="743512" cy="743531"/>
            <a:chOff x="0" y="0"/>
            <a:chExt cx="991349" cy="991375"/>
          </a:xfrm>
        </p:grpSpPr>
        <p:sp>
          <p:nvSpPr>
            <p:cNvPr name="Freeform 19" id="19"/>
            <p:cNvSpPr/>
            <p:nvPr/>
          </p:nvSpPr>
          <p:spPr>
            <a:xfrm flipH="false" flipV="false" rot="0">
              <a:off x="0" y="0"/>
              <a:ext cx="991362" cy="991362"/>
            </a:xfrm>
            <a:custGeom>
              <a:avLst/>
              <a:gdLst/>
              <a:ahLst/>
              <a:cxnLst/>
              <a:rect r="r" b="b" t="t" l="l"/>
              <a:pathLst>
                <a:path h="991362" w="991362">
                  <a:moveTo>
                    <a:pt x="0" y="495681"/>
                  </a:moveTo>
                  <a:cubicBezTo>
                    <a:pt x="0" y="221869"/>
                    <a:pt x="221869" y="0"/>
                    <a:pt x="495681" y="0"/>
                  </a:cubicBezTo>
                  <a:cubicBezTo>
                    <a:pt x="769493" y="0"/>
                    <a:pt x="991362" y="221869"/>
                    <a:pt x="991362" y="495681"/>
                  </a:cubicBezTo>
                  <a:cubicBezTo>
                    <a:pt x="991362" y="769493"/>
                    <a:pt x="769366" y="991362"/>
                    <a:pt x="495681" y="991362"/>
                  </a:cubicBezTo>
                  <a:cubicBezTo>
                    <a:pt x="221996" y="991362"/>
                    <a:pt x="0" y="769493"/>
                    <a:pt x="0" y="495681"/>
                  </a:cubicBezTo>
                  <a:close/>
                </a:path>
              </a:pathLst>
            </a:custGeom>
            <a:solidFill>
              <a:srgbClr val="FFFFFF"/>
            </a:solidFill>
            <a:ln w="57193" cap="sq">
              <a:solidFill>
                <a:srgbClr val="0F766E"/>
              </a:solidFill>
              <a:prstDash val="solid"/>
              <a:miter/>
            </a:ln>
          </p:spPr>
        </p:sp>
      </p:grpSp>
      <p:sp>
        <p:nvSpPr>
          <p:cNvPr name="TextBox 20" id="20"/>
          <p:cNvSpPr txBox="true"/>
          <p:nvPr/>
        </p:nvSpPr>
        <p:spPr>
          <a:xfrm rot="0">
            <a:off x="4858893" y="3286858"/>
            <a:ext cx="1110348" cy="324145"/>
          </a:xfrm>
          <a:prstGeom prst="rect">
            <a:avLst/>
          </a:prstGeom>
        </p:spPr>
        <p:txBody>
          <a:bodyPr anchor="t" rtlCol="false" tIns="0" lIns="0" bIns="0" rIns="0">
            <a:spAutoFit/>
          </a:bodyPr>
          <a:lstStyle/>
          <a:p>
            <a:pPr algn="l">
              <a:lnSpc>
                <a:spcPts val="2990"/>
              </a:lnSpc>
            </a:pPr>
            <a:r>
              <a:rPr lang="en-US" sz="3002">
                <a:solidFill>
                  <a:srgbClr val="0B1F3A"/>
                </a:solidFill>
                <a:latin typeface="Fira Sans"/>
                <a:ea typeface="Fira Sans"/>
                <a:cs typeface="Fira Sans"/>
                <a:sym typeface="Fira Sans"/>
              </a:rPr>
              <a:t>2</a:t>
            </a:r>
          </a:p>
        </p:txBody>
      </p:sp>
      <p:sp>
        <p:nvSpPr>
          <p:cNvPr name="TextBox 21" id="21"/>
          <p:cNvSpPr txBox="true"/>
          <p:nvPr/>
        </p:nvSpPr>
        <p:spPr>
          <a:xfrm rot="0">
            <a:off x="3558569" y="3856025"/>
            <a:ext cx="2796064" cy="459315"/>
          </a:xfrm>
          <a:prstGeom prst="rect">
            <a:avLst/>
          </a:prstGeom>
        </p:spPr>
        <p:txBody>
          <a:bodyPr anchor="t" rtlCol="false" tIns="0" lIns="0" bIns="0" rIns="0">
            <a:spAutoFit/>
          </a:bodyPr>
          <a:lstStyle/>
          <a:p>
            <a:pPr algn="ctr">
              <a:lnSpc>
                <a:spcPts val="3307"/>
              </a:lnSpc>
            </a:pPr>
            <a:r>
              <a:rPr lang="en-US" sz="2551">
                <a:solidFill>
                  <a:srgbClr val="0B1F3A"/>
                </a:solidFill>
                <a:latin typeface="Fira Sans"/>
                <a:ea typeface="Fira Sans"/>
                <a:cs typeface="Fira Sans"/>
                <a:sym typeface="Fira Sans"/>
              </a:rPr>
              <a:t>Scan</a:t>
            </a:r>
          </a:p>
        </p:txBody>
      </p:sp>
      <p:sp>
        <p:nvSpPr>
          <p:cNvPr name="TextBox 22" id="22"/>
          <p:cNvSpPr txBox="true"/>
          <p:nvPr/>
        </p:nvSpPr>
        <p:spPr>
          <a:xfrm rot="0">
            <a:off x="3558645" y="4489818"/>
            <a:ext cx="2796064" cy="440093"/>
          </a:xfrm>
          <a:prstGeom prst="rect">
            <a:avLst/>
          </a:prstGeom>
        </p:spPr>
        <p:txBody>
          <a:bodyPr anchor="t" rtlCol="false" tIns="0" lIns="0" bIns="0" rIns="0">
            <a:spAutoFit/>
          </a:bodyPr>
          <a:lstStyle/>
          <a:p>
            <a:pPr algn="ctr">
              <a:lnSpc>
                <a:spcPts val="3082"/>
              </a:lnSpc>
            </a:pPr>
            <a:r>
              <a:rPr lang="en-US" sz="2176">
                <a:solidFill>
                  <a:srgbClr val="17324D"/>
                </a:solidFill>
                <a:latin typeface="Fira Sans"/>
                <a:ea typeface="Fira Sans"/>
                <a:cs typeface="Fira Sans"/>
                <a:sym typeface="Fira Sans"/>
              </a:rPr>
              <a:t>Security signals</a:t>
            </a:r>
          </a:p>
        </p:txBody>
      </p:sp>
      <p:grpSp>
        <p:nvGrpSpPr>
          <p:cNvPr name="Group 23" id="23"/>
          <p:cNvGrpSpPr/>
          <p:nvPr/>
        </p:nvGrpSpPr>
        <p:grpSpPr>
          <a:xfrm rot="0">
            <a:off x="6354709" y="3363163"/>
            <a:ext cx="2796064" cy="114386"/>
            <a:chOff x="0" y="0"/>
            <a:chExt cx="3728085" cy="152514"/>
          </a:xfrm>
        </p:grpSpPr>
        <p:sp>
          <p:nvSpPr>
            <p:cNvPr name="Freeform 24" id="24"/>
            <p:cNvSpPr/>
            <p:nvPr/>
          </p:nvSpPr>
          <p:spPr>
            <a:xfrm flipH="false" flipV="false" rot="0">
              <a:off x="0" y="0"/>
              <a:ext cx="3728085" cy="152527"/>
            </a:xfrm>
            <a:custGeom>
              <a:avLst/>
              <a:gdLst/>
              <a:ahLst/>
              <a:cxnLst/>
              <a:rect r="r" b="b" t="t" l="l"/>
              <a:pathLst>
                <a:path h="152527" w="3728085">
                  <a:moveTo>
                    <a:pt x="0" y="0"/>
                  </a:moveTo>
                  <a:lnTo>
                    <a:pt x="3728085" y="0"/>
                  </a:lnTo>
                  <a:lnTo>
                    <a:pt x="3728085" y="152527"/>
                  </a:lnTo>
                  <a:lnTo>
                    <a:pt x="0" y="152527"/>
                  </a:lnTo>
                  <a:close/>
                </a:path>
              </a:pathLst>
            </a:custGeom>
            <a:solidFill>
              <a:srgbClr val="0F766E"/>
            </a:solidFill>
          </p:spPr>
        </p:sp>
      </p:grpSp>
      <p:grpSp>
        <p:nvGrpSpPr>
          <p:cNvPr name="Group 25" id="25"/>
          <p:cNvGrpSpPr/>
          <p:nvPr/>
        </p:nvGrpSpPr>
        <p:grpSpPr>
          <a:xfrm rot="0">
            <a:off x="9036387" y="3286906"/>
            <a:ext cx="228771" cy="266910"/>
            <a:chOff x="0" y="0"/>
            <a:chExt cx="305029" cy="355879"/>
          </a:xfrm>
        </p:grpSpPr>
        <p:sp>
          <p:nvSpPr>
            <p:cNvPr name="Freeform 26" id="26"/>
            <p:cNvSpPr/>
            <p:nvPr/>
          </p:nvSpPr>
          <p:spPr>
            <a:xfrm flipH="false" flipV="false" rot="0">
              <a:off x="0" y="0"/>
              <a:ext cx="305054" cy="355854"/>
            </a:xfrm>
            <a:custGeom>
              <a:avLst/>
              <a:gdLst/>
              <a:ahLst/>
              <a:cxnLst/>
              <a:rect r="r" b="b" t="t" l="l"/>
              <a:pathLst>
                <a:path h="355854" w="305054">
                  <a:moveTo>
                    <a:pt x="0" y="0"/>
                  </a:moveTo>
                  <a:lnTo>
                    <a:pt x="305054" y="0"/>
                  </a:lnTo>
                  <a:lnTo>
                    <a:pt x="305054" y="355854"/>
                  </a:lnTo>
                  <a:lnTo>
                    <a:pt x="0" y="355854"/>
                  </a:lnTo>
                  <a:close/>
                </a:path>
              </a:pathLst>
            </a:custGeom>
            <a:solidFill>
              <a:srgbClr val="0F766E"/>
            </a:solidFill>
          </p:spPr>
        </p:sp>
      </p:grpSp>
      <p:grpSp>
        <p:nvGrpSpPr>
          <p:cNvPr name="Group 27" id="27"/>
          <p:cNvGrpSpPr/>
          <p:nvPr/>
        </p:nvGrpSpPr>
        <p:grpSpPr>
          <a:xfrm rot="0">
            <a:off x="7381056" y="3048600"/>
            <a:ext cx="743512" cy="743531"/>
            <a:chOff x="0" y="0"/>
            <a:chExt cx="991349" cy="991375"/>
          </a:xfrm>
        </p:grpSpPr>
        <p:sp>
          <p:nvSpPr>
            <p:cNvPr name="Freeform 28" id="28"/>
            <p:cNvSpPr/>
            <p:nvPr/>
          </p:nvSpPr>
          <p:spPr>
            <a:xfrm flipH="false" flipV="false" rot="0">
              <a:off x="0" y="0"/>
              <a:ext cx="991362" cy="991362"/>
            </a:xfrm>
            <a:custGeom>
              <a:avLst/>
              <a:gdLst/>
              <a:ahLst/>
              <a:cxnLst/>
              <a:rect r="r" b="b" t="t" l="l"/>
              <a:pathLst>
                <a:path h="991362" w="991362">
                  <a:moveTo>
                    <a:pt x="0" y="495681"/>
                  </a:moveTo>
                  <a:cubicBezTo>
                    <a:pt x="0" y="221869"/>
                    <a:pt x="221869" y="0"/>
                    <a:pt x="495681" y="0"/>
                  </a:cubicBezTo>
                  <a:cubicBezTo>
                    <a:pt x="769493" y="0"/>
                    <a:pt x="991362" y="221869"/>
                    <a:pt x="991362" y="495681"/>
                  </a:cubicBezTo>
                  <a:cubicBezTo>
                    <a:pt x="991362" y="769493"/>
                    <a:pt x="769366" y="991362"/>
                    <a:pt x="495681" y="991362"/>
                  </a:cubicBezTo>
                  <a:cubicBezTo>
                    <a:pt x="221996" y="991362"/>
                    <a:pt x="0" y="769493"/>
                    <a:pt x="0" y="495681"/>
                  </a:cubicBezTo>
                  <a:close/>
                </a:path>
              </a:pathLst>
            </a:custGeom>
            <a:solidFill>
              <a:srgbClr val="FFFFFF"/>
            </a:solidFill>
            <a:ln w="57193" cap="sq">
              <a:solidFill>
                <a:srgbClr val="0F766E"/>
              </a:solidFill>
              <a:prstDash val="solid"/>
              <a:miter/>
            </a:ln>
          </p:spPr>
        </p:sp>
      </p:grpSp>
      <p:sp>
        <p:nvSpPr>
          <p:cNvPr name="TextBox 29" id="29"/>
          <p:cNvSpPr txBox="true"/>
          <p:nvPr/>
        </p:nvSpPr>
        <p:spPr>
          <a:xfrm rot="0">
            <a:off x="7654509" y="3286858"/>
            <a:ext cx="1111548" cy="324145"/>
          </a:xfrm>
          <a:prstGeom prst="rect">
            <a:avLst/>
          </a:prstGeom>
        </p:spPr>
        <p:txBody>
          <a:bodyPr anchor="t" rtlCol="false" tIns="0" lIns="0" bIns="0" rIns="0">
            <a:spAutoFit/>
          </a:bodyPr>
          <a:lstStyle/>
          <a:p>
            <a:pPr algn="l">
              <a:lnSpc>
                <a:spcPts val="2990"/>
              </a:lnSpc>
            </a:pPr>
            <a:r>
              <a:rPr lang="en-US" sz="3002">
                <a:solidFill>
                  <a:srgbClr val="0B1F3A"/>
                </a:solidFill>
                <a:latin typeface="Fira Sans"/>
                <a:ea typeface="Fira Sans"/>
                <a:cs typeface="Fira Sans"/>
                <a:sym typeface="Fira Sans"/>
              </a:rPr>
              <a:t>3</a:t>
            </a:r>
          </a:p>
        </p:txBody>
      </p:sp>
      <p:sp>
        <p:nvSpPr>
          <p:cNvPr name="TextBox 30" id="30"/>
          <p:cNvSpPr txBox="true"/>
          <p:nvPr/>
        </p:nvSpPr>
        <p:spPr>
          <a:xfrm rot="0">
            <a:off x="6354709" y="3856025"/>
            <a:ext cx="2796216" cy="459315"/>
          </a:xfrm>
          <a:prstGeom prst="rect">
            <a:avLst/>
          </a:prstGeom>
        </p:spPr>
        <p:txBody>
          <a:bodyPr anchor="t" rtlCol="false" tIns="0" lIns="0" bIns="0" rIns="0">
            <a:spAutoFit/>
          </a:bodyPr>
          <a:lstStyle/>
          <a:p>
            <a:pPr algn="ctr">
              <a:lnSpc>
                <a:spcPts val="3307"/>
              </a:lnSpc>
            </a:pPr>
            <a:r>
              <a:rPr lang="en-US" sz="2551">
                <a:solidFill>
                  <a:srgbClr val="0B1F3A"/>
                </a:solidFill>
                <a:latin typeface="Fira Sans"/>
                <a:ea typeface="Fira Sans"/>
                <a:cs typeface="Fira Sans"/>
                <a:sym typeface="Fira Sans"/>
              </a:rPr>
              <a:t>Policy</a:t>
            </a:r>
          </a:p>
        </p:txBody>
      </p:sp>
      <p:sp>
        <p:nvSpPr>
          <p:cNvPr name="TextBox 31" id="31"/>
          <p:cNvSpPr txBox="true"/>
          <p:nvPr/>
        </p:nvSpPr>
        <p:spPr>
          <a:xfrm rot="0">
            <a:off x="6760569" y="4489818"/>
            <a:ext cx="1984486" cy="440093"/>
          </a:xfrm>
          <a:prstGeom prst="rect">
            <a:avLst/>
          </a:prstGeom>
        </p:spPr>
        <p:txBody>
          <a:bodyPr anchor="t" rtlCol="false" tIns="0" lIns="0" bIns="0" rIns="0">
            <a:spAutoFit/>
          </a:bodyPr>
          <a:lstStyle/>
          <a:p>
            <a:pPr algn="ctr">
              <a:lnSpc>
                <a:spcPts val="3082"/>
              </a:lnSpc>
            </a:pPr>
            <a:r>
              <a:rPr lang="en-US" sz="2176">
                <a:solidFill>
                  <a:srgbClr val="17324D"/>
                </a:solidFill>
                <a:latin typeface="Fira Sans"/>
                <a:ea typeface="Fira Sans"/>
                <a:cs typeface="Fira Sans"/>
                <a:sym typeface="Fira Sans"/>
              </a:rPr>
              <a:t>Decision</a:t>
            </a:r>
          </a:p>
        </p:txBody>
      </p:sp>
      <p:grpSp>
        <p:nvGrpSpPr>
          <p:cNvPr name="Group 32" id="32"/>
          <p:cNvGrpSpPr/>
          <p:nvPr/>
        </p:nvGrpSpPr>
        <p:grpSpPr>
          <a:xfrm rot="0">
            <a:off x="9150925" y="3363163"/>
            <a:ext cx="2795921" cy="114386"/>
            <a:chOff x="0" y="0"/>
            <a:chExt cx="3727895" cy="152514"/>
          </a:xfrm>
        </p:grpSpPr>
        <p:sp>
          <p:nvSpPr>
            <p:cNvPr name="Freeform 33" id="33"/>
            <p:cNvSpPr/>
            <p:nvPr/>
          </p:nvSpPr>
          <p:spPr>
            <a:xfrm flipH="false" flipV="false" rot="0">
              <a:off x="0" y="0"/>
              <a:ext cx="3727831" cy="152527"/>
            </a:xfrm>
            <a:custGeom>
              <a:avLst/>
              <a:gdLst/>
              <a:ahLst/>
              <a:cxnLst/>
              <a:rect r="r" b="b" t="t" l="l"/>
              <a:pathLst>
                <a:path h="152527" w="3727831">
                  <a:moveTo>
                    <a:pt x="0" y="0"/>
                  </a:moveTo>
                  <a:lnTo>
                    <a:pt x="3727831" y="0"/>
                  </a:lnTo>
                  <a:lnTo>
                    <a:pt x="3727831" y="152527"/>
                  </a:lnTo>
                  <a:lnTo>
                    <a:pt x="0" y="152527"/>
                  </a:lnTo>
                  <a:close/>
                </a:path>
              </a:pathLst>
            </a:custGeom>
            <a:solidFill>
              <a:srgbClr val="0F766E"/>
            </a:solidFill>
          </p:spPr>
        </p:sp>
      </p:grpSp>
      <p:grpSp>
        <p:nvGrpSpPr>
          <p:cNvPr name="Group 34" id="34"/>
          <p:cNvGrpSpPr/>
          <p:nvPr/>
        </p:nvGrpSpPr>
        <p:grpSpPr>
          <a:xfrm rot="0">
            <a:off x="11832450" y="3286906"/>
            <a:ext cx="228771" cy="266910"/>
            <a:chOff x="0" y="0"/>
            <a:chExt cx="305029" cy="355879"/>
          </a:xfrm>
        </p:grpSpPr>
        <p:sp>
          <p:nvSpPr>
            <p:cNvPr name="Freeform 35" id="35"/>
            <p:cNvSpPr/>
            <p:nvPr/>
          </p:nvSpPr>
          <p:spPr>
            <a:xfrm flipH="false" flipV="false" rot="0">
              <a:off x="0" y="0"/>
              <a:ext cx="305054" cy="355854"/>
            </a:xfrm>
            <a:custGeom>
              <a:avLst/>
              <a:gdLst/>
              <a:ahLst/>
              <a:cxnLst/>
              <a:rect r="r" b="b" t="t" l="l"/>
              <a:pathLst>
                <a:path h="355854" w="305054">
                  <a:moveTo>
                    <a:pt x="0" y="0"/>
                  </a:moveTo>
                  <a:lnTo>
                    <a:pt x="305054" y="0"/>
                  </a:lnTo>
                  <a:lnTo>
                    <a:pt x="305054" y="355854"/>
                  </a:lnTo>
                  <a:lnTo>
                    <a:pt x="0" y="355854"/>
                  </a:lnTo>
                  <a:close/>
                </a:path>
              </a:pathLst>
            </a:custGeom>
            <a:solidFill>
              <a:srgbClr val="0F766E"/>
            </a:solidFill>
          </p:spPr>
        </p:sp>
      </p:grpSp>
      <p:grpSp>
        <p:nvGrpSpPr>
          <p:cNvPr name="Group 36" id="36"/>
          <p:cNvGrpSpPr/>
          <p:nvPr/>
        </p:nvGrpSpPr>
        <p:grpSpPr>
          <a:xfrm rot="0">
            <a:off x="10177120" y="3048600"/>
            <a:ext cx="743512" cy="743531"/>
            <a:chOff x="0" y="0"/>
            <a:chExt cx="991349" cy="991375"/>
          </a:xfrm>
        </p:grpSpPr>
        <p:sp>
          <p:nvSpPr>
            <p:cNvPr name="Freeform 37" id="37"/>
            <p:cNvSpPr/>
            <p:nvPr/>
          </p:nvSpPr>
          <p:spPr>
            <a:xfrm flipH="false" flipV="false" rot="0">
              <a:off x="0" y="0"/>
              <a:ext cx="991362" cy="991362"/>
            </a:xfrm>
            <a:custGeom>
              <a:avLst/>
              <a:gdLst/>
              <a:ahLst/>
              <a:cxnLst/>
              <a:rect r="r" b="b" t="t" l="l"/>
              <a:pathLst>
                <a:path h="991362" w="991362">
                  <a:moveTo>
                    <a:pt x="0" y="495681"/>
                  </a:moveTo>
                  <a:cubicBezTo>
                    <a:pt x="0" y="221869"/>
                    <a:pt x="221869" y="0"/>
                    <a:pt x="495681" y="0"/>
                  </a:cubicBezTo>
                  <a:cubicBezTo>
                    <a:pt x="769493" y="0"/>
                    <a:pt x="991362" y="221869"/>
                    <a:pt x="991362" y="495681"/>
                  </a:cubicBezTo>
                  <a:cubicBezTo>
                    <a:pt x="991362" y="769493"/>
                    <a:pt x="769366" y="991362"/>
                    <a:pt x="495681" y="991362"/>
                  </a:cubicBezTo>
                  <a:cubicBezTo>
                    <a:pt x="221996" y="991362"/>
                    <a:pt x="0" y="769493"/>
                    <a:pt x="0" y="495681"/>
                  </a:cubicBezTo>
                  <a:close/>
                </a:path>
              </a:pathLst>
            </a:custGeom>
            <a:solidFill>
              <a:srgbClr val="FFFFFF"/>
            </a:solidFill>
            <a:ln w="57193" cap="sq">
              <a:solidFill>
                <a:srgbClr val="0F766E"/>
              </a:solidFill>
              <a:prstDash val="solid"/>
              <a:miter/>
            </a:ln>
          </p:spPr>
        </p:sp>
      </p:grpSp>
      <p:sp>
        <p:nvSpPr>
          <p:cNvPr name="TextBox 38" id="38"/>
          <p:cNvSpPr txBox="true"/>
          <p:nvPr/>
        </p:nvSpPr>
        <p:spPr>
          <a:xfrm rot="0">
            <a:off x="10442686" y="3286858"/>
            <a:ext cx="1127484" cy="324145"/>
          </a:xfrm>
          <a:prstGeom prst="rect">
            <a:avLst/>
          </a:prstGeom>
        </p:spPr>
        <p:txBody>
          <a:bodyPr anchor="t" rtlCol="false" tIns="0" lIns="0" bIns="0" rIns="0">
            <a:spAutoFit/>
          </a:bodyPr>
          <a:lstStyle/>
          <a:p>
            <a:pPr algn="l">
              <a:lnSpc>
                <a:spcPts val="2990"/>
              </a:lnSpc>
            </a:pPr>
            <a:r>
              <a:rPr lang="en-US" sz="3002">
                <a:solidFill>
                  <a:srgbClr val="0B1F3A"/>
                </a:solidFill>
                <a:latin typeface="Fira Sans"/>
                <a:ea typeface="Fira Sans"/>
                <a:cs typeface="Fira Sans"/>
                <a:sym typeface="Fira Sans"/>
              </a:rPr>
              <a:t>4</a:t>
            </a:r>
          </a:p>
        </p:txBody>
      </p:sp>
      <p:sp>
        <p:nvSpPr>
          <p:cNvPr name="TextBox 39" id="39"/>
          <p:cNvSpPr txBox="true"/>
          <p:nvPr/>
        </p:nvSpPr>
        <p:spPr>
          <a:xfrm rot="0">
            <a:off x="9150848" y="3856025"/>
            <a:ext cx="2796064" cy="459315"/>
          </a:xfrm>
          <a:prstGeom prst="rect">
            <a:avLst/>
          </a:prstGeom>
        </p:spPr>
        <p:txBody>
          <a:bodyPr anchor="t" rtlCol="false" tIns="0" lIns="0" bIns="0" rIns="0">
            <a:spAutoFit/>
          </a:bodyPr>
          <a:lstStyle/>
          <a:p>
            <a:pPr algn="ctr">
              <a:lnSpc>
                <a:spcPts val="3307"/>
              </a:lnSpc>
            </a:pPr>
            <a:r>
              <a:rPr lang="en-US" sz="2551">
                <a:solidFill>
                  <a:srgbClr val="0B1F3A"/>
                </a:solidFill>
                <a:latin typeface="Fira Sans"/>
                <a:ea typeface="Fira Sans"/>
                <a:cs typeface="Fira Sans"/>
                <a:sym typeface="Fira Sans"/>
              </a:rPr>
              <a:t>Gemini API</a:t>
            </a:r>
          </a:p>
        </p:txBody>
      </p:sp>
      <p:sp>
        <p:nvSpPr>
          <p:cNvPr name="TextBox 40" id="40"/>
          <p:cNvSpPr txBox="true"/>
          <p:nvPr/>
        </p:nvSpPr>
        <p:spPr>
          <a:xfrm rot="0">
            <a:off x="9343654" y="4489818"/>
            <a:ext cx="2410454" cy="440093"/>
          </a:xfrm>
          <a:prstGeom prst="rect">
            <a:avLst/>
          </a:prstGeom>
        </p:spPr>
        <p:txBody>
          <a:bodyPr anchor="t" rtlCol="false" tIns="0" lIns="0" bIns="0" rIns="0">
            <a:spAutoFit/>
          </a:bodyPr>
          <a:lstStyle/>
          <a:p>
            <a:pPr algn="ctr">
              <a:lnSpc>
                <a:spcPts val="3082"/>
              </a:lnSpc>
            </a:pPr>
            <a:r>
              <a:rPr lang="en-US" sz="2176">
                <a:solidFill>
                  <a:srgbClr val="17324D"/>
                </a:solidFill>
                <a:latin typeface="Fira Sans"/>
                <a:ea typeface="Fira Sans"/>
                <a:cs typeface="Fira Sans"/>
                <a:sym typeface="Fira Sans"/>
              </a:rPr>
              <a:t>If permitted</a:t>
            </a:r>
          </a:p>
        </p:txBody>
      </p:sp>
      <p:grpSp>
        <p:nvGrpSpPr>
          <p:cNvPr name="Group 41" id="41"/>
          <p:cNvGrpSpPr/>
          <p:nvPr/>
        </p:nvGrpSpPr>
        <p:grpSpPr>
          <a:xfrm rot="0">
            <a:off x="11946988" y="3363163"/>
            <a:ext cx="2795921" cy="114386"/>
            <a:chOff x="0" y="0"/>
            <a:chExt cx="3727895" cy="152514"/>
          </a:xfrm>
        </p:grpSpPr>
        <p:sp>
          <p:nvSpPr>
            <p:cNvPr name="Freeform 42" id="42"/>
            <p:cNvSpPr/>
            <p:nvPr/>
          </p:nvSpPr>
          <p:spPr>
            <a:xfrm flipH="false" flipV="false" rot="0">
              <a:off x="0" y="0"/>
              <a:ext cx="3727831" cy="152527"/>
            </a:xfrm>
            <a:custGeom>
              <a:avLst/>
              <a:gdLst/>
              <a:ahLst/>
              <a:cxnLst/>
              <a:rect r="r" b="b" t="t" l="l"/>
              <a:pathLst>
                <a:path h="152527" w="3727831">
                  <a:moveTo>
                    <a:pt x="0" y="0"/>
                  </a:moveTo>
                  <a:lnTo>
                    <a:pt x="3727831" y="0"/>
                  </a:lnTo>
                  <a:lnTo>
                    <a:pt x="3727831" y="152527"/>
                  </a:lnTo>
                  <a:lnTo>
                    <a:pt x="0" y="152527"/>
                  </a:lnTo>
                  <a:close/>
                </a:path>
              </a:pathLst>
            </a:custGeom>
            <a:solidFill>
              <a:srgbClr val="0F766E"/>
            </a:solidFill>
          </p:spPr>
        </p:sp>
      </p:grpSp>
      <p:grpSp>
        <p:nvGrpSpPr>
          <p:cNvPr name="Group 43" id="43"/>
          <p:cNvGrpSpPr/>
          <p:nvPr/>
        </p:nvGrpSpPr>
        <p:grpSpPr>
          <a:xfrm rot="0">
            <a:off x="14628514" y="3286906"/>
            <a:ext cx="228771" cy="266910"/>
            <a:chOff x="0" y="0"/>
            <a:chExt cx="305029" cy="355879"/>
          </a:xfrm>
        </p:grpSpPr>
        <p:sp>
          <p:nvSpPr>
            <p:cNvPr name="Freeform 44" id="44"/>
            <p:cNvSpPr/>
            <p:nvPr/>
          </p:nvSpPr>
          <p:spPr>
            <a:xfrm flipH="false" flipV="false" rot="0">
              <a:off x="0" y="0"/>
              <a:ext cx="305054" cy="355854"/>
            </a:xfrm>
            <a:custGeom>
              <a:avLst/>
              <a:gdLst/>
              <a:ahLst/>
              <a:cxnLst/>
              <a:rect r="r" b="b" t="t" l="l"/>
              <a:pathLst>
                <a:path h="355854" w="305054">
                  <a:moveTo>
                    <a:pt x="0" y="0"/>
                  </a:moveTo>
                  <a:lnTo>
                    <a:pt x="305054" y="0"/>
                  </a:lnTo>
                  <a:lnTo>
                    <a:pt x="305054" y="355854"/>
                  </a:lnTo>
                  <a:lnTo>
                    <a:pt x="0" y="355854"/>
                  </a:lnTo>
                  <a:close/>
                </a:path>
              </a:pathLst>
            </a:custGeom>
            <a:solidFill>
              <a:srgbClr val="0F766E"/>
            </a:solidFill>
          </p:spPr>
        </p:sp>
      </p:grpSp>
      <p:grpSp>
        <p:nvGrpSpPr>
          <p:cNvPr name="Group 45" id="45"/>
          <p:cNvGrpSpPr/>
          <p:nvPr/>
        </p:nvGrpSpPr>
        <p:grpSpPr>
          <a:xfrm rot="0">
            <a:off x="12973183" y="3048600"/>
            <a:ext cx="743512" cy="743531"/>
            <a:chOff x="0" y="0"/>
            <a:chExt cx="991349" cy="991375"/>
          </a:xfrm>
        </p:grpSpPr>
        <p:sp>
          <p:nvSpPr>
            <p:cNvPr name="Freeform 46" id="46"/>
            <p:cNvSpPr/>
            <p:nvPr/>
          </p:nvSpPr>
          <p:spPr>
            <a:xfrm flipH="false" flipV="false" rot="0">
              <a:off x="0" y="0"/>
              <a:ext cx="991362" cy="991362"/>
            </a:xfrm>
            <a:custGeom>
              <a:avLst/>
              <a:gdLst/>
              <a:ahLst/>
              <a:cxnLst/>
              <a:rect r="r" b="b" t="t" l="l"/>
              <a:pathLst>
                <a:path h="991362" w="991362">
                  <a:moveTo>
                    <a:pt x="0" y="495681"/>
                  </a:moveTo>
                  <a:cubicBezTo>
                    <a:pt x="0" y="221869"/>
                    <a:pt x="221869" y="0"/>
                    <a:pt x="495681" y="0"/>
                  </a:cubicBezTo>
                  <a:cubicBezTo>
                    <a:pt x="769493" y="0"/>
                    <a:pt x="991362" y="221869"/>
                    <a:pt x="991362" y="495681"/>
                  </a:cubicBezTo>
                  <a:cubicBezTo>
                    <a:pt x="991362" y="769493"/>
                    <a:pt x="769366" y="991362"/>
                    <a:pt x="495681" y="991362"/>
                  </a:cubicBezTo>
                  <a:cubicBezTo>
                    <a:pt x="221996" y="991362"/>
                    <a:pt x="0" y="769493"/>
                    <a:pt x="0" y="495681"/>
                  </a:cubicBezTo>
                  <a:close/>
                </a:path>
              </a:pathLst>
            </a:custGeom>
            <a:solidFill>
              <a:srgbClr val="FFFFFF"/>
            </a:solidFill>
            <a:ln w="57193" cap="sq">
              <a:solidFill>
                <a:srgbClr val="0F766E"/>
              </a:solidFill>
              <a:prstDash val="solid"/>
              <a:miter/>
            </a:ln>
          </p:spPr>
        </p:sp>
      </p:grpSp>
      <p:sp>
        <p:nvSpPr>
          <p:cNvPr name="TextBox 47" id="47"/>
          <p:cNvSpPr txBox="true"/>
          <p:nvPr/>
        </p:nvSpPr>
        <p:spPr>
          <a:xfrm rot="0">
            <a:off x="13244408" y="3286858"/>
            <a:ext cx="1116159" cy="324145"/>
          </a:xfrm>
          <a:prstGeom prst="rect">
            <a:avLst/>
          </a:prstGeom>
        </p:spPr>
        <p:txBody>
          <a:bodyPr anchor="t" rtlCol="false" tIns="0" lIns="0" bIns="0" rIns="0">
            <a:spAutoFit/>
          </a:bodyPr>
          <a:lstStyle/>
          <a:p>
            <a:pPr algn="l">
              <a:lnSpc>
                <a:spcPts val="2990"/>
              </a:lnSpc>
            </a:pPr>
            <a:r>
              <a:rPr lang="en-US" sz="3002">
                <a:solidFill>
                  <a:srgbClr val="0B1F3A"/>
                </a:solidFill>
                <a:latin typeface="Fira Sans"/>
                <a:ea typeface="Fira Sans"/>
                <a:cs typeface="Fira Sans"/>
                <a:sym typeface="Fira Sans"/>
              </a:rPr>
              <a:t>5</a:t>
            </a:r>
          </a:p>
        </p:txBody>
      </p:sp>
      <p:sp>
        <p:nvSpPr>
          <p:cNvPr name="TextBox 48" id="48"/>
          <p:cNvSpPr txBox="true"/>
          <p:nvPr/>
        </p:nvSpPr>
        <p:spPr>
          <a:xfrm rot="0">
            <a:off x="11946988" y="3856025"/>
            <a:ext cx="2796064" cy="459315"/>
          </a:xfrm>
          <a:prstGeom prst="rect">
            <a:avLst/>
          </a:prstGeom>
        </p:spPr>
        <p:txBody>
          <a:bodyPr anchor="t" rtlCol="false" tIns="0" lIns="0" bIns="0" rIns="0">
            <a:spAutoFit/>
          </a:bodyPr>
          <a:lstStyle/>
          <a:p>
            <a:pPr algn="ctr">
              <a:lnSpc>
                <a:spcPts val="3307"/>
              </a:lnSpc>
            </a:pPr>
            <a:r>
              <a:rPr lang="en-US" sz="2551">
                <a:solidFill>
                  <a:srgbClr val="0B1F3A"/>
                </a:solidFill>
                <a:latin typeface="Fira Sans"/>
                <a:ea typeface="Fira Sans"/>
                <a:cs typeface="Fira Sans"/>
                <a:sym typeface="Fira Sans"/>
              </a:rPr>
              <a:t>Output</a:t>
            </a:r>
          </a:p>
        </p:txBody>
      </p:sp>
      <p:sp>
        <p:nvSpPr>
          <p:cNvPr name="TextBox 49" id="49"/>
          <p:cNvSpPr txBox="true"/>
          <p:nvPr/>
        </p:nvSpPr>
        <p:spPr>
          <a:xfrm rot="0">
            <a:off x="11946988" y="4489818"/>
            <a:ext cx="2796064" cy="440093"/>
          </a:xfrm>
          <a:prstGeom prst="rect">
            <a:avLst/>
          </a:prstGeom>
        </p:spPr>
        <p:txBody>
          <a:bodyPr anchor="t" rtlCol="false" tIns="0" lIns="0" bIns="0" rIns="0">
            <a:spAutoFit/>
          </a:bodyPr>
          <a:lstStyle/>
          <a:p>
            <a:pPr algn="ctr">
              <a:lnSpc>
                <a:spcPts val="3082"/>
              </a:lnSpc>
            </a:pPr>
            <a:r>
              <a:rPr lang="en-US" sz="2176">
                <a:solidFill>
                  <a:srgbClr val="17324D"/>
                </a:solidFill>
                <a:latin typeface="Fira Sans"/>
                <a:ea typeface="Fira Sans"/>
                <a:cs typeface="Fira Sans"/>
                <a:sym typeface="Fira Sans"/>
              </a:rPr>
              <a:t>Response check</a:t>
            </a:r>
          </a:p>
        </p:txBody>
      </p:sp>
      <p:grpSp>
        <p:nvGrpSpPr>
          <p:cNvPr name="Group 50" id="50"/>
          <p:cNvGrpSpPr/>
          <p:nvPr/>
        </p:nvGrpSpPr>
        <p:grpSpPr>
          <a:xfrm rot="0">
            <a:off x="14743052" y="3363163"/>
            <a:ext cx="1397956" cy="114386"/>
            <a:chOff x="0" y="0"/>
            <a:chExt cx="1863941" cy="152514"/>
          </a:xfrm>
        </p:grpSpPr>
        <p:sp>
          <p:nvSpPr>
            <p:cNvPr name="Freeform 51" id="51"/>
            <p:cNvSpPr/>
            <p:nvPr/>
          </p:nvSpPr>
          <p:spPr>
            <a:xfrm flipH="false" flipV="false" rot="0">
              <a:off x="0" y="0"/>
              <a:ext cx="1863979" cy="152527"/>
            </a:xfrm>
            <a:custGeom>
              <a:avLst/>
              <a:gdLst/>
              <a:ahLst/>
              <a:cxnLst/>
              <a:rect r="r" b="b" t="t" l="l"/>
              <a:pathLst>
                <a:path h="152527" w="1863979">
                  <a:moveTo>
                    <a:pt x="0" y="0"/>
                  </a:moveTo>
                  <a:lnTo>
                    <a:pt x="1863979" y="0"/>
                  </a:lnTo>
                  <a:lnTo>
                    <a:pt x="1863979" y="152527"/>
                  </a:lnTo>
                  <a:lnTo>
                    <a:pt x="0" y="152527"/>
                  </a:lnTo>
                  <a:close/>
                </a:path>
              </a:pathLst>
            </a:custGeom>
            <a:solidFill>
              <a:srgbClr val="2563A6"/>
            </a:solidFill>
          </p:spPr>
        </p:sp>
      </p:grpSp>
      <p:grpSp>
        <p:nvGrpSpPr>
          <p:cNvPr name="Group 52" id="52"/>
          <p:cNvGrpSpPr/>
          <p:nvPr/>
        </p:nvGrpSpPr>
        <p:grpSpPr>
          <a:xfrm rot="0">
            <a:off x="15769400" y="3048600"/>
            <a:ext cx="743512" cy="743531"/>
            <a:chOff x="0" y="0"/>
            <a:chExt cx="991349" cy="991375"/>
          </a:xfrm>
        </p:grpSpPr>
        <p:sp>
          <p:nvSpPr>
            <p:cNvPr name="Freeform 53" id="53"/>
            <p:cNvSpPr/>
            <p:nvPr/>
          </p:nvSpPr>
          <p:spPr>
            <a:xfrm flipH="false" flipV="false" rot="0">
              <a:off x="0" y="0"/>
              <a:ext cx="991362" cy="991362"/>
            </a:xfrm>
            <a:custGeom>
              <a:avLst/>
              <a:gdLst/>
              <a:ahLst/>
              <a:cxnLst/>
              <a:rect r="r" b="b" t="t" l="l"/>
              <a:pathLst>
                <a:path h="991362" w="991362">
                  <a:moveTo>
                    <a:pt x="0" y="495681"/>
                  </a:moveTo>
                  <a:cubicBezTo>
                    <a:pt x="0" y="221869"/>
                    <a:pt x="221869" y="0"/>
                    <a:pt x="495681" y="0"/>
                  </a:cubicBezTo>
                  <a:cubicBezTo>
                    <a:pt x="769493" y="0"/>
                    <a:pt x="991362" y="221869"/>
                    <a:pt x="991362" y="495681"/>
                  </a:cubicBezTo>
                  <a:cubicBezTo>
                    <a:pt x="991362" y="769493"/>
                    <a:pt x="769366" y="991362"/>
                    <a:pt x="495681" y="991362"/>
                  </a:cubicBezTo>
                  <a:cubicBezTo>
                    <a:pt x="221996" y="991362"/>
                    <a:pt x="0" y="769493"/>
                    <a:pt x="0" y="495681"/>
                  </a:cubicBezTo>
                  <a:close/>
                </a:path>
              </a:pathLst>
            </a:custGeom>
            <a:solidFill>
              <a:srgbClr val="FFFFFF"/>
            </a:solidFill>
            <a:ln w="57193" cap="sq">
              <a:solidFill>
                <a:srgbClr val="2563A6"/>
              </a:solidFill>
              <a:prstDash val="solid"/>
              <a:miter/>
            </a:ln>
          </p:spPr>
        </p:sp>
      </p:grpSp>
      <p:sp>
        <p:nvSpPr>
          <p:cNvPr name="TextBox 54" id="54"/>
          <p:cNvSpPr txBox="true"/>
          <p:nvPr/>
        </p:nvSpPr>
        <p:spPr>
          <a:xfrm rot="0">
            <a:off x="16035109" y="3286858"/>
            <a:ext cx="1127188" cy="324145"/>
          </a:xfrm>
          <a:prstGeom prst="rect">
            <a:avLst/>
          </a:prstGeom>
        </p:spPr>
        <p:txBody>
          <a:bodyPr anchor="t" rtlCol="false" tIns="0" lIns="0" bIns="0" rIns="0">
            <a:spAutoFit/>
          </a:bodyPr>
          <a:lstStyle/>
          <a:p>
            <a:pPr algn="l">
              <a:lnSpc>
                <a:spcPts val="2990"/>
              </a:lnSpc>
            </a:pPr>
            <a:r>
              <a:rPr lang="en-US" sz="3002">
                <a:solidFill>
                  <a:srgbClr val="0B1F3A"/>
                </a:solidFill>
                <a:latin typeface="Fira Sans"/>
                <a:ea typeface="Fira Sans"/>
                <a:cs typeface="Fira Sans"/>
                <a:sym typeface="Fira Sans"/>
              </a:rPr>
              <a:t>6</a:t>
            </a:r>
          </a:p>
        </p:txBody>
      </p:sp>
      <p:sp>
        <p:nvSpPr>
          <p:cNvPr name="TextBox 55" id="55"/>
          <p:cNvSpPr txBox="true"/>
          <p:nvPr/>
        </p:nvSpPr>
        <p:spPr>
          <a:xfrm rot="0">
            <a:off x="14743052" y="3856025"/>
            <a:ext cx="2796216" cy="459315"/>
          </a:xfrm>
          <a:prstGeom prst="rect">
            <a:avLst/>
          </a:prstGeom>
        </p:spPr>
        <p:txBody>
          <a:bodyPr anchor="t" rtlCol="false" tIns="0" lIns="0" bIns="0" rIns="0">
            <a:spAutoFit/>
          </a:bodyPr>
          <a:lstStyle/>
          <a:p>
            <a:pPr algn="ctr">
              <a:lnSpc>
                <a:spcPts val="3307"/>
              </a:lnSpc>
            </a:pPr>
            <a:r>
              <a:rPr lang="en-US" sz="2551">
                <a:solidFill>
                  <a:srgbClr val="0B1F3A"/>
                </a:solidFill>
                <a:latin typeface="Fira Sans"/>
                <a:ea typeface="Fira Sans"/>
                <a:cs typeface="Fira Sans"/>
                <a:sym typeface="Fira Sans"/>
              </a:rPr>
              <a:t>Result</a:t>
            </a:r>
          </a:p>
        </p:txBody>
      </p:sp>
      <p:sp>
        <p:nvSpPr>
          <p:cNvPr name="TextBox 56" id="56"/>
          <p:cNvSpPr txBox="true"/>
          <p:nvPr/>
        </p:nvSpPr>
        <p:spPr>
          <a:xfrm rot="0">
            <a:off x="14743052" y="4489818"/>
            <a:ext cx="2796216" cy="440093"/>
          </a:xfrm>
          <a:prstGeom prst="rect">
            <a:avLst/>
          </a:prstGeom>
        </p:spPr>
        <p:txBody>
          <a:bodyPr anchor="t" rtlCol="false" tIns="0" lIns="0" bIns="0" rIns="0">
            <a:spAutoFit/>
          </a:bodyPr>
          <a:lstStyle/>
          <a:p>
            <a:pPr algn="ctr">
              <a:lnSpc>
                <a:spcPts val="3082"/>
              </a:lnSpc>
            </a:pPr>
            <a:r>
              <a:rPr lang="en-US" sz="2176">
                <a:solidFill>
                  <a:srgbClr val="17324D"/>
                </a:solidFill>
                <a:latin typeface="Fira Sans"/>
                <a:ea typeface="Fira Sans"/>
                <a:cs typeface="Fira Sans"/>
                <a:sym typeface="Fira Sans"/>
              </a:rPr>
              <a:t>Return / withhold</a:t>
            </a:r>
          </a:p>
        </p:txBody>
      </p:sp>
      <p:grpSp>
        <p:nvGrpSpPr>
          <p:cNvPr name="Group 57" id="57"/>
          <p:cNvGrpSpPr/>
          <p:nvPr/>
        </p:nvGrpSpPr>
        <p:grpSpPr>
          <a:xfrm rot="0">
            <a:off x="762581" y="5211118"/>
            <a:ext cx="5287099" cy="1350931"/>
            <a:chOff x="0" y="0"/>
            <a:chExt cx="7049465" cy="1801241"/>
          </a:xfrm>
        </p:grpSpPr>
        <p:sp>
          <p:nvSpPr>
            <p:cNvPr name="Freeform 58" id="58"/>
            <p:cNvSpPr/>
            <p:nvPr/>
          </p:nvSpPr>
          <p:spPr>
            <a:xfrm flipH="false" flipV="false" rot="0">
              <a:off x="0" y="0"/>
              <a:ext cx="7049516" cy="1801241"/>
            </a:xfrm>
            <a:custGeom>
              <a:avLst/>
              <a:gdLst/>
              <a:ahLst/>
              <a:cxnLst/>
              <a:rect r="r" b="b" t="t" l="l"/>
              <a:pathLst>
                <a:path h="1801241" w="7049516">
                  <a:moveTo>
                    <a:pt x="0" y="0"/>
                  </a:moveTo>
                  <a:lnTo>
                    <a:pt x="7049516" y="0"/>
                  </a:lnTo>
                  <a:lnTo>
                    <a:pt x="7049516" y="1801241"/>
                  </a:lnTo>
                  <a:lnTo>
                    <a:pt x="0" y="1801241"/>
                  </a:lnTo>
                  <a:close/>
                </a:path>
              </a:pathLst>
            </a:custGeom>
            <a:solidFill>
              <a:srgbClr val="EAF4F6"/>
            </a:solidFill>
          </p:spPr>
        </p:sp>
      </p:grpSp>
      <p:sp>
        <p:nvSpPr>
          <p:cNvPr name="TextBox 59" id="59"/>
          <p:cNvSpPr txBox="true"/>
          <p:nvPr/>
        </p:nvSpPr>
        <p:spPr>
          <a:xfrm rot="0">
            <a:off x="1067610" y="5382749"/>
            <a:ext cx="4677042" cy="950519"/>
          </a:xfrm>
          <a:prstGeom prst="rect">
            <a:avLst/>
          </a:prstGeom>
        </p:spPr>
        <p:txBody>
          <a:bodyPr anchor="t" rtlCol="false" tIns="0" lIns="0" bIns="0" rIns="0">
            <a:spAutoFit/>
          </a:bodyPr>
          <a:lstStyle/>
          <a:p>
            <a:pPr algn="l">
              <a:lnSpc>
                <a:spcPts val="3507"/>
              </a:lnSpc>
            </a:pPr>
            <a:r>
              <a:rPr lang="en-US" sz="2476" b="true">
                <a:solidFill>
                  <a:srgbClr val="17324D"/>
                </a:solidFill>
                <a:latin typeface="Fira Sans Bold"/>
                <a:ea typeface="Fira Sans Bold"/>
                <a:cs typeface="Fira Sans Bold"/>
                <a:sym typeface="Fira Sans Bold"/>
              </a:rPr>
              <a:t>ALLOW</a:t>
            </a:r>
          </a:p>
          <a:p>
            <a:pPr algn="l">
              <a:lnSpc>
                <a:spcPts val="3507"/>
              </a:lnSpc>
            </a:pPr>
            <a:r>
              <a:rPr lang="en-US" sz="2476">
                <a:solidFill>
                  <a:srgbClr val="0F766E"/>
                </a:solidFill>
                <a:latin typeface="Fira Sans"/>
                <a:ea typeface="Fira Sans"/>
                <a:cs typeface="Fira Sans"/>
                <a:sym typeface="Fira Sans"/>
              </a:rPr>
              <a:t>Proceed to Gemini.</a:t>
            </a:r>
          </a:p>
        </p:txBody>
      </p:sp>
      <p:grpSp>
        <p:nvGrpSpPr>
          <p:cNvPr name="Group 60" id="60"/>
          <p:cNvGrpSpPr/>
          <p:nvPr/>
        </p:nvGrpSpPr>
        <p:grpSpPr>
          <a:xfrm rot="0">
            <a:off x="6507223" y="5211118"/>
            <a:ext cx="5287251" cy="1350931"/>
            <a:chOff x="0" y="0"/>
            <a:chExt cx="7049668" cy="1801241"/>
          </a:xfrm>
        </p:grpSpPr>
        <p:sp>
          <p:nvSpPr>
            <p:cNvPr name="Freeform 61" id="61"/>
            <p:cNvSpPr/>
            <p:nvPr/>
          </p:nvSpPr>
          <p:spPr>
            <a:xfrm flipH="false" flipV="false" rot="0">
              <a:off x="0" y="0"/>
              <a:ext cx="7049643" cy="1801241"/>
            </a:xfrm>
            <a:custGeom>
              <a:avLst/>
              <a:gdLst/>
              <a:ahLst/>
              <a:cxnLst/>
              <a:rect r="r" b="b" t="t" l="l"/>
              <a:pathLst>
                <a:path h="1801241" w="7049643">
                  <a:moveTo>
                    <a:pt x="0" y="0"/>
                  </a:moveTo>
                  <a:lnTo>
                    <a:pt x="7049643" y="0"/>
                  </a:lnTo>
                  <a:lnTo>
                    <a:pt x="7049643" y="1801241"/>
                  </a:lnTo>
                  <a:lnTo>
                    <a:pt x="0" y="1801241"/>
                  </a:lnTo>
                  <a:close/>
                </a:path>
              </a:pathLst>
            </a:custGeom>
            <a:solidFill>
              <a:srgbClr val="EAF4F6"/>
            </a:solidFill>
          </p:spPr>
        </p:sp>
      </p:grpSp>
      <p:sp>
        <p:nvSpPr>
          <p:cNvPr name="TextBox 62" id="62"/>
          <p:cNvSpPr txBox="true"/>
          <p:nvPr/>
        </p:nvSpPr>
        <p:spPr>
          <a:xfrm rot="0">
            <a:off x="6812251" y="5382749"/>
            <a:ext cx="4677185" cy="950519"/>
          </a:xfrm>
          <a:prstGeom prst="rect">
            <a:avLst/>
          </a:prstGeom>
        </p:spPr>
        <p:txBody>
          <a:bodyPr anchor="t" rtlCol="false" tIns="0" lIns="0" bIns="0" rIns="0">
            <a:spAutoFit/>
          </a:bodyPr>
          <a:lstStyle/>
          <a:p>
            <a:pPr algn="l">
              <a:lnSpc>
                <a:spcPts val="3507"/>
              </a:lnSpc>
            </a:pPr>
            <a:r>
              <a:rPr lang="en-US" sz="2476" b="true">
                <a:solidFill>
                  <a:srgbClr val="17324D"/>
                </a:solidFill>
                <a:latin typeface="Fira Sans Bold"/>
                <a:ea typeface="Fira Sans Bold"/>
                <a:cs typeface="Fira Sans Bold"/>
                <a:sym typeface="Fira Sans Bold"/>
              </a:rPr>
              <a:t>SANITIZE</a:t>
            </a:r>
          </a:p>
          <a:p>
            <a:pPr algn="l">
              <a:lnSpc>
                <a:spcPts val="3507"/>
              </a:lnSpc>
            </a:pPr>
            <a:r>
              <a:rPr lang="en-US" sz="2476">
                <a:solidFill>
                  <a:srgbClr val="0F766E"/>
                </a:solidFill>
                <a:latin typeface="Fira Sans"/>
                <a:ea typeface="Fira Sans"/>
                <a:cs typeface="Fira Sans"/>
                <a:sym typeface="Fira Sans"/>
              </a:rPr>
              <a:t>Transform, then continue.</a:t>
            </a:r>
          </a:p>
        </p:txBody>
      </p:sp>
      <p:grpSp>
        <p:nvGrpSpPr>
          <p:cNvPr name="Group 63" id="63"/>
          <p:cNvGrpSpPr/>
          <p:nvPr/>
        </p:nvGrpSpPr>
        <p:grpSpPr>
          <a:xfrm rot="0">
            <a:off x="12252017" y="5211118"/>
            <a:ext cx="5287251" cy="1350931"/>
            <a:chOff x="0" y="0"/>
            <a:chExt cx="7049668" cy="1801241"/>
          </a:xfrm>
        </p:grpSpPr>
        <p:sp>
          <p:nvSpPr>
            <p:cNvPr name="Freeform 64" id="64"/>
            <p:cNvSpPr/>
            <p:nvPr/>
          </p:nvSpPr>
          <p:spPr>
            <a:xfrm flipH="false" flipV="false" rot="0">
              <a:off x="0" y="0"/>
              <a:ext cx="7049643" cy="1801241"/>
            </a:xfrm>
            <a:custGeom>
              <a:avLst/>
              <a:gdLst/>
              <a:ahLst/>
              <a:cxnLst/>
              <a:rect r="r" b="b" t="t" l="l"/>
              <a:pathLst>
                <a:path h="1801241" w="7049643">
                  <a:moveTo>
                    <a:pt x="0" y="0"/>
                  </a:moveTo>
                  <a:lnTo>
                    <a:pt x="7049643" y="0"/>
                  </a:lnTo>
                  <a:lnTo>
                    <a:pt x="7049643" y="1801241"/>
                  </a:lnTo>
                  <a:lnTo>
                    <a:pt x="0" y="1801241"/>
                  </a:lnTo>
                  <a:close/>
                </a:path>
              </a:pathLst>
            </a:custGeom>
            <a:solidFill>
              <a:srgbClr val="EAF4F6"/>
            </a:solidFill>
          </p:spPr>
        </p:sp>
      </p:grpSp>
      <p:sp>
        <p:nvSpPr>
          <p:cNvPr name="TextBox 65" id="65"/>
          <p:cNvSpPr txBox="true"/>
          <p:nvPr/>
        </p:nvSpPr>
        <p:spPr>
          <a:xfrm rot="0">
            <a:off x="12557046" y="5382749"/>
            <a:ext cx="4677185" cy="950519"/>
          </a:xfrm>
          <a:prstGeom prst="rect">
            <a:avLst/>
          </a:prstGeom>
        </p:spPr>
        <p:txBody>
          <a:bodyPr anchor="t" rtlCol="false" tIns="0" lIns="0" bIns="0" rIns="0">
            <a:spAutoFit/>
          </a:bodyPr>
          <a:lstStyle/>
          <a:p>
            <a:pPr algn="l">
              <a:lnSpc>
                <a:spcPts val="3507"/>
              </a:lnSpc>
            </a:pPr>
            <a:r>
              <a:rPr lang="en-US" sz="2476" b="true">
                <a:solidFill>
                  <a:srgbClr val="17324D"/>
                </a:solidFill>
                <a:latin typeface="Fira Sans Bold"/>
                <a:ea typeface="Fira Sans Bold"/>
                <a:cs typeface="Fira Sans Bold"/>
                <a:sym typeface="Fira Sans Bold"/>
              </a:rPr>
              <a:t>BLOCK</a:t>
            </a:r>
          </a:p>
          <a:p>
            <a:pPr algn="l">
              <a:lnSpc>
                <a:spcPts val="3507"/>
              </a:lnSpc>
            </a:pPr>
            <a:r>
              <a:rPr lang="en-US" sz="2476">
                <a:solidFill>
                  <a:srgbClr val="2563A6"/>
                </a:solidFill>
                <a:latin typeface="Fira Sans"/>
                <a:ea typeface="Fira Sans"/>
                <a:cs typeface="Fira Sans"/>
                <a:sym typeface="Fira Sans"/>
              </a:rPr>
              <a:t>Stop before the model call.</a:t>
            </a:r>
          </a:p>
        </p:txBody>
      </p:sp>
      <p:grpSp>
        <p:nvGrpSpPr>
          <p:cNvPr name="Group 66" id="66"/>
          <p:cNvGrpSpPr/>
          <p:nvPr/>
        </p:nvGrpSpPr>
        <p:grpSpPr>
          <a:xfrm rot="0">
            <a:off x="762581" y="6843255"/>
            <a:ext cx="8159572" cy="3339189"/>
            <a:chOff x="0" y="0"/>
            <a:chExt cx="10879430" cy="4452252"/>
          </a:xfrm>
        </p:grpSpPr>
        <p:sp>
          <p:nvSpPr>
            <p:cNvPr name="Freeform 67" id="67"/>
            <p:cNvSpPr/>
            <p:nvPr/>
          </p:nvSpPr>
          <p:spPr>
            <a:xfrm flipH="false" flipV="false" rot="0">
              <a:off x="0" y="0"/>
              <a:ext cx="10879455" cy="4452239"/>
            </a:xfrm>
            <a:custGeom>
              <a:avLst/>
              <a:gdLst/>
              <a:ahLst/>
              <a:cxnLst/>
              <a:rect r="r" b="b" t="t" l="l"/>
              <a:pathLst>
                <a:path h="4452239" w="10879455">
                  <a:moveTo>
                    <a:pt x="0" y="0"/>
                  </a:moveTo>
                  <a:lnTo>
                    <a:pt x="10879455" y="0"/>
                  </a:lnTo>
                  <a:lnTo>
                    <a:pt x="10879455" y="4452239"/>
                  </a:lnTo>
                  <a:lnTo>
                    <a:pt x="0" y="4452239"/>
                  </a:lnTo>
                  <a:close/>
                </a:path>
              </a:pathLst>
            </a:custGeom>
            <a:solidFill>
              <a:srgbClr val="EAF4F6"/>
            </a:solidFill>
          </p:spPr>
        </p:sp>
      </p:grpSp>
      <p:sp>
        <p:nvSpPr>
          <p:cNvPr name="TextBox 68" id="68"/>
          <p:cNvSpPr txBox="true"/>
          <p:nvPr/>
        </p:nvSpPr>
        <p:spPr>
          <a:xfrm rot="0">
            <a:off x="1067610" y="7052986"/>
            <a:ext cx="7854544" cy="305019"/>
          </a:xfrm>
          <a:prstGeom prst="rect">
            <a:avLst/>
          </a:prstGeom>
        </p:spPr>
        <p:txBody>
          <a:bodyPr anchor="t" rtlCol="false" tIns="0" lIns="0" bIns="0" rIns="0">
            <a:spAutoFit/>
          </a:bodyPr>
          <a:lstStyle/>
          <a:p>
            <a:pPr algn="l">
              <a:lnSpc>
                <a:spcPts val="2248"/>
              </a:lnSpc>
            </a:pPr>
            <a:r>
              <a:rPr lang="en-US" b="true" sz="1801" spc="108">
                <a:solidFill>
                  <a:srgbClr val="17324D"/>
                </a:solidFill>
                <a:latin typeface="Overpass Medium"/>
                <a:ea typeface="Overpass Medium"/>
                <a:cs typeface="Overpass Medium"/>
                <a:sym typeface="Overpass Medium"/>
              </a:rPr>
              <a:t>PROTOTYPE SURFACES</a:t>
            </a:r>
          </a:p>
        </p:txBody>
      </p:sp>
      <p:sp>
        <p:nvSpPr>
          <p:cNvPr name="TextBox 69" id="69"/>
          <p:cNvSpPr txBox="true"/>
          <p:nvPr/>
        </p:nvSpPr>
        <p:spPr>
          <a:xfrm rot="0">
            <a:off x="1067610" y="7481973"/>
            <a:ext cx="7549505" cy="950519"/>
          </a:xfrm>
          <a:prstGeom prst="rect">
            <a:avLst/>
          </a:prstGeom>
        </p:spPr>
        <p:txBody>
          <a:bodyPr anchor="t" rtlCol="false" tIns="0" lIns="0" bIns="0" rIns="0">
            <a:spAutoFit/>
          </a:bodyPr>
          <a:lstStyle/>
          <a:p>
            <a:pPr algn="l">
              <a:lnSpc>
                <a:spcPts val="3507"/>
              </a:lnSpc>
            </a:pPr>
            <a:r>
              <a:rPr lang="en-US" sz="2476">
                <a:solidFill>
                  <a:srgbClr val="17324D"/>
                </a:solidFill>
                <a:latin typeface="Fira Sans"/>
                <a:ea typeface="Fira Sans"/>
                <a:cs typeface="Fira Sans"/>
                <a:sym typeface="Fira Sans"/>
              </a:rPr>
              <a:t>Overview · Scanner · Batch Scan · Threats · History · Policies</a:t>
            </a:r>
          </a:p>
        </p:txBody>
      </p:sp>
      <p:grpSp>
        <p:nvGrpSpPr>
          <p:cNvPr name="Group 70" id="70"/>
          <p:cNvGrpSpPr/>
          <p:nvPr/>
        </p:nvGrpSpPr>
        <p:grpSpPr>
          <a:xfrm rot="0">
            <a:off x="9379696" y="6843255"/>
            <a:ext cx="8159572" cy="3339189"/>
            <a:chOff x="0" y="0"/>
            <a:chExt cx="10879430" cy="4452252"/>
          </a:xfrm>
        </p:grpSpPr>
        <p:sp>
          <p:nvSpPr>
            <p:cNvPr name="Freeform 71" id="71"/>
            <p:cNvSpPr/>
            <p:nvPr/>
          </p:nvSpPr>
          <p:spPr>
            <a:xfrm flipH="false" flipV="false" rot="0">
              <a:off x="0" y="0"/>
              <a:ext cx="10879455" cy="4452239"/>
            </a:xfrm>
            <a:custGeom>
              <a:avLst/>
              <a:gdLst/>
              <a:ahLst/>
              <a:cxnLst/>
              <a:rect r="r" b="b" t="t" l="l"/>
              <a:pathLst>
                <a:path h="4452239" w="10879455">
                  <a:moveTo>
                    <a:pt x="0" y="0"/>
                  </a:moveTo>
                  <a:lnTo>
                    <a:pt x="10879455" y="0"/>
                  </a:lnTo>
                  <a:lnTo>
                    <a:pt x="10879455" y="4452239"/>
                  </a:lnTo>
                  <a:lnTo>
                    <a:pt x="0" y="4452239"/>
                  </a:lnTo>
                  <a:close/>
                </a:path>
              </a:pathLst>
            </a:custGeom>
            <a:solidFill>
              <a:srgbClr val="EAF4F6"/>
            </a:solidFill>
          </p:spPr>
        </p:sp>
      </p:grpSp>
      <p:sp>
        <p:nvSpPr>
          <p:cNvPr name="TextBox 72" id="72"/>
          <p:cNvSpPr txBox="true"/>
          <p:nvPr/>
        </p:nvSpPr>
        <p:spPr>
          <a:xfrm rot="0">
            <a:off x="9684725" y="7052986"/>
            <a:ext cx="7854544" cy="305019"/>
          </a:xfrm>
          <a:prstGeom prst="rect">
            <a:avLst/>
          </a:prstGeom>
        </p:spPr>
        <p:txBody>
          <a:bodyPr anchor="t" rtlCol="false" tIns="0" lIns="0" bIns="0" rIns="0">
            <a:spAutoFit/>
          </a:bodyPr>
          <a:lstStyle/>
          <a:p>
            <a:pPr algn="l">
              <a:lnSpc>
                <a:spcPts val="2248"/>
              </a:lnSpc>
            </a:pPr>
            <a:r>
              <a:rPr lang="en-US" b="true" sz="1801" spc="108">
                <a:solidFill>
                  <a:srgbClr val="17324D"/>
                </a:solidFill>
                <a:latin typeface="Overpass Medium"/>
                <a:ea typeface="Overpass Medium"/>
                <a:cs typeface="Overpass Medium"/>
                <a:sym typeface="Overpass Medium"/>
              </a:rPr>
              <a:t>EVIDENCE &amp; VALIDATION</a:t>
            </a:r>
          </a:p>
        </p:txBody>
      </p:sp>
      <p:sp>
        <p:nvSpPr>
          <p:cNvPr name="TextBox 73" id="73"/>
          <p:cNvSpPr txBox="true"/>
          <p:nvPr/>
        </p:nvSpPr>
        <p:spPr>
          <a:xfrm rot="0">
            <a:off x="9684725" y="7481973"/>
            <a:ext cx="7549505" cy="2471690"/>
          </a:xfrm>
          <a:prstGeom prst="rect">
            <a:avLst/>
          </a:prstGeom>
        </p:spPr>
        <p:txBody>
          <a:bodyPr anchor="t" rtlCol="false" tIns="0" lIns="0" bIns="0" rIns="0">
            <a:spAutoFit/>
          </a:bodyPr>
          <a:lstStyle/>
          <a:p>
            <a:pPr algn="l">
              <a:lnSpc>
                <a:spcPts val="3507"/>
              </a:lnSpc>
            </a:pPr>
            <a:r>
              <a:rPr lang="en-US" sz="2476" b="true">
                <a:solidFill>
                  <a:srgbClr val="17324D"/>
                </a:solidFill>
                <a:latin typeface="Fira Sans Bold"/>
                <a:ea typeface="Fira Sans Bold"/>
                <a:cs typeface="Fira Sans Bold"/>
                <a:sym typeface="Fira Sans Bold"/>
              </a:rPr>
              <a:t>Verified:</a:t>
            </a:r>
            <a:r>
              <a:rPr lang="en-US" sz="2476">
                <a:solidFill>
                  <a:srgbClr val="17324D"/>
                </a:solidFill>
                <a:latin typeface="Fira Sans"/>
                <a:ea typeface="Fira Sans"/>
                <a:cs typeface="Fira Sans"/>
                <a:sym typeface="Fira Sans"/>
              </a:rPr>
              <a:t> direct /scan testing blocked a system-prompt extraction attempt (risk score 55).</a:t>
            </a:r>
          </a:p>
          <a:p>
            <a:pPr algn="l">
              <a:lnSpc>
                <a:spcPts val="3507"/>
              </a:lnSpc>
            </a:pPr>
            <a:r>
              <a:rPr lang="en-US" sz="2476" b="true">
                <a:solidFill>
                  <a:srgbClr val="17324D"/>
                </a:solidFill>
                <a:latin typeface="Fira Sans Bold"/>
                <a:ea typeface="Fira Sans Bold"/>
                <a:cs typeface="Fira Sans Bold"/>
                <a:sym typeface="Fira Sans Bold"/>
              </a:rPr>
              <a:t>Still under testing:</a:t>
            </a:r>
            <a:r>
              <a:rPr lang="en-US" sz="2476">
                <a:solidFill>
                  <a:srgbClr val="17324D"/>
                </a:solidFill>
                <a:latin typeface="Fira Sans"/>
                <a:ea typeface="Fira Sans"/>
                <a:cs typeface="Fira Sans"/>
                <a:sym typeface="Fira Sans"/>
              </a:rPr>
              <a:t> reliable block-before-model-call enforcement, protected-configuration detection, and stable frontend-to-backend availability.</a:t>
            </a:r>
          </a:p>
        </p:txBody>
      </p:sp>
      <p:grpSp>
        <p:nvGrpSpPr>
          <p:cNvPr name="Group 74" id="74"/>
          <p:cNvGrpSpPr/>
          <p:nvPr/>
        </p:nvGrpSpPr>
        <p:grpSpPr>
          <a:xfrm rot="0">
            <a:off x="17190095" y="9619413"/>
            <a:ext cx="915095" cy="457562"/>
            <a:chOff x="0" y="0"/>
            <a:chExt cx="1220127" cy="610083"/>
          </a:xfrm>
        </p:grpSpPr>
        <p:sp>
          <p:nvSpPr>
            <p:cNvPr name="Freeform 75" id="75" descr="preencoded.png"/>
            <p:cNvSpPr/>
            <p:nvPr/>
          </p:nvSpPr>
          <p:spPr>
            <a:xfrm flipH="false" flipV="false" rot="0">
              <a:off x="0" y="0"/>
              <a:ext cx="1220089" cy="610108"/>
            </a:xfrm>
            <a:custGeom>
              <a:avLst/>
              <a:gdLst/>
              <a:ahLst/>
              <a:cxnLst/>
              <a:rect r="r" b="b" t="t" l="l"/>
              <a:pathLst>
                <a:path h="610108" w="1220089">
                  <a:moveTo>
                    <a:pt x="0" y="0"/>
                  </a:moveTo>
                  <a:lnTo>
                    <a:pt x="1220089" y="0"/>
                  </a:lnTo>
                  <a:lnTo>
                    <a:pt x="1220089" y="610108"/>
                  </a:lnTo>
                  <a:lnTo>
                    <a:pt x="0" y="610108"/>
                  </a:lnTo>
                  <a:lnTo>
                    <a:pt x="0" y="0"/>
                  </a:lnTo>
                  <a:close/>
                </a:path>
              </a:pathLst>
            </a:custGeom>
            <a:blipFill>
              <a:blip r:embed="rId3"/>
              <a:stretch>
                <a:fillRect l="-1" t="0" r="-4" b="4"/>
              </a:stretch>
            </a:blipFill>
          </p:spPr>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91352" y="857936"/>
            <a:ext cx="6054890" cy="305019"/>
          </a:xfrm>
          <a:prstGeom prst="rect">
            <a:avLst/>
          </a:prstGeom>
        </p:spPr>
        <p:txBody>
          <a:bodyPr anchor="t" rtlCol="false" tIns="0" lIns="0" bIns="0" rIns="0">
            <a:spAutoFit/>
          </a:bodyPr>
          <a:lstStyle/>
          <a:p>
            <a:pPr algn="l">
              <a:lnSpc>
                <a:spcPts val="2248"/>
              </a:lnSpc>
            </a:pPr>
            <a:r>
              <a:rPr lang="en-US" b="true" sz="1801" spc="108">
                <a:solidFill>
                  <a:srgbClr val="0F766E"/>
                </a:solidFill>
                <a:latin typeface="Overpass Medium"/>
                <a:ea typeface="Overpass Medium"/>
                <a:cs typeface="Overpass Medium"/>
                <a:sym typeface="Overpass Medium"/>
              </a:rPr>
              <a:t>TECHNOLOGY STACK</a:t>
            </a:r>
          </a:p>
        </p:txBody>
      </p:sp>
      <p:sp>
        <p:nvSpPr>
          <p:cNvPr name="TextBox 3" id="3"/>
          <p:cNvSpPr txBox="true"/>
          <p:nvPr/>
        </p:nvSpPr>
        <p:spPr>
          <a:xfrm rot="0">
            <a:off x="991352" y="1378934"/>
            <a:ext cx="5482952" cy="1780508"/>
          </a:xfrm>
          <a:prstGeom prst="rect">
            <a:avLst/>
          </a:prstGeom>
        </p:spPr>
        <p:txBody>
          <a:bodyPr anchor="t" rtlCol="false" tIns="0" lIns="0" bIns="0" rIns="0">
            <a:spAutoFit/>
          </a:bodyPr>
          <a:lstStyle/>
          <a:p>
            <a:pPr algn="l">
              <a:lnSpc>
                <a:spcPts val="4755"/>
              </a:lnSpc>
            </a:pPr>
            <a:r>
              <a:rPr lang="en-US" sz="4503" spc="-45">
                <a:solidFill>
                  <a:srgbClr val="0B1F3A"/>
                </a:solidFill>
                <a:latin typeface="Arimo"/>
                <a:ea typeface="Arimo"/>
                <a:cs typeface="Arimo"/>
                <a:sym typeface="Arimo"/>
              </a:rPr>
              <a:t>A small, typed boundary around the model.</a:t>
            </a:r>
          </a:p>
        </p:txBody>
      </p:sp>
      <p:sp>
        <p:nvSpPr>
          <p:cNvPr name="TextBox 4" id="4"/>
          <p:cNvSpPr txBox="true"/>
          <p:nvPr/>
        </p:nvSpPr>
        <p:spPr>
          <a:xfrm rot="0">
            <a:off x="991352" y="3362916"/>
            <a:ext cx="5482952" cy="1843888"/>
          </a:xfrm>
          <a:prstGeom prst="rect">
            <a:avLst/>
          </a:prstGeom>
        </p:spPr>
        <p:txBody>
          <a:bodyPr anchor="t" rtlCol="false" tIns="0" lIns="0" bIns="0" rIns="0">
            <a:spAutoFit/>
          </a:bodyPr>
          <a:lstStyle/>
          <a:p>
            <a:pPr algn="l">
              <a:lnSpc>
                <a:spcPts val="3507"/>
              </a:lnSpc>
            </a:pPr>
            <a:r>
              <a:rPr lang="en-US" sz="2476">
                <a:solidFill>
                  <a:srgbClr val="17324D"/>
                </a:solidFill>
                <a:latin typeface="Fira Sans"/>
                <a:ea typeface="Fira Sans"/>
                <a:cs typeface="Fira Sans"/>
                <a:sym typeface="Fira Sans"/>
              </a:rPr>
              <a:t>The prototype keeps responsibilities explicit: interface, API boundary, model integration and transparent detection logic.</a:t>
            </a:r>
          </a:p>
        </p:txBody>
      </p:sp>
      <p:grpSp>
        <p:nvGrpSpPr>
          <p:cNvPr name="Group 5" id="5"/>
          <p:cNvGrpSpPr/>
          <p:nvPr/>
        </p:nvGrpSpPr>
        <p:grpSpPr>
          <a:xfrm rot="0">
            <a:off x="7732405" y="0"/>
            <a:ext cx="5055946" cy="4061422"/>
            <a:chOff x="0" y="0"/>
            <a:chExt cx="6741262" cy="5415229"/>
          </a:xfrm>
        </p:grpSpPr>
        <p:sp>
          <p:nvSpPr>
            <p:cNvPr name="Freeform 6" id="6"/>
            <p:cNvSpPr/>
            <p:nvPr/>
          </p:nvSpPr>
          <p:spPr>
            <a:xfrm flipH="false" flipV="false" rot="0">
              <a:off x="0" y="0"/>
              <a:ext cx="6741287" cy="5415280"/>
            </a:xfrm>
            <a:custGeom>
              <a:avLst/>
              <a:gdLst/>
              <a:ahLst/>
              <a:cxnLst/>
              <a:rect r="r" b="b" t="t" l="l"/>
              <a:pathLst>
                <a:path h="5415280" w="6741287">
                  <a:moveTo>
                    <a:pt x="0" y="0"/>
                  </a:moveTo>
                  <a:lnTo>
                    <a:pt x="6741287" y="0"/>
                  </a:lnTo>
                  <a:lnTo>
                    <a:pt x="6741287" y="5415280"/>
                  </a:lnTo>
                  <a:lnTo>
                    <a:pt x="0" y="5415280"/>
                  </a:lnTo>
                  <a:close/>
                </a:path>
              </a:pathLst>
            </a:custGeom>
            <a:solidFill>
              <a:srgbClr val="EAF4F6"/>
            </a:solidFill>
          </p:spPr>
        </p:sp>
      </p:grpSp>
      <p:sp>
        <p:nvSpPr>
          <p:cNvPr name="TextBox 7" id="7"/>
          <p:cNvSpPr txBox="true"/>
          <p:nvPr/>
        </p:nvSpPr>
        <p:spPr>
          <a:xfrm rot="0">
            <a:off x="8113700" y="362245"/>
            <a:ext cx="4674651" cy="305019"/>
          </a:xfrm>
          <a:prstGeom prst="rect">
            <a:avLst/>
          </a:prstGeom>
        </p:spPr>
        <p:txBody>
          <a:bodyPr anchor="t" rtlCol="false" tIns="0" lIns="0" bIns="0" rIns="0">
            <a:spAutoFit/>
          </a:bodyPr>
          <a:lstStyle/>
          <a:p>
            <a:pPr algn="l">
              <a:lnSpc>
                <a:spcPts val="2248"/>
              </a:lnSpc>
            </a:pPr>
            <a:r>
              <a:rPr lang="en-US" b="true" sz="1801" spc="108">
                <a:solidFill>
                  <a:srgbClr val="17324D"/>
                </a:solidFill>
                <a:latin typeface="Overpass Medium"/>
                <a:ea typeface="Overpass Medium"/>
                <a:cs typeface="Overpass Medium"/>
                <a:sym typeface="Overpass Medium"/>
              </a:rPr>
              <a:t>FRONTEND</a:t>
            </a:r>
          </a:p>
        </p:txBody>
      </p:sp>
      <p:sp>
        <p:nvSpPr>
          <p:cNvPr name="TextBox 8" id="8"/>
          <p:cNvSpPr txBox="true"/>
          <p:nvPr/>
        </p:nvSpPr>
        <p:spPr>
          <a:xfrm rot="0">
            <a:off x="8113700" y="757857"/>
            <a:ext cx="4293365" cy="1128370"/>
          </a:xfrm>
          <a:prstGeom prst="rect">
            <a:avLst/>
          </a:prstGeom>
        </p:spPr>
        <p:txBody>
          <a:bodyPr anchor="t" rtlCol="false" tIns="0" lIns="0" bIns="0" rIns="0">
            <a:spAutoFit/>
          </a:bodyPr>
          <a:lstStyle/>
          <a:p>
            <a:pPr algn="l">
              <a:lnSpc>
                <a:spcPts val="4280"/>
              </a:lnSpc>
            </a:pPr>
            <a:r>
              <a:rPr lang="en-US" sz="3302">
                <a:solidFill>
                  <a:srgbClr val="17324D"/>
                </a:solidFill>
                <a:latin typeface="Fira Sans"/>
                <a:ea typeface="Fira Sans"/>
                <a:cs typeface="Fira Sans"/>
                <a:sym typeface="Fira Sans"/>
              </a:rPr>
              <a:t>React · Vite · TypeScript</a:t>
            </a:r>
          </a:p>
        </p:txBody>
      </p:sp>
      <p:sp>
        <p:nvSpPr>
          <p:cNvPr name="TextBox 9" id="9"/>
          <p:cNvSpPr txBox="true"/>
          <p:nvPr/>
        </p:nvSpPr>
        <p:spPr>
          <a:xfrm rot="0">
            <a:off x="8113700" y="2062620"/>
            <a:ext cx="4293365" cy="1617497"/>
          </a:xfrm>
          <a:prstGeom prst="rect">
            <a:avLst/>
          </a:prstGeom>
        </p:spPr>
        <p:txBody>
          <a:bodyPr anchor="t" rtlCol="false" tIns="0" lIns="0" bIns="0" rIns="0">
            <a:spAutoFit/>
          </a:bodyPr>
          <a:lstStyle/>
          <a:p>
            <a:pPr algn="l">
              <a:lnSpc>
                <a:spcPts val="3082"/>
              </a:lnSpc>
            </a:pPr>
            <a:r>
              <a:rPr lang="en-US" sz="2176">
                <a:solidFill>
                  <a:srgbClr val="17324D"/>
                </a:solidFill>
                <a:latin typeface="Fira Sans"/>
                <a:ea typeface="Fira Sans"/>
                <a:cs typeface="Fira Sans"/>
                <a:sym typeface="Fira Sans"/>
              </a:rPr>
              <a:t>Typed interface for fast iteration across Overview, Scanner, Batch Scan, Threats, History and Policies.</a:t>
            </a:r>
          </a:p>
        </p:txBody>
      </p:sp>
      <p:grpSp>
        <p:nvGrpSpPr>
          <p:cNvPr name="Group 10" id="10"/>
          <p:cNvGrpSpPr/>
          <p:nvPr/>
        </p:nvGrpSpPr>
        <p:grpSpPr>
          <a:xfrm rot="0">
            <a:off x="13245894" y="0"/>
            <a:ext cx="5055946" cy="4061422"/>
            <a:chOff x="0" y="0"/>
            <a:chExt cx="6741262" cy="5415229"/>
          </a:xfrm>
        </p:grpSpPr>
        <p:sp>
          <p:nvSpPr>
            <p:cNvPr name="Freeform 11" id="11"/>
            <p:cNvSpPr/>
            <p:nvPr/>
          </p:nvSpPr>
          <p:spPr>
            <a:xfrm flipH="false" flipV="false" rot="0">
              <a:off x="0" y="0"/>
              <a:ext cx="6741287" cy="5415280"/>
            </a:xfrm>
            <a:custGeom>
              <a:avLst/>
              <a:gdLst/>
              <a:ahLst/>
              <a:cxnLst/>
              <a:rect r="r" b="b" t="t" l="l"/>
              <a:pathLst>
                <a:path h="5415280" w="6741287">
                  <a:moveTo>
                    <a:pt x="0" y="0"/>
                  </a:moveTo>
                  <a:lnTo>
                    <a:pt x="6741287" y="0"/>
                  </a:lnTo>
                  <a:lnTo>
                    <a:pt x="6741287" y="5415280"/>
                  </a:lnTo>
                  <a:lnTo>
                    <a:pt x="0" y="5415280"/>
                  </a:lnTo>
                  <a:close/>
                </a:path>
              </a:pathLst>
            </a:custGeom>
            <a:solidFill>
              <a:srgbClr val="EAF4F6"/>
            </a:solidFill>
          </p:spPr>
        </p:sp>
      </p:grpSp>
      <p:sp>
        <p:nvSpPr>
          <p:cNvPr name="TextBox 12" id="12"/>
          <p:cNvSpPr txBox="true"/>
          <p:nvPr/>
        </p:nvSpPr>
        <p:spPr>
          <a:xfrm rot="0">
            <a:off x="13627189" y="362245"/>
            <a:ext cx="4674651" cy="305019"/>
          </a:xfrm>
          <a:prstGeom prst="rect">
            <a:avLst/>
          </a:prstGeom>
        </p:spPr>
        <p:txBody>
          <a:bodyPr anchor="t" rtlCol="false" tIns="0" lIns="0" bIns="0" rIns="0">
            <a:spAutoFit/>
          </a:bodyPr>
          <a:lstStyle/>
          <a:p>
            <a:pPr algn="l">
              <a:lnSpc>
                <a:spcPts val="2248"/>
              </a:lnSpc>
            </a:pPr>
            <a:r>
              <a:rPr lang="en-US" b="true" sz="1801" spc="108">
                <a:solidFill>
                  <a:srgbClr val="17324D"/>
                </a:solidFill>
                <a:latin typeface="Overpass Medium"/>
                <a:ea typeface="Overpass Medium"/>
                <a:cs typeface="Overpass Medium"/>
                <a:sym typeface="Overpass Medium"/>
              </a:rPr>
              <a:t>BACKEND</a:t>
            </a:r>
          </a:p>
        </p:txBody>
      </p:sp>
      <p:sp>
        <p:nvSpPr>
          <p:cNvPr name="TextBox 13" id="13"/>
          <p:cNvSpPr txBox="true"/>
          <p:nvPr/>
        </p:nvSpPr>
        <p:spPr>
          <a:xfrm rot="0">
            <a:off x="13627189" y="757857"/>
            <a:ext cx="4293365" cy="583235"/>
          </a:xfrm>
          <a:prstGeom prst="rect">
            <a:avLst/>
          </a:prstGeom>
        </p:spPr>
        <p:txBody>
          <a:bodyPr anchor="t" rtlCol="false" tIns="0" lIns="0" bIns="0" rIns="0">
            <a:spAutoFit/>
          </a:bodyPr>
          <a:lstStyle/>
          <a:p>
            <a:pPr algn="l">
              <a:lnSpc>
                <a:spcPts val="4280"/>
              </a:lnSpc>
            </a:pPr>
            <a:r>
              <a:rPr lang="en-US" sz="3302">
                <a:solidFill>
                  <a:srgbClr val="17324D"/>
                </a:solidFill>
                <a:latin typeface="Fira Sans"/>
                <a:ea typeface="Fira Sans"/>
                <a:cs typeface="Fira Sans"/>
                <a:sym typeface="Fira Sans"/>
              </a:rPr>
              <a:t>Python · FastAPI</a:t>
            </a:r>
          </a:p>
        </p:txBody>
      </p:sp>
      <p:sp>
        <p:nvSpPr>
          <p:cNvPr name="TextBox 14" id="14"/>
          <p:cNvSpPr txBox="true"/>
          <p:nvPr/>
        </p:nvSpPr>
        <p:spPr>
          <a:xfrm rot="0">
            <a:off x="13627189" y="1517485"/>
            <a:ext cx="4293365" cy="1225029"/>
          </a:xfrm>
          <a:prstGeom prst="rect">
            <a:avLst/>
          </a:prstGeom>
        </p:spPr>
        <p:txBody>
          <a:bodyPr anchor="t" rtlCol="false" tIns="0" lIns="0" bIns="0" rIns="0">
            <a:spAutoFit/>
          </a:bodyPr>
          <a:lstStyle/>
          <a:p>
            <a:pPr algn="l">
              <a:lnSpc>
                <a:spcPts val="3082"/>
              </a:lnSpc>
            </a:pPr>
            <a:r>
              <a:rPr lang="en-US" sz="2176">
                <a:solidFill>
                  <a:srgbClr val="17324D"/>
                </a:solidFill>
                <a:latin typeface="Fira Sans"/>
                <a:ea typeface="Fira Sans"/>
                <a:cs typeface="Fira Sans"/>
                <a:sym typeface="Fira Sans"/>
              </a:rPr>
              <a:t>Lightweight API boundary where policy and credentials stay server-side.</a:t>
            </a:r>
          </a:p>
        </p:txBody>
      </p:sp>
      <p:grpSp>
        <p:nvGrpSpPr>
          <p:cNvPr name="Group 15" id="15"/>
          <p:cNvGrpSpPr/>
          <p:nvPr/>
        </p:nvGrpSpPr>
        <p:grpSpPr>
          <a:xfrm rot="0">
            <a:off x="7732405" y="4518831"/>
            <a:ext cx="5055946" cy="3123809"/>
            <a:chOff x="0" y="0"/>
            <a:chExt cx="6741262" cy="4165079"/>
          </a:xfrm>
        </p:grpSpPr>
        <p:sp>
          <p:nvSpPr>
            <p:cNvPr name="Freeform 16" id="16"/>
            <p:cNvSpPr/>
            <p:nvPr/>
          </p:nvSpPr>
          <p:spPr>
            <a:xfrm flipH="false" flipV="false" rot="0">
              <a:off x="0" y="0"/>
              <a:ext cx="6741287" cy="4165092"/>
            </a:xfrm>
            <a:custGeom>
              <a:avLst/>
              <a:gdLst/>
              <a:ahLst/>
              <a:cxnLst/>
              <a:rect r="r" b="b" t="t" l="l"/>
              <a:pathLst>
                <a:path h="4165092" w="6741287">
                  <a:moveTo>
                    <a:pt x="0" y="0"/>
                  </a:moveTo>
                  <a:lnTo>
                    <a:pt x="6741287" y="0"/>
                  </a:lnTo>
                  <a:lnTo>
                    <a:pt x="6741287" y="4165092"/>
                  </a:lnTo>
                  <a:lnTo>
                    <a:pt x="0" y="4165092"/>
                  </a:lnTo>
                  <a:close/>
                </a:path>
              </a:pathLst>
            </a:custGeom>
            <a:solidFill>
              <a:srgbClr val="EAF4F6"/>
            </a:solidFill>
          </p:spPr>
        </p:sp>
      </p:grpSp>
      <p:sp>
        <p:nvSpPr>
          <p:cNvPr name="TextBox 17" id="17"/>
          <p:cNvSpPr txBox="true"/>
          <p:nvPr/>
        </p:nvSpPr>
        <p:spPr>
          <a:xfrm rot="0">
            <a:off x="8113700" y="4881077"/>
            <a:ext cx="4674651" cy="305019"/>
          </a:xfrm>
          <a:prstGeom prst="rect">
            <a:avLst/>
          </a:prstGeom>
        </p:spPr>
        <p:txBody>
          <a:bodyPr anchor="t" rtlCol="false" tIns="0" lIns="0" bIns="0" rIns="0">
            <a:spAutoFit/>
          </a:bodyPr>
          <a:lstStyle/>
          <a:p>
            <a:pPr algn="l">
              <a:lnSpc>
                <a:spcPts val="2248"/>
              </a:lnSpc>
            </a:pPr>
            <a:r>
              <a:rPr lang="en-US" b="true" sz="1801" spc="108">
                <a:solidFill>
                  <a:srgbClr val="17324D"/>
                </a:solidFill>
                <a:latin typeface="Overpass Medium"/>
                <a:ea typeface="Overpass Medium"/>
                <a:cs typeface="Overpass Medium"/>
                <a:sym typeface="Overpass Medium"/>
              </a:rPr>
              <a:t>AI / ML</a:t>
            </a:r>
          </a:p>
        </p:txBody>
      </p:sp>
      <p:sp>
        <p:nvSpPr>
          <p:cNvPr name="TextBox 18" id="18"/>
          <p:cNvSpPr txBox="true"/>
          <p:nvPr/>
        </p:nvSpPr>
        <p:spPr>
          <a:xfrm rot="0">
            <a:off x="8113700" y="5276688"/>
            <a:ext cx="4293365" cy="583235"/>
          </a:xfrm>
          <a:prstGeom prst="rect">
            <a:avLst/>
          </a:prstGeom>
        </p:spPr>
        <p:txBody>
          <a:bodyPr anchor="t" rtlCol="false" tIns="0" lIns="0" bIns="0" rIns="0">
            <a:spAutoFit/>
          </a:bodyPr>
          <a:lstStyle/>
          <a:p>
            <a:pPr algn="l">
              <a:lnSpc>
                <a:spcPts val="4280"/>
              </a:lnSpc>
            </a:pPr>
            <a:r>
              <a:rPr lang="en-US" sz="3302">
                <a:solidFill>
                  <a:srgbClr val="17324D"/>
                </a:solidFill>
                <a:latin typeface="Fira Sans"/>
                <a:ea typeface="Fira Sans"/>
                <a:cs typeface="Fira Sans"/>
                <a:sym typeface="Fira Sans"/>
              </a:rPr>
              <a:t>Gemini API</a:t>
            </a:r>
          </a:p>
        </p:txBody>
      </p:sp>
      <p:sp>
        <p:nvSpPr>
          <p:cNvPr name="TextBox 19" id="19"/>
          <p:cNvSpPr txBox="true"/>
          <p:nvPr/>
        </p:nvSpPr>
        <p:spPr>
          <a:xfrm rot="0">
            <a:off x="8113700" y="6036307"/>
            <a:ext cx="4293365" cy="832561"/>
          </a:xfrm>
          <a:prstGeom prst="rect">
            <a:avLst/>
          </a:prstGeom>
        </p:spPr>
        <p:txBody>
          <a:bodyPr anchor="t" rtlCol="false" tIns="0" lIns="0" bIns="0" rIns="0">
            <a:spAutoFit/>
          </a:bodyPr>
          <a:lstStyle/>
          <a:p>
            <a:pPr algn="l">
              <a:lnSpc>
                <a:spcPts val="3082"/>
              </a:lnSpc>
            </a:pPr>
            <a:r>
              <a:rPr lang="en-US" sz="2176">
                <a:solidFill>
                  <a:srgbClr val="17324D"/>
                </a:solidFill>
                <a:latin typeface="Fira Sans"/>
                <a:ea typeface="Fira Sans"/>
                <a:cs typeface="Fira Sans"/>
                <a:sym typeface="Fira Sans"/>
              </a:rPr>
              <a:t>Called only after the security decision permits the request.</a:t>
            </a:r>
          </a:p>
        </p:txBody>
      </p:sp>
      <p:grpSp>
        <p:nvGrpSpPr>
          <p:cNvPr name="Group 20" id="20"/>
          <p:cNvGrpSpPr/>
          <p:nvPr/>
        </p:nvGrpSpPr>
        <p:grpSpPr>
          <a:xfrm rot="0">
            <a:off x="13245894" y="4518831"/>
            <a:ext cx="5055946" cy="3123809"/>
            <a:chOff x="0" y="0"/>
            <a:chExt cx="6741262" cy="4165079"/>
          </a:xfrm>
        </p:grpSpPr>
        <p:sp>
          <p:nvSpPr>
            <p:cNvPr name="Freeform 21" id="21"/>
            <p:cNvSpPr/>
            <p:nvPr/>
          </p:nvSpPr>
          <p:spPr>
            <a:xfrm flipH="false" flipV="false" rot="0">
              <a:off x="0" y="0"/>
              <a:ext cx="6741287" cy="4165092"/>
            </a:xfrm>
            <a:custGeom>
              <a:avLst/>
              <a:gdLst/>
              <a:ahLst/>
              <a:cxnLst/>
              <a:rect r="r" b="b" t="t" l="l"/>
              <a:pathLst>
                <a:path h="4165092" w="6741287">
                  <a:moveTo>
                    <a:pt x="0" y="0"/>
                  </a:moveTo>
                  <a:lnTo>
                    <a:pt x="6741287" y="0"/>
                  </a:lnTo>
                  <a:lnTo>
                    <a:pt x="6741287" y="4165092"/>
                  </a:lnTo>
                  <a:lnTo>
                    <a:pt x="0" y="4165092"/>
                  </a:lnTo>
                  <a:close/>
                </a:path>
              </a:pathLst>
            </a:custGeom>
            <a:solidFill>
              <a:srgbClr val="EAF4F6"/>
            </a:solidFill>
          </p:spPr>
        </p:sp>
      </p:grpSp>
      <p:sp>
        <p:nvSpPr>
          <p:cNvPr name="TextBox 22" id="22"/>
          <p:cNvSpPr txBox="true"/>
          <p:nvPr/>
        </p:nvSpPr>
        <p:spPr>
          <a:xfrm rot="0">
            <a:off x="13627189" y="4881077"/>
            <a:ext cx="4674651" cy="305019"/>
          </a:xfrm>
          <a:prstGeom prst="rect">
            <a:avLst/>
          </a:prstGeom>
        </p:spPr>
        <p:txBody>
          <a:bodyPr anchor="t" rtlCol="false" tIns="0" lIns="0" bIns="0" rIns="0">
            <a:spAutoFit/>
          </a:bodyPr>
          <a:lstStyle/>
          <a:p>
            <a:pPr algn="l">
              <a:lnSpc>
                <a:spcPts val="2248"/>
              </a:lnSpc>
            </a:pPr>
            <a:r>
              <a:rPr lang="en-US" b="true" sz="1801" spc="108">
                <a:solidFill>
                  <a:srgbClr val="17324D"/>
                </a:solidFill>
                <a:latin typeface="Overpass Medium"/>
                <a:ea typeface="Overpass Medium"/>
                <a:cs typeface="Overpass Medium"/>
                <a:sym typeface="Overpass Medium"/>
              </a:rPr>
              <a:t>DETECTION</a:t>
            </a:r>
          </a:p>
        </p:txBody>
      </p:sp>
      <p:sp>
        <p:nvSpPr>
          <p:cNvPr name="TextBox 23" id="23"/>
          <p:cNvSpPr txBox="true"/>
          <p:nvPr/>
        </p:nvSpPr>
        <p:spPr>
          <a:xfrm rot="0">
            <a:off x="13627189" y="5276688"/>
            <a:ext cx="4293365" cy="583235"/>
          </a:xfrm>
          <a:prstGeom prst="rect">
            <a:avLst/>
          </a:prstGeom>
        </p:spPr>
        <p:txBody>
          <a:bodyPr anchor="t" rtlCol="false" tIns="0" lIns="0" bIns="0" rIns="0">
            <a:spAutoFit/>
          </a:bodyPr>
          <a:lstStyle/>
          <a:p>
            <a:pPr algn="l">
              <a:lnSpc>
                <a:spcPts val="4280"/>
              </a:lnSpc>
            </a:pPr>
            <a:r>
              <a:rPr lang="en-US" sz="3302">
                <a:solidFill>
                  <a:srgbClr val="17324D"/>
                </a:solidFill>
                <a:latin typeface="Fira Sans"/>
                <a:ea typeface="Fira Sans"/>
                <a:cs typeface="Fira Sans"/>
                <a:sym typeface="Fira Sans"/>
              </a:rPr>
              <a:t>Rules + heuristics</a:t>
            </a:r>
          </a:p>
        </p:txBody>
      </p:sp>
      <p:sp>
        <p:nvSpPr>
          <p:cNvPr name="TextBox 24" id="24"/>
          <p:cNvSpPr txBox="true"/>
          <p:nvPr/>
        </p:nvSpPr>
        <p:spPr>
          <a:xfrm rot="0">
            <a:off x="13627189" y="6036307"/>
            <a:ext cx="4293365" cy="1225029"/>
          </a:xfrm>
          <a:prstGeom prst="rect">
            <a:avLst/>
          </a:prstGeom>
        </p:spPr>
        <p:txBody>
          <a:bodyPr anchor="t" rtlCol="false" tIns="0" lIns="0" bIns="0" rIns="0">
            <a:spAutoFit/>
          </a:bodyPr>
          <a:lstStyle/>
          <a:p>
            <a:pPr algn="l">
              <a:lnSpc>
                <a:spcPts val="3082"/>
              </a:lnSpc>
            </a:pPr>
            <a:r>
              <a:rPr lang="en-US" sz="2176">
                <a:solidFill>
                  <a:srgbClr val="17324D"/>
                </a:solidFill>
                <a:latin typeface="Fira Sans"/>
                <a:ea typeface="Fira Sans"/>
                <a:cs typeface="Fira Sans"/>
                <a:sym typeface="Fira Sans"/>
              </a:rPr>
              <a:t>Transparent prototype behavior, designed to be tested and improved.</a:t>
            </a:r>
          </a:p>
        </p:txBody>
      </p:sp>
      <p:grpSp>
        <p:nvGrpSpPr>
          <p:cNvPr name="Group 25" id="25"/>
          <p:cNvGrpSpPr/>
          <p:nvPr/>
        </p:nvGrpSpPr>
        <p:grpSpPr>
          <a:xfrm rot="0">
            <a:off x="7732405" y="8100050"/>
            <a:ext cx="10569435" cy="1503445"/>
            <a:chOff x="0" y="0"/>
            <a:chExt cx="14092580" cy="2004593"/>
          </a:xfrm>
        </p:grpSpPr>
        <p:sp>
          <p:nvSpPr>
            <p:cNvPr name="Freeform 26" id="26"/>
            <p:cNvSpPr/>
            <p:nvPr/>
          </p:nvSpPr>
          <p:spPr>
            <a:xfrm flipH="false" flipV="false" rot="0">
              <a:off x="0" y="0"/>
              <a:ext cx="14092555" cy="2004568"/>
            </a:xfrm>
            <a:custGeom>
              <a:avLst/>
              <a:gdLst/>
              <a:ahLst/>
              <a:cxnLst/>
              <a:rect r="r" b="b" t="t" l="l"/>
              <a:pathLst>
                <a:path h="2004568" w="14092555">
                  <a:moveTo>
                    <a:pt x="0" y="0"/>
                  </a:moveTo>
                  <a:lnTo>
                    <a:pt x="14092555" y="0"/>
                  </a:lnTo>
                  <a:lnTo>
                    <a:pt x="14092555" y="2004568"/>
                  </a:lnTo>
                  <a:lnTo>
                    <a:pt x="0" y="2004568"/>
                  </a:lnTo>
                  <a:close/>
                </a:path>
              </a:pathLst>
            </a:custGeom>
            <a:solidFill>
              <a:srgbClr val="0B1F3A"/>
            </a:solidFill>
          </p:spPr>
        </p:sp>
      </p:grpSp>
      <p:sp>
        <p:nvSpPr>
          <p:cNvPr name="TextBox 27" id="27"/>
          <p:cNvSpPr txBox="true"/>
          <p:nvPr/>
        </p:nvSpPr>
        <p:spPr>
          <a:xfrm rot="0">
            <a:off x="8113700" y="8347939"/>
            <a:ext cx="9806854" cy="950519"/>
          </a:xfrm>
          <a:prstGeom prst="rect">
            <a:avLst/>
          </a:prstGeom>
        </p:spPr>
        <p:txBody>
          <a:bodyPr anchor="t" rtlCol="false" tIns="0" lIns="0" bIns="0" rIns="0">
            <a:spAutoFit/>
          </a:bodyPr>
          <a:lstStyle/>
          <a:p>
            <a:pPr algn="l">
              <a:lnSpc>
                <a:spcPts val="3507"/>
              </a:lnSpc>
            </a:pPr>
            <a:r>
              <a:rPr lang="en-US" sz="2476" b="true">
                <a:solidFill>
                  <a:srgbClr val="FFFFFF"/>
                </a:solidFill>
                <a:latin typeface="Fira Sans Bold"/>
                <a:ea typeface="Fira Sans Bold"/>
                <a:cs typeface="Fira Sans Bold"/>
                <a:sym typeface="Fira Sans Bold"/>
              </a:rPr>
              <a:t>Database:</a:t>
            </a:r>
            <a:r>
              <a:rPr lang="en-US" sz="2476">
                <a:solidFill>
                  <a:srgbClr val="FFFFFF"/>
                </a:solidFill>
                <a:latin typeface="Fira Sans"/>
                <a:ea typeface="Fira Sans"/>
                <a:cs typeface="Fira Sans"/>
                <a:sym typeface="Fira Sans"/>
              </a:rPr>
              <a:t> no database is claimed because it is not confirmed. </a:t>
            </a:r>
            <a:r>
              <a:rPr lang="en-US" sz="2476">
                <a:solidFill>
                  <a:srgbClr val="557083"/>
                </a:solidFill>
                <a:latin typeface="Fira Sans"/>
                <a:ea typeface="Fira Sans"/>
                <a:cs typeface="Fira Sans"/>
                <a:sym typeface="Fira Sans"/>
              </a:rPr>
              <a:t>Deployment is also not confirmed.</a:t>
            </a:r>
          </a:p>
        </p:txBody>
      </p:sp>
      <p:grpSp>
        <p:nvGrpSpPr>
          <p:cNvPr name="Group 28" id="28"/>
          <p:cNvGrpSpPr/>
          <p:nvPr/>
        </p:nvGrpSpPr>
        <p:grpSpPr>
          <a:xfrm rot="0">
            <a:off x="16814816" y="9494320"/>
            <a:ext cx="915095" cy="457562"/>
            <a:chOff x="0" y="0"/>
            <a:chExt cx="1220127" cy="610083"/>
          </a:xfrm>
        </p:grpSpPr>
        <p:sp>
          <p:nvSpPr>
            <p:cNvPr name="Freeform 29" id="29" descr="preencoded.png"/>
            <p:cNvSpPr/>
            <p:nvPr/>
          </p:nvSpPr>
          <p:spPr>
            <a:xfrm flipH="false" flipV="false" rot="0">
              <a:off x="0" y="0"/>
              <a:ext cx="1220089" cy="610108"/>
            </a:xfrm>
            <a:custGeom>
              <a:avLst/>
              <a:gdLst/>
              <a:ahLst/>
              <a:cxnLst/>
              <a:rect r="r" b="b" t="t" l="l"/>
              <a:pathLst>
                <a:path h="610108" w="1220089">
                  <a:moveTo>
                    <a:pt x="0" y="0"/>
                  </a:moveTo>
                  <a:lnTo>
                    <a:pt x="1220089" y="0"/>
                  </a:lnTo>
                  <a:lnTo>
                    <a:pt x="1220089" y="610108"/>
                  </a:lnTo>
                  <a:lnTo>
                    <a:pt x="0" y="610108"/>
                  </a:lnTo>
                  <a:lnTo>
                    <a:pt x="0" y="0"/>
                  </a:lnTo>
                  <a:close/>
                </a:path>
              </a:pathLst>
            </a:custGeom>
            <a:blipFill>
              <a:blip r:embed="rId3"/>
              <a:stretch>
                <a:fillRect l="-1" t="0" r="-4" b="4"/>
              </a:stretch>
            </a:blipFill>
          </p:spPr>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15095" y="896064"/>
            <a:ext cx="17386744" cy="305019"/>
          </a:xfrm>
          <a:prstGeom prst="rect">
            <a:avLst/>
          </a:prstGeom>
        </p:spPr>
        <p:txBody>
          <a:bodyPr anchor="t" rtlCol="false" tIns="0" lIns="0" bIns="0" rIns="0">
            <a:spAutoFit/>
          </a:bodyPr>
          <a:lstStyle/>
          <a:p>
            <a:pPr algn="l">
              <a:lnSpc>
                <a:spcPts val="2248"/>
              </a:lnSpc>
            </a:pPr>
            <a:r>
              <a:rPr lang="en-US" b="true" sz="1801" spc="108">
                <a:solidFill>
                  <a:srgbClr val="0F766E"/>
                </a:solidFill>
                <a:latin typeface="Overpass Medium"/>
                <a:ea typeface="Overpass Medium"/>
                <a:cs typeface="Overpass Medium"/>
                <a:sym typeface="Overpass Medium"/>
              </a:rPr>
              <a:t>SYSTEM ARCHITECTURE</a:t>
            </a:r>
          </a:p>
        </p:txBody>
      </p:sp>
      <p:sp>
        <p:nvSpPr>
          <p:cNvPr name="TextBox 3" id="3"/>
          <p:cNvSpPr txBox="true"/>
          <p:nvPr/>
        </p:nvSpPr>
        <p:spPr>
          <a:xfrm rot="0">
            <a:off x="915095" y="1417063"/>
            <a:ext cx="16471659" cy="568100"/>
          </a:xfrm>
          <a:prstGeom prst="rect">
            <a:avLst/>
          </a:prstGeom>
        </p:spPr>
        <p:txBody>
          <a:bodyPr anchor="t" rtlCol="false" tIns="0" lIns="0" bIns="0" rIns="0">
            <a:spAutoFit/>
          </a:bodyPr>
          <a:lstStyle/>
          <a:p>
            <a:pPr algn="l">
              <a:lnSpc>
                <a:spcPts val="4755"/>
              </a:lnSpc>
            </a:pPr>
            <a:r>
              <a:rPr lang="en-US" sz="4503" spc="-45">
                <a:solidFill>
                  <a:srgbClr val="0B1F3A"/>
                </a:solidFill>
                <a:latin typeface="Arimo"/>
                <a:ea typeface="Arimo"/>
                <a:cs typeface="Arimo"/>
                <a:sym typeface="Arimo"/>
              </a:rPr>
              <a:t>Security decisions and credentials stay on the backend.</a:t>
            </a:r>
          </a:p>
        </p:txBody>
      </p:sp>
      <p:grpSp>
        <p:nvGrpSpPr>
          <p:cNvPr name="Group 4" id="4"/>
          <p:cNvGrpSpPr/>
          <p:nvPr/>
        </p:nvGrpSpPr>
        <p:grpSpPr>
          <a:xfrm rot="0">
            <a:off x="2562225" y="2569883"/>
            <a:ext cx="1647139" cy="114386"/>
            <a:chOff x="0" y="0"/>
            <a:chExt cx="2196186" cy="152514"/>
          </a:xfrm>
        </p:grpSpPr>
        <p:sp>
          <p:nvSpPr>
            <p:cNvPr name="Freeform 5" id="5"/>
            <p:cNvSpPr/>
            <p:nvPr/>
          </p:nvSpPr>
          <p:spPr>
            <a:xfrm flipH="false" flipV="false" rot="0">
              <a:off x="0" y="0"/>
              <a:ext cx="2196211" cy="152527"/>
            </a:xfrm>
            <a:custGeom>
              <a:avLst/>
              <a:gdLst/>
              <a:ahLst/>
              <a:cxnLst/>
              <a:rect r="r" b="b" t="t" l="l"/>
              <a:pathLst>
                <a:path h="152527" w="2196211">
                  <a:moveTo>
                    <a:pt x="0" y="0"/>
                  </a:moveTo>
                  <a:lnTo>
                    <a:pt x="2196211" y="0"/>
                  </a:lnTo>
                  <a:lnTo>
                    <a:pt x="2196211" y="152527"/>
                  </a:lnTo>
                  <a:lnTo>
                    <a:pt x="0" y="152527"/>
                  </a:lnTo>
                  <a:close/>
                </a:path>
              </a:pathLst>
            </a:custGeom>
            <a:solidFill>
              <a:srgbClr val="0F766E"/>
            </a:solidFill>
          </p:spPr>
        </p:sp>
      </p:grpSp>
      <p:grpSp>
        <p:nvGrpSpPr>
          <p:cNvPr name="Group 6" id="6"/>
          <p:cNvGrpSpPr/>
          <p:nvPr/>
        </p:nvGrpSpPr>
        <p:grpSpPr>
          <a:xfrm rot="0">
            <a:off x="4094978" y="2493483"/>
            <a:ext cx="228771" cy="266910"/>
            <a:chOff x="0" y="0"/>
            <a:chExt cx="305029" cy="355879"/>
          </a:xfrm>
        </p:grpSpPr>
        <p:sp>
          <p:nvSpPr>
            <p:cNvPr name="Freeform 7" id="7"/>
            <p:cNvSpPr/>
            <p:nvPr/>
          </p:nvSpPr>
          <p:spPr>
            <a:xfrm flipH="false" flipV="false" rot="0">
              <a:off x="0" y="0"/>
              <a:ext cx="305054" cy="355854"/>
            </a:xfrm>
            <a:custGeom>
              <a:avLst/>
              <a:gdLst/>
              <a:ahLst/>
              <a:cxnLst/>
              <a:rect r="r" b="b" t="t" l="l"/>
              <a:pathLst>
                <a:path h="355854" w="305054">
                  <a:moveTo>
                    <a:pt x="0" y="0"/>
                  </a:moveTo>
                  <a:lnTo>
                    <a:pt x="305054" y="0"/>
                  </a:lnTo>
                  <a:lnTo>
                    <a:pt x="305054" y="355854"/>
                  </a:lnTo>
                  <a:lnTo>
                    <a:pt x="0" y="355854"/>
                  </a:lnTo>
                  <a:close/>
                </a:path>
              </a:pathLst>
            </a:custGeom>
            <a:solidFill>
              <a:srgbClr val="0F766E"/>
            </a:solidFill>
          </p:spPr>
        </p:sp>
      </p:grpSp>
      <p:grpSp>
        <p:nvGrpSpPr>
          <p:cNvPr name="Group 8" id="8"/>
          <p:cNvGrpSpPr/>
          <p:nvPr/>
        </p:nvGrpSpPr>
        <p:grpSpPr>
          <a:xfrm rot="0">
            <a:off x="2083232" y="2217191"/>
            <a:ext cx="957986" cy="958005"/>
            <a:chOff x="0" y="0"/>
            <a:chExt cx="1277315" cy="1277341"/>
          </a:xfrm>
        </p:grpSpPr>
        <p:sp>
          <p:nvSpPr>
            <p:cNvPr name="Freeform 9" id="9"/>
            <p:cNvSpPr/>
            <p:nvPr/>
          </p:nvSpPr>
          <p:spPr>
            <a:xfrm flipH="false" flipV="false" rot="0">
              <a:off x="0" y="0"/>
              <a:ext cx="1277366" cy="1277366"/>
            </a:xfrm>
            <a:custGeom>
              <a:avLst/>
              <a:gdLst/>
              <a:ahLst/>
              <a:cxnLst/>
              <a:rect r="r" b="b" t="t" l="l"/>
              <a:pathLst>
                <a:path h="1277366" w="1277366">
                  <a:moveTo>
                    <a:pt x="0" y="638683"/>
                  </a:moveTo>
                  <a:cubicBezTo>
                    <a:pt x="0" y="286004"/>
                    <a:pt x="285877" y="0"/>
                    <a:pt x="638683" y="0"/>
                  </a:cubicBezTo>
                  <a:cubicBezTo>
                    <a:pt x="991489" y="0"/>
                    <a:pt x="1277366" y="286004"/>
                    <a:pt x="1277366" y="638683"/>
                  </a:cubicBezTo>
                  <a:cubicBezTo>
                    <a:pt x="1277366" y="991362"/>
                    <a:pt x="991489" y="1277366"/>
                    <a:pt x="638683" y="1277366"/>
                  </a:cubicBezTo>
                  <a:cubicBezTo>
                    <a:pt x="285877" y="1277366"/>
                    <a:pt x="0" y="991362"/>
                    <a:pt x="0" y="638683"/>
                  </a:cubicBezTo>
                  <a:close/>
                </a:path>
              </a:pathLst>
            </a:custGeom>
            <a:solidFill>
              <a:srgbClr val="FFFFFF"/>
            </a:solidFill>
            <a:ln w="57193" cap="sq">
              <a:solidFill>
                <a:srgbClr val="0F766E"/>
              </a:solidFill>
              <a:prstDash val="solid"/>
              <a:miter/>
            </a:ln>
          </p:spPr>
        </p:sp>
      </p:grpSp>
      <p:grpSp>
        <p:nvGrpSpPr>
          <p:cNvPr name="Group 10" id="10"/>
          <p:cNvGrpSpPr/>
          <p:nvPr/>
        </p:nvGrpSpPr>
        <p:grpSpPr>
          <a:xfrm rot="0">
            <a:off x="2247662" y="2381621"/>
            <a:ext cx="629126" cy="629145"/>
            <a:chOff x="0" y="0"/>
            <a:chExt cx="838835" cy="838860"/>
          </a:xfrm>
        </p:grpSpPr>
        <p:sp>
          <p:nvSpPr>
            <p:cNvPr name="Freeform 11" id="11" descr="preencoded.png"/>
            <p:cNvSpPr/>
            <p:nvPr/>
          </p:nvSpPr>
          <p:spPr>
            <a:xfrm flipH="false" flipV="false" rot="0">
              <a:off x="0" y="0"/>
              <a:ext cx="838835" cy="838835"/>
            </a:xfrm>
            <a:custGeom>
              <a:avLst/>
              <a:gdLst/>
              <a:ahLst/>
              <a:cxnLst/>
              <a:rect r="r" b="b" t="t" l="l"/>
              <a:pathLst>
                <a:path h="838835" w="838835">
                  <a:moveTo>
                    <a:pt x="0" y="0"/>
                  </a:moveTo>
                  <a:lnTo>
                    <a:pt x="838835" y="0"/>
                  </a:lnTo>
                  <a:lnTo>
                    <a:pt x="838835" y="838835"/>
                  </a:lnTo>
                  <a:lnTo>
                    <a:pt x="0" y="838835"/>
                  </a:lnTo>
                  <a:lnTo>
                    <a:pt x="0" y="0"/>
                  </a:lnTo>
                  <a:close/>
                </a:path>
              </a:pathLst>
            </a:custGeom>
            <a:blipFill>
              <a:blip r:embed="rId3"/>
              <a:stretch>
                <a:fillRect l="-1" t="0" r="-1" b="-3"/>
              </a:stretch>
            </a:blipFill>
          </p:spPr>
        </p:sp>
      </p:grpSp>
      <p:sp>
        <p:nvSpPr>
          <p:cNvPr name="TextBox 12" id="12"/>
          <p:cNvSpPr txBox="true"/>
          <p:nvPr/>
        </p:nvSpPr>
        <p:spPr>
          <a:xfrm rot="0">
            <a:off x="915019" y="3377317"/>
            <a:ext cx="3294269" cy="459315"/>
          </a:xfrm>
          <a:prstGeom prst="rect">
            <a:avLst/>
          </a:prstGeom>
        </p:spPr>
        <p:txBody>
          <a:bodyPr anchor="t" rtlCol="false" tIns="0" lIns="0" bIns="0" rIns="0">
            <a:spAutoFit/>
          </a:bodyPr>
          <a:lstStyle/>
          <a:p>
            <a:pPr algn="ctr">
              <a:lnSpc>
                <a:spcPts val="3307"/>
              </a:lnSpc>
            </a:pPr>
            <a:r>
              <a:rPr lang="en-US" sz="2551">
                <a:solidFill>
                  <a:srgbClr val="0B1F3A"/>
                </a:solidFill>
                <a:latin typeface="Fira Sans"/>
                <a:ea typeface="Fira Sans"/>
                <a:cs typeface="Fira Sans"/>
                <a:sym typeface="Fira Sans"/>
              </a:rPr>
              <a:t>React UI</a:t>
            </a:r>
          </a:p>
        </p:txBody>
      </p:sp>
      <p:sp>
        <p:nvSpPr>
          <p:cNvPr name="TextBox 13" id="13"/>
          <p:cNvSpPr txBox="true"/>
          <p:nvPr/>
        </p:nvSpPr>
        <p:spPr>
          <a:xfrm rot="0">
            <a:off x="915095" y="4011111"/>
            <a:ext cx="3294269" cy="440093"/>
          </a:xfrm>
          <a:prstGeom prst="rect">
            <a:avLst/>
          </a:prstGeom>
        </p:spPr>
        <p:txBody>
          <a:bodyPr anchor="t" rtlCol="false" tIns="0" lIns="0" bIns="0" rIns="0">
            <a:spAutoFit/>
          </a:bodyPr>
          <a:lstStyle/>
          <a:p>
            <a:pPr algn="ctr">
              <a:lnSpc>
                <a:spcPts val="3082"/>
              </a:lnSpc>
            </a:pPr>
            <a:r>
              <a:rPr lang="en-US" sz="2176">
                <a:solidFill>
                  <a:srgbClr val="17324D"/>
                </a:solidFill>
                <a:latin typeface="Fira Sans"/>
                <a:ea typeface="Fira Sans"/>
                <a:cs typeface="Fira Sans"/>
                <a:sym typeface="Fira Sans"/>
              </a:rPr>
              <a:t>React / Vite / TypeScript</a:t>
            </a:r>
          </a:p>
        </p:txBody>
      </p:sp>
      <p:grpSp>
        <p:nvGrpSpPr>
          <p:cNvPr name="Group 14" id="14"/>
          <p:cNvGrpSpPr/>
          <p:nvPr/>
        </p:nvGrpSpPr>
        <p:grpSpPr>
          <a:xfrm rot="0">
            <a:off x="4209364" y="2569883"/>
            <a:ext cx="3294269" cy="114386"/>
            <a:chOff x="0" y="0"/>
            <a:chExt cx="4392358" cy="152514"/>
          </a:xfrm>
        </p:grpSpPr>
        <p:sp>
          <p:nvSpPr>
            <p:cNvPr name="Freeform 15" id="15"/>
            <p:cNvSpPr/>
            <p:nvPr/>
          </p:nvSpPr>
          <p:spPr>
            <a:xfrm flipH="false" flipV="false" rot="0">
              <a:off x="0" y="0"/>
              <a:ext cx="4392422" cy="152527"/>
            </a:xfrm>
            <a:custGeom>
              <a:avLst/>
              <a:gdLst/>
              <a:ahLst/>
              <a:cxnLst/>
              <a:rect r="r" b="b" t="t" l="l"/>
              <a:pathLst>
                <a:path h="152527" w="4392422">
                  <a:moveTo>
                    <a:pt x="0" y="0"/>
                  </a:moveTo>
                  <a:lnTo>
                    <a:pt x="4392422" y="0"/>
                  </a:lnTo>
                  <a:lnTo>
                    <a:pt x="4392422" y="152527"/>
                  </a:lnTo>
                  <a:lnTo>
                    <a:pt x="0" y="152527"/>
                  </a:lnTo>
                  <a:close/>
                </a:path>
              </a:pathLst>
            </a:custGeom>
            <a:solidFill>
              <a:srgbClr val="0F766E"/>
            </a:solidFill>
          </p:spPr>
        </p:sp>
      </p:grpSp>
      <p:grpSp>
        <p:nvGrpSpPr>
          <p:cNvPr name="Group 16" id="16"/>
          <p:cNvGrpSpPr/>
          <p:nvPr/>
        </p:nvGrpSpPr>
        <p:grpSpPr>
          <a:xfrm rot="0">
            <a:off x="7389247" y="2493483"/>
            <a:ext cx="228771" cy="266910"/>
            <a:chOff x="0" y="0"/>
            <a:chExt cx="305029" cy="355879"/>
          </a:xfrm>
        </p:grpSpPr>
        <p:sp>
          <p:nvSpPr>
            <p:cNvPr name="Freeform 17" id="17"/>
            <p:cNvSpPr/>
            <p:nvPr/>
          </p:nvSpPr>
          <p:spPr>
            <a:xfrm flipH="false" flipV="false" rot="0">
              <a:off x="0" y="0"/>
              <a:ext cx="305054" cy="355854"/>
            </a:xfrm>
            <a:custGeom>
              <a:avLst/>
              <a:gdLst/>
              <a:ahLst/>
              <a:cxnLst/>
              <a:rect r="r" b="b" t="t" l="l"/>
              <a:pathLst>
                <a:path h="355854" w="305054">
                  <a:moveTo>
                    <a:pt x="0" y="0"/>
                  </a:moveTo>
                  <a:lnTo>
                    <a:pt x="305054" y="0"/>
                  </a:lnTo>
                  <a:lnTo>
                    <a:pt x="305054" y="355854"/>
                  </a:lnTo>
                  <a:lnTo>
                    <a:pt x="0" y="355854"/>
                  </a:lnTo>
                  <a:close/>
                </a:path>
              </a:pathLst>
            </a:custGeom>
            <a:solidFill>
              <a:srgbClr val="0F766E"/>
            </a:solidFill>
          </p:spPr>
        </p:sp>
      </p:grpSp>
      <p:grpSp>
        <p:nvGrpSpPr>
          <p:cNvPr name="Group 18" id="18"/>
          <p:cNvGrpSpPr/>
          <p:nvPr/>
        </p:nvGrpSpPr>
        <p:grpSpPr>
          <a:xfrm rot="0">
            <a:off x="5377510" y="2217191"/>
            <a:ext cx="957986" cy="958005"/>
            <a:chOff x="0" y="0"/>
            <a:chExt cx="1277315" cy="1277341"/>
          </a:xfrm>
        </p:grpSpPr>
        <p:sp>
          <p:nvSpPr>
            <p:cNvPr name="Freeform 19" id="19"/>
            <p:cNvSpPr/>
            <p:nvPr/>
          </p:nvSpPr>
          <p:spPr>
            <a:xfrm flipH="false" flipV="false" rot="0">
              <a:off x="0" y="0"/>
              <a:ext cx="1277366" cy="1277366"/>
            </a:xfrm>
            <a:custGeom>
              <a:avLst/>
              <a:gdLst/>
              <a:ahLst/>
              <a:cxnLst/>
              <a:rect r="r" b="b" t="t" l="l"/>
              <a:pathLst>
                <a:path h="1277366" w="1277366">
                  <a:moveTo>
                    <a:pt x="0" y="638683"/>
                  </a:moveTo>
                  <a:cubicBezTo>
                    <a:pt x="0" y="286004"/>
                    <a:pt x="285877" y="0"/>
                    <a:pt x="638683" y="0"/>
                  </a:cubicBezTo>
                  <a:cubicBezTo>
                    <a:pt x="991489" y="0"/>
                    <a:pt x="1277366" y="286004"/>
                    <a:pt x="1277366" y="638683"/>
                  </a:cubicBezTo>
                  <a:cubicBezTo>
                    <a:pt x="1277366" y="991362"/>
                    <a:pt x="991489" y="1277366"/>
                    <a:pt x="638683" y="1277366"/>
                  </a:cubicBezTo>
                  <a:cubicBezTo>
                    <a:pt x="285877" y="1277366"/>
                    <a:pt x="0" y="991362"/>
                    <a:pt x="0" y="638683"/>
                  </a:cubicBezTo>
                  <a:close/>
                </a:path>
              </a:pathLst>
            </a:custGeom>
            <a:solidFill>
              <a:srgbClr val="FFFFFF"/>
            </a:solidFill>
            <a:ln w="57193" cap="sq">
              <a:solidFill>
                <a:srgbClr val="0F766E"/>
              </a:solidFill>
              <a:prstDash val="solid"/>
              <a:miter/>
            </a:ln>
          </p:spPr>
        </p:sp>
      </p:grpSp>
      <p:grpSp>
        <p:nvGrpSpPr>
          <p:cNvPr name="Group 20" id="20"/>
          <p:cNvGrpSpPr/>
          <p:nvPr/>
        </p:nvGrpSpPr>
        <p:grpSpPr>
          <a:xfrm rot="0">
            <a:off x="5541940" y="2381621"/>
            <a:ext cx="629126" cy="629145"/>
            <a:chOff x="0" y="0"/>
            <a:chExt cx="838835" cy="838860"/>
          </a:xfrm>
        </p:grpSpPr>
        <p:sp>
          <p:nvSpPr>
            <p:cNvPr name="Freeform 21" id="21" descr="preencoded.png"/>
            <p:cNvSpPr/>
            <p:nvPr/>
          </p:nvSpPr>
          <p:spPr>
            <a:xfrm flipH="false" flipV="false" rot="0">
              <a:off x="0" y="0"/>
              <a:ext cx="838835" cy="838835"/>
            </a:xfrm>
            <a:custGeom>
              <a:avLst/>
              <a:gdLst/>
              <a:ahLst/>
              <a:cxnLst/>
              <a:rect r="r" b="b" t="t" l="l"/>
              <a:pathLst>
                <a:path h="838835" w="838835">
                  <a:moveTo>
                    <a:pt x="0" y="0"/>
                  </a:moveTo>
                  <a:lnTo>
                    <a:pt x="838835" y="0"/>
                  </a:lnTo>
                  <a:lnTo>
                    <a:pt x="838835" y="838835"/>
                  </a:lnTo>
                  <a:lnTo>
                    <a:pt x="0" y="838835"/>
                  </a:lnTo>
                  <a:lnTo>
                    <a:pt x="0" y="0"/>
                  </a:lnTo>
                  <a:close/>
                </a:path>
              </a:pathLst>
            </a:custGeom>
            <a:blipFill>
              <a:blip r:embed="rId4"/>
              <a:stretch>
                <a:fillRect l="-1" t="0" r="-1" b="-3"/>
              </a:stretch>
            </a:blipFill>
          </p:spPr>
        </p:sp>
      </p:grpSp>
      <p:sp>
        <p:nvSpPr>
          <p:cNvPr name="TextBox 22" id="22"/>
          <p:cNvSpPr txBox="true"/>
          <p:nvPr/>
        </p:nvSpPr>
        <p:spPr>
          <a:xfrm rot="0">
            <a:off x="4209288" y="3377317"/>
            <a:ext cx="3294269" cy="459315"/>
          </a:xfrm>
          <a:prstGeom prst="rect">
            <a:avLst/>
          </a:prstGeom>
        </p:spPr>
        <p:txBody>
          <a:bodyPr anchor="t" rtlCol="false" tIns="0" lIns="0" bIns="0" rIns="0">
            <a:spAutoFit/>
          </a:bodyPr>
          <a:lstStyle/>
          <a:p>
            <a:pPr algn="ctr">
              <a:lnSpc>
                <a:spcPts val="3307"/>
              </a:lnSpc>
            </a:pPr>
            <a:r>
              <a:rPr lang="en-US" sz="2551">
                <a:solidFill>
                  <a:srgbClr val="0B1F3A"/>
                </a:solidFill>
                <a:latin typeface="Fira Sans"/>
                <a:ea typeface="Fira Sans"/>
                <a:cs typeface="Fira Sans"/>
                <a:sym typeface="Fira Sans"/>
              </a:rPr>
              <a:t>FastAPI</a:t>
            </a:r>
          </a:p>
        </p:txBody>
      </p:sp>
      <p:sp>
        <p:nvSpPr>
          <p:cNvPr name="TextBox 23" id="23"/>
          <p:cNvSpPr txBox="true"/>
          <p:nvPr/>
        </p:nvSpPr>
        <p:spPr>
          <a:xfrm rot="0">
            <a:off x="4209364" y="4011111"/>
            <a:ext cx="3294269" cy="832561"/>
          </a:xfrm>
          <a:prstGeom prst="rect">
            <a:avLst/>
          </a:prstGeom>
        </p:spPr>
        <p:txBody>
          <a:bodyPr anchor="t" rtlCol="false" tIns="0" lIns="0" bIns="0" rIns="0">
            <a:spAutoFit/>
          </a:bodyPr>
          <a:lstStyle/>
          <a:p>
            <a:pPr algn="ctr">
              <a:lnSpc>
                <a:spcPts val="3082"/>
              </a:lnSpc>
            </a:pPr>
            <a:r>
              <a:rPr lang="en-US" sz="2176">
                <a:solidFill>
                  <a:srgbClr val="17324D"/>
                </a:solidFill>
                <a:latin typeface="Fira Sans"/>
                <a:ea typeface="Fira Sans"/>
                <a:cs typeface="Fira Sans"/>
                <a:sym typeface="Fira Sans"/>
              </a:rPr>
              <a:t>Backend request boundary</a:t>
            </a:r>
          </a:p>
        </p:txBody>
      </p:sp>
      <p:grpSp>
        <p:nvGrpSpPr>
          <p:cNvPr name="Group 24" id="24"/>
          <p:cNvGrpSpPr/>
          <p:nvPr/>
        </p:nvGrpSpPr>
        <p:grpSpPr>
          <a:xfrm rot="0">
            <a:off x="7503633" y="2569883"/>
            <a:ext cx="3294269" cy="114386"/>
            <a:chOff x="0" y="0"/>
            <a:chExt cx="4392358" cy="152514"/>
          </a:xfrm>
        </p:grpSpPr>
        <p:sp>
          <p:nvSpPr>
            <p:cNvPr name="Freeform 25" id="25"/>
            <p:cNvSpPr/>
            <p:nvPr/>
          </p:nvSpPr>
          <p:spPr>
            <a:xfrm flipH="false" flipV="false" rot="0">
              <a:off x="0" y="0"/>
              <a:ext cx="4392422" cy="152527"/>
            </a:xfrm>
            <a:custGeom>
              <a:avLst/>
              <a:gdLst/>
              <a:ahLst/>
              <a:cxnLst/>
              <a:rect r="r" b="b" t="t" l="l"/>
              <a:pathLst>
                <a:path h="152527" w="4392422">
                  <a:moveTo>
                    <a:pt x="0" y="0"/>
                  </a:moveTo>
                  <a:lnTo>
                    <a:pt x="4392422" y="0"/>
                  </a:lnTo>
                  <a:lnTo>
                    <a:pt x="4392422" y="152527"/>
                  </a:lnTo>
                  <a:lnTo>
                    <a:pt x="0" y="152527"/>
                  </a:lnTo>
                  <a:close/>
                </a:path>
              </a:pathLst>
            </a:custGeom>
            <a:solidFill>
              <a:srgbClr val="0F766E"/>
            </a:solidFill>
          </p:spPr>
        </p:sp>
      </p:grpSp>
      <p:grpSp>
        <p:nvGrpSpPr>
          <p:cNvPr name="Group 26" id="26"/>
          <p:cNvGrpSpPr/>
          <p:nvPr/>
        </p:nvGrpSpPr>
        <p:grpSpPr>
          <a:xfrm rot="0">
            <a:off x="10683526" y="2493483"/>
            <a:ext cx="228771" cy="266910"/>
            <a:chOff x="0" y="0"/>
            <a:chExt cx="305029" cy="355879"/>
          </a:xfrm>
        </p:grpSpPr>
        <p:sp>
          <p:nvSpPr>
            <p:cNvPr name="Freeform 27" id="27"/>
            <p:cNvSpPr/>
            <p:nvPr/>
          </p:nvSpPr>
          <p:spPr>
            <a:xfrm flipH="false" flipV="false" rot="0">
              <a:off x="0" y="0"/>
              <a:ext cx="305054" cy="355854"/>
            </a:xfrm>
            <a:custGeom>
              <a:avLst/>
              <a:gdLst/>
              <a:ahLst/>
              <a:cxnLst/>
              <a:rect r="r" b="b" t="t" l="l"/>
              <a:pathLst>
                <a:path h="355854" w="305054">
                  <a:moveTo>
                    <a:pt x="0" y="0"/>
                  </a:moveTo>
                  <a:lnTo>
                    <a:pt x="305054" y="0"/>
                  </a:lnTo>
                  <a:lnTo>
                    <a:pt x="305054" y="355854"/>
                  </a:lnTo>
                  <a:lnTo>
                    <a:pt x="0" y="355854"/>
                  </a:lnTo>
                  <a:close/>
                </a:path>
              </a:pathLst>
            </a:custGeom>
            <a:solidFill>
              <a:srgbClr val="0F766E"/>
            </a:solidFill>
          </p:spPr>
        </p:sp>
      </p:grpSp>
      <p:grpSp>
        <p:nvGrpSpPr>
          <p:cNvPr name="Group 28" id="28"/>
          <p:cNvGrpSpPr/>
          <p:nvPr/>
        </p:nvGrpSpPr>
        <p:grpSpPr>
          <a:xfrm rot="0">
            <a:off x="8671779" y="2217191"/>
            <a:ext cx="957986" cy="958005"/>
            <a:chOff x="0" y="0"/>
            <a:chExt cx="1277315" cy="1277341"/>
          </a:xfrm>
        </p:grpSpPr>
        <p:sp>
          <p:nvSpPr>
            <p:cNvPr name="Freeform 29" id="29"/>
            <p:cNvSpPr/>
            <p:nvPr/>
          </p:nvSpPr>
          <p:spPr>
            <a:xfrm flipH="false" flipV="false" rot="0">
              <a:off x="0" y="0"/>
              <a:ext cx="1277366" cy="1277366"/>
            </a:xfrm>
            <a:custGeom>
              <a:avLst/>
              <a:gdLst/>
              <a:ahLst/>
              <a:cxnLst/>
              <a:rect r="r" b="b" t="t" l="l"/>
              <a:pathLst>
                <a:path h="1277366" w="1277366">
                  <a:moveTo>
                    <a:pt x="0" y="638683"/>
                  </a:moveTo>
                  <a:cubicBezTo>
                    <a:pt x="0" y="286004"/>
                    <a:pt x="285877" y="0"/>
                    <a:pt x="638683" y="0"/>
                  </a:cubicBezTo>
                  <a:cubicBezTo>
                    <a:pt x="991489" y="0"/>
                    <a:pt x="1277366" y="286004"/>
                    <a:pt x="1277366" y="638683"/>
                  </a:cubicBezTo>
                  <a:cubicBezTo>
                    <a:pt x="1277366" y="991362"/>
                    <a:pt x="991489" y="1277366"/>
                    <a:pt x="638683" y="1277366"/>
                  </a:cubicBezTo>
                  <a:cubicBezTo>
                    <a:pt x="285877" y="1277366"/>
                    <a:pt x="0" y="991362"/>
                    <a:pt x="0" y="638683"/>
                  </a:cubicBezTo>
                  <a:close/>
                </a:path>
              </a:pathLst>
            </a:custGeom>
            <a:solidFill>
              <a:srgbClr val="FFFFFF"/>
            </a:solidFill>
            <a:ln w="57193" cap="sq">
              <a:solidFill>
                <a:srgbClr val="0F766E"/>
              </a:solidFill>
              <a:prstDash val="solid"/>
              <a:miter/>
            </a:ln>
          </p:spPr>
        </p:sp>
      </p:grpSp>
      <p:grpSp>
        <p:nvGrpSpPr>
          <p:cNvPr name="Group 30" id="30"/>
          <p:cNvGrpSpPr/>
          <p:nvPr/>
        </p:nvGrpSpPr>
        <p:grpSpPr>
          <a:xfrm rot="0">
            <a:off x="8836209" y="2381621"/>
            <a:ext cx="629126" cy="629145"/>
            <a:chOff x="0" y="0"/>
            <a:chExt cx="838835" cy="838860"/>
          </a:xfrm>
        </p:grpSpPr>
        <p:sp>
          <p:nvSpPr>
            <p:cNvPr name="Freeform 31" id="31" descr="preencoded.png"/>
            <p:cNvSpPr/>
            <p:nvPr/>
          </p:nvSpPr>
          <p:spPr>
            <a:xfrm flipH="false" flipV="false" rot="0">
              <a:off x="0" y="0"/>
              <a:ext cx="838835" cy="838835"/>
            </a:xfrm>
            <a:custGeom>
              <a:avLst/>
              <a:gdLst/>
              <a:ahLst/>
              <a:cxnLst/>
              <a:rect r="r" b="b" t="t" l="l"/>
              <a:pathLst>
                <a:path h="838835" w="838835">
                  <a:moveTo>
                    <a:pt x="0" y="0"/>
                  </a:moveTo>
                  <a:lnTo>
                    <a:pt x="838835" y="0"/>
                  </a:lnTo>
                  <a:lnTo>
                    <a:pt x="838835" y="838835"/>
                  </a:lnTo>
                  <a:lnTo>
                    <a:pt x="0" y="838835"/>
                  </a:lnTo>
                  <a:lnTo>
                    <a:pt x="0" y="0"/>
                  </a:lnTo>
                  <a:close/>
                </a:path>
              </a:pathLst>
            </a:custGeom>
            <a:blipFill>
              <a:blip r:embed="rId5"/>
              <a:stretch>
                <a:fillRect l="-1" t="0" r="-1" b="-3"/>
              </a:stretch>
            </a:blipFill>
          </p:spPr>
        </p:sp>
      </p:grpSp>
      <p:sp>
        <p:nvSpPr>
          <p:cNvPr name="TextBox 32" id="32"/>
          <p:cNvSpPr txBox="true"/>
          <p:nvPr/>
        </p:nvSpPr>
        <p:spPr>
          <a:xfrm rot="0">
            <a:off x="7503557" y="3377317"/>
            <a:ext cx="3294421" cy="459315"/>
          </a:xfrm>
          <a:prstGeom prst="rect">
            <a:avLst/>
          </a:prstGeom>
        </p:spPr>
        <p:txBody>
          <a:bodyPr anchor="t" rtlCol="false" tIns="0" lIns="0" bIns="0" rIns="0">
            <a:spAutoFit/>
          </a:bodyPr>
          <a:lstStyle/>
          <a:p>
            <a:pPr algn="ctr">
              <a:lnSpc>
                <a:spcPts val="3307"/>
              </a:lnSpc>
            </a:pPr>
            <a:r>
              <a:rPr lang="en-US" sz="2551">
                <a:solidFill>
                  <a:srgbClr val="0B1F3A"/>
                </a:solidFill>
                <a:latin typeface="Fira Sans"/>
                <a:ea typeface="Fira Sans"/>
                <a:cs typeface="Fira Sans"/>
                <a:sym typeface="Fira Sans"/>
              </a:rPr>
              <a:t>Security engine</a:t>
            </a:r>
          </a:p>
        </p:txBody>
      </p:sp>
      <p:sp>
        <p:nvSpPr>
          <p:cNvPr name="TextBox 33" id="33"/>
          <p:cNvSpPr txBox="true"/>
          <p:nvPr/>
        </p:nvSpPr>
        <p:spPr>
          <a:xfrm rot="0">
            <a:off x="7503633" y="4011111"/>
            <a:ext cx="3294421" cy="440093"/>
          </a:xfrm>
          <a:prstGeom prst="rect">
            <a:avLst/>
          </a:prstGeom>
        </p:spPr>
        <p:txBody>
          <a:bodyPr anchor="t" rtlCol="false" tIns="0" lIns="0" bIns="0" rIns="0">
            <a:spAutoFit/>
          </a:bodyPr>
          <a:lstStyle/>
          <a:p>
            <a:pPr algn="ctr">
              <a:lnSpc>
                <a:spcPts val="3082"/>
              </a:lnSpc>
            </a:pPr>
            <a:r>
              <a:rPr lang="en-US" sz="2176">
                <a:solidFill>
                  <a:srgbClr val="17324D"/>
                </a:solidFill>
                <a:latin typeface="Fira Sans"/>
                <a:ea typeface="Fira Sans"/>
                <a:cs typeface="Fira Sans"/>
                <a:sym typeface="Fira Sans"/>
              </a:rPr>
              <a:t>Signals and risk checks</a:t>
            </a:r>
          </a:p>
        </p:txBody>
      </p:sp>
      <p:grpSp>
        <p:nvGrpSpPr>
          <p:cNvPr name="Group 34" id="34"/>
          <p:cNvGrpSpPr/>
          <p:nvPr/>
        </p:nvGrpSpPr>
        <p:grpSpPr>
          <a:xfrm rot="0">
            <a:off x="10798054" y="2569883"/>
            <a:ext cx="3294269" cy="114386"/>
            <a:chOff x="0" y="0"/>
            <a:chExt cx="4392358" cy="152514"/>
          </a:xfrm>
        </p:grpSpPr>
        <p:sp>
          <p:nvSpPr>
            <p:cNvPr name="Freeform 35" id="35"/>
            <p:cNvSpPr/>
            <p:nvPr/>
          </p:nvSpPr>
          <p:spPr>
            <a:xfrm flipH="false" flipV="false" rot="0">
              <a:off x="0" y="0"/>
              <a:ext cx="4392422" cy="152527"/>
            </a:xfrm>
            <a:custGeom>
              <a:avLst/>
              <a:gdLst/>
              <a:ahLst/>
              <a:cxnLst/>
              <a:rect r="r" b="b" t="t" l="l"/>
              <a:pathLst>
                <a:path h="152527" w="4392422">
                  <a:moveTo>
                    <a:pt x="0" y="0"/>
                  </a:moveTo>
                  <a:lnTo>
                    <a:pt x="4392422" y="0"/>
                  </a:lnTo>
                  <a:lnTo>
                    <a:pt x="4392422" y="152527"/>
                  </a:lnTo>
                  <a:lnTo>
                    <a:pt x="0" y="152527"/>
                  </a:lnTo>
                  <a:close/>
                </a:path>
              </a:pathLst>
            </a:custGeom>
            <a:solidFill>
              <a:srgbClr val="0F766E"/>
            </a:solidFill>
          </p:spPr>
        </p:sp>
      </p:grpSp>
      <p:grpSp>
        <p:nvGrpSpPr>
          <p:cNvPr name="Group 36" id="36"/>
          <p:cNvGrpSpPr/>
          <p:nvPr/>
        </p:nvGrpSpPr>
        <p:grpSpPr>
          <a:xfrm rot="0">
            <a:off x="13977947" y="2493483"/>
            <a:ext cx="228771" cy="266910"/>
            <a:chOff x="0" y="0"/>
            <a:chExt cx="305029" cy="355879"/>
          </a:xfrm>
        </p:grpSpPr>
        <p:sp>
          <p:nvSpPr>
            <p:cNvPr name="Freeform 37" id="37"/>
            <p:cNvSpPr/>
            <p:nvPr/>
          </p:nvSpPr>
          <p:spPr>
            <a:xfrm flipH="false" flipV="false" rot="0">
              <a:off x="0" y="0"/>
              <a:ext cx="305054" cy="355854"/>
            </a:xfrm>
            <a:custGeom>
              <a:avLst/>
              <a:gdLst/>
              <a:ahLst/>
              <a:cxnLst/>
              <a:rect r="r" b="b" t="t" l="l"/>
              <a:pathLst>
                <a:path h="355854" w="305054">
                  <a:moveTo>
                    <a:pt x="0" y="0"/>
                  </a:moveTo>
                  <a:lnTo>
                    <a:pt x="305054" y="0"/>
                  </a:lnTo>
                  <a:lnTo>
                    <a:pt x="305054" y="355854"/>
                  </a:lnTo>
                  <a:lnTo>
                    <a:pt x="0" y="355854"/>
                  </a:lnTo>
                  <a:close/>
                </a:path>
              </a:pathLst>
            </a:custGeom>
            <a:solidFill>
              <a:srgbClr val="0F766E"/>
            </a:solidFill>
          </p:spPr>
        </p:sp>
      </p:grpSp>
      <p:grpSp>
        <p:nvGrpSpPr>
          <p:cNvPr name="Group 38" id="38"/>
          <p:cNvGrpSpPr/>
          <p:nvPr/>
        </p:nvGrpSpPr>
        <p:grpSpPr>
          <a:xfrm rot="0">
            <a:off x="11966200" y="2217191"/>
            <a:ext cx="957986" cy="958005"/>
            <a:chOff x="0" y="0"/>
            <a:chExt cx="1277315" cy="1277341"/>
          </a:xfrm>
        </p:grpSpPr>
        <p:sp>
          <p:nvSpPr>
            <p:cNvPr name="Freeform 39" id="39"/>
            <p:cNvSpPr/>
            <p:nvPr/>
          </p:nvSpPr>
          <p:spPr>
            <a:xfrm flipH="false" flipV="false" rot="0">
              <a:off x="0" y="0"/>
              <a:ext cx="1277366" cy="1277366"/>
            </a:xfrm>
            <a:custGeom>
              <a:avLst/>
              <a:gdLst/>
              <a:ahLst/>
              <a:cxnLst/>
              <a:rect r="r" b="b" t="t" l="l"/>
              <a:pathLst>
                <a:path h="1277366" w="1277366">
                  <a:moveTo>
                    <a:pt x="0" y="638683"/>
                  </a:moveTo>
                  <a:cubicBezTo>
                    <a:pt x="0" y="286004"/>
                    <a:pt x="285877" y="0"/>
                    <a:pt x="638683" y="0"/>
                  </a:cubicBezTo>
                  <a:cubicBezTo>
                    <a:pt x="991489" y="0"/>
                    <a:pt x="1277366" y="286004"/>
                    <a:pt x="1277366" y="638683"/>
                  </a:cubicBezTo>
                  <a:cubicBezTo>
                    <a:pt x="1277366" y="991362"/>
                    <a:pt x="991489" y="1277366"/>
                    <a:pt x="638683" y="1277366"/>
                  </a:cubicBezTo>
                  <a:cubicBezTo>
                    <a:pt x="285877" y="1277366"/>
                    <a:pt x="0" y="991362"/>
                    <a:pt x="0" y="638683"/>
                  </a:cubicBezTo>
                  <a:close/>
                </a:path>
              </a:pathLst>
            </a:custGeom>
            <a:solidFill>
              <a:srgbClr val="FFFFFF"/>
            </a:solidFill>
            <a:ln w="57193" cap="sq">
              <a:solidFill>
                <a:srgbClr val="0F766E"/>
              </a:solidFill>
              <a:prstDash val="solid"/>
              <a:miter/>
            </a:ln>
          </p:spPr>
        </p:sp>
      </p:grpSp>
      <p:grpSp>
        <p:nvGrpSpPr>
          <p:cNvPr name="Group 40" id="40"/>
          <p:cNvGrpSpPr/>
          <p:nvPr/>
        </p:nvGrpSpPr>
        <p:grpSpPr>
          <a:xfrm rot="0">
            <a:off x="12130630" y="2381621"/>
            <a:ext cx="629126" cy="629145"/>
            <a:chOff x="0" y="0"/>
            <a:chExt cx="838835" cy="838860"/>
          </a:xfrm>
        </p:grpSpPr>
        <p:sp>
          <p:nvSpPr>
            <p:cNvPr name="Freeform 41" id="41" descr="preencoded.png"/>
            <p:cNvSpPr/>
            <p:nvPr/>
          </p:nvSpPr>
          <p:spPr>
            <a:xfrm flipH="false" flipV="false" rot="0">
              <a:off x="0" y="0"/>
              <a:ext cx="838835" cy="838835"/>
            </a:xfrm>
            <a:custGeom>
              <a:avLst/>
              <a:gdLst/>
              <a:ahLst/>
              <a:cxnLst/>
              <a:rect r="r" b="b" t="t" l="l"/>
              <a:pathLst>
                <a:path h="838835" w="838835">
                  <a:moveTo>
                    <a:pt x="0" y="0"/>
                  </a:moveTo>
                  <a:lnTo>
                    <a:pt x="838835" y="0"/>
                  </a:lnTo>
                  <a:lnTo>
                    <a:pt x="838835" y="838835"/>
                  </a:lnTo>
                  <a:lnTo>
                    <a:pt x="0" y="838835"/>
                  </a:lnTo>
                  <a:lnTo>
                    <a:pt x="0" y="0"/>
                  </a:lnTo>
                  <a:close/>
                </a:path>
              </a:pathLst>
            </a:custGeom>
            <a:blipFill>
              <a:blip r:embed="rId6"/>
              <a:stretch>
                <a:fillRect l="-1" t="0" r="-1" b="-3"/>
              </a:stretch>
            </a:blipFill>
          </p:spPr>
        </p:sp>
      </p:grpSp>
      <p:sp>
        <p:nvSpPr>
          <p:cNvPr name="TextBox 42" id="42"/>
          <p:cNvSpPr txBox="true"/>
          <p:nvPr/>
        </p:nvSpPr>
        <p:spPr>
          <a:xfrm rot="0">
            <a:off x="10798054" y="3377317"/>
            <a:ext cx="3294269" cy="459315"/>
          </a:xfrm>
          <a:prstGeom prst="rect">
            <a:avLst/>
          </a:prstGeom>
        </p:spPr>
        <p:txBody>
          <a:bodyPr anchor="t" rtlCol="false" tIns="0" lIns="0" bIns="0" rIns="0">
            <a:spAutoFit/>
          </a:bodyPr>
          <a:lstStyle/>
          <a:p>
            <a:pPr algn="ctr">
              <a:lnSpc>
                <a:spcPts val="3307"/>
              </a:lnSpc>
            </a:pPr>
            <a:r>
              <a:rPr lang="en-US" sz="2551">
                <a:solidFill>
                  <a:srgbClr val="0B1F3A"/>
                </a:solidFill>
                <a:latin typeface="Fira Sans"/>
                <a:ea typeface="Fira Sans"/>
                <a:cs typeface="Fira Sans"/>
                <a:sym typeface="Fira Sans"/>
              </a:rPr>
              <a:t>Policy gate</a:t>
            </a:r>
          </a:p>
        </p:txBody>
      </p:sp>
      <p:sp>
        <p:nvSpPr>
          <p:cNvPr name="TextBox 43" id="43"/>
          <p:cNvSpPr txBox="true"/>
          <p:nvPr/>
        </p:nvSpPr>
        <p:spPr>
          <a:xfrm rot="0">
            <a:off x="10798054" y="4011111"/>
            <a:ext cx="3294269" cy="440093"/>
          </a:xfrm>
          <a:prstGeom prst="rect">
            <a:avLst/>
          </a:prstGeom>
        </p:spPr>
        <p:txBody>
          <a:bodyPr anchor="t" rtlCol="false" tIns="0" lIns="0" bIns="0" rIns="0">
            <a:spAutoFit/>
          </a:bodyPr>
          <a:lstStyle/>
          <a:p>
            <a:pPr algn="ctr">
              <a:lnSpc>
                <a:spcPts val="3082"/>
              </a:lnSpc>
            </a:pPr>
            <a:r>
              <a:rPr lang="en-US" sz="2176">
                <a:solidFill>
                  <a:srgbClr val="17324D"/>
                </a:solidFill>
                <a:latin typeface="Fira Sans"/>
                <a:ea typeface="Fira Sans"/>
                <a:cs typeface="Fira Sans"/>
                <a:sym typeface="Fira Sans"/>
              </a:rPr>
              <a:t>Allow / sanitize / block</a:t>
            </a:r>
          </a:p>
        </p:txBody>
      </p:sp>
      <p:grpSp>
        <p:nvGrpSpPr>
          <p:cNvPr name="Group 44" id="44"/>
          <p:cNvGrpSpPr/>
          <p:nvPr/>
        </p:nvGrpSpPr>
        <p:grpSpPr>
          <a:xfrm rot="0">
            <a:off x="14092333" y="2569883"/>
            <a:ext cx="1647139" cy="114386"/>
            <a:chOff x="0" y="0"/>
            <a:chExt cx="2196186" cy="152514"/>
          </a:xfrm>
        </p:grpSpPr>
        <p:sp>
          <p:nvSpPr>
            <p:cNvPr name="Freeform 45" id="45"/>
            <p:cNvSpPr/>
            <p:nvPr/>
          </p:nvSpPr>
          <p:spPr>
            <a:xfrm flipH="false" flipV="false" rot="0">
              <a:off x="0" y="0"/>
              <a:ext cx="2196211" cy="152527"/>
            </a:xfrm>
            <a:custGeom>
              <a:avLst/>
              <a:gdLst/>
              <a:ahLst/>
              <a:cxnLst/>
              <a:rect r="r" b="b" t="t" l="l"/>
              <a:pathLst>
                <a:path h="152527" w="2196211">
                  <a:moveTo>
                    <a:pt x="0" y="0"/>
                  </a:moveTo>
                  <a:lnTo>
                    <a:pt x="2196211" y="0"/>
                  </a:lnTo>
                  <a:lnTo>
                    <a:pt x="2196211" y="152527"/>
                  </a:lnTo>
                  <a:lnTo>
                    <a:pt x="0" y="152527"/>
                  </a:lnTo>
                  <a:close/>
                </a:path>
              </a:pathLst>
            </a:custGeom>
            <a:solidFill>
              <a:srgbClr val="0F766E"/>
            </a:solidFill>
          </p:spPr>
        </p:sp>
      </p:grpSp>
      <p:grpSp>
        <p:nvGrpSpPr>
          <p:cNvPr name="Group 46" id="46"/>
          <p:cNvGrpSpPr/>
          <p:nvPr/>
        </p:nvGrpSpPr>
        <p:grpSpPr>
          <a:xfrm rot="0">
            <a:off x="15260469" y="2217191"/>
            <a:ext cx="957986" cy="958005"/>
            <a:chOff x="0" y="0"/>
            <a:chExt cx="1277315" cy="1277341"/>
          </a:xfrm>
        </p:grpSpPr>
        <p:sp>
          <p:nvSpPr>
            <p:cNvPr name="Freeform 47" id="47"/>
            <p:cNvSpPr/>
            <p:nvPr/>
          </p:nvSpPr>
          <p:spPr>
            <a:xfrm flipH="false" flipV="false" rot="0">
              <a:off x="0" y="0"/>
              <a:ext cx="1277366" cy="1277366"/>
            </a:xfrm>
            <a:custGeom>
              <a:avLst/>
              <a:gdLst/>
              <a:ahLst/>
              <a:cxnLst/>
              <a:rect r="r" b="b" t="t" l="l"/>
              <a:pathLst>
                <a:path h="1277366" w="1277366">
                  <a:moveTo>
                    <a:pt x="0" y="638683"/>
                  </a:moveTo>
                  <a:cubicBezTo>
                    <a:pt x="0" y="286004"/>
                    <a:pt x="285877" y="0"/>
                    <a:pt x="638683" y="0"/>
                  </a:cubicBezTo>
                  <a:cubicBezTo>
                    <a:pt x="991489" y="0"/>
                    <a:pt x="1277366" y="286004"/>
                    <a:pt x="1277366" y="638683"/>
                  </a:cubicBezTo>
                  <a:cubicBezTo>
                    <a:pt x="1277366" y="991362"/>
                    <a:pt x="991489" y="1277366"/>
                    <a:pt x="638683" y="1277366"/>
                  </a:cubicBezTo>
                  <a:cubicBezTo>
                    <a:pt x="285877" y="1277366"/>
                    <a:pt x="0" y="991362"/>
                    <a:pt x="0" y="638683"/>
                  </a:cubicBezTo>
                  <a:close/>
                </a:path>
              </a:pathLst>
            </a:custGeom>
            <a:solidFill>
              <a:srgbClr val="FFFFFF"/>
            </a:solidFill>
            <a:ln w="57193" cap="sq">
              <a:solidFill>
                <a:srgbClr val="0F766E"/>
              </a:solidFill>
              <a:prstDash val="solid"/>
              <a:miter/>
            </a:ln>
          </p:spPr>
        </p:sp>
      </p:grpSp>
      <p:grpSp>
        <p:nvGrpSpPr>
          <p:cNvPr name="Group 48" id="48"/>
          <p:cNvGrpSpPr/>
          <p:nvPr/>
        </p:nvGrpSpPr>
        <p:grpSpPr>
          <a:xfrm rot="0">
            <a:off x="15424899" y="2381621"/>
            <a:ext cx="629126" cy="629145"/>
            <a:chOff x="0" y="0"/>
            <a:chExt cx="838835" cy="838860"/>
          </a:xfrm>
        </p:grpSpPr>
        <p:sp>
          <p:nvSpPr>
            <p:cNvPr name="Freeform 49" id="49" descr="preencoded.png"/>
            <p:cNvSpPr/>
            <p:nvPr/>
          </p:nvSpPr>
          <p:spPr>
            <a:xfrm flipH="false" flipV="false" rot="0">
              <a:off x="0" y="0"/>
              <a:ext cx="838835" cy="838835"/>
            </a:xfrm>
            <a:custGeom>
              <a:avLst/>
              <a:gdLst/>
              <a:ahLst/>
              <a:cxnLst/>
              <a:rect r="r" b="b" t="t" l="l"/>
              <a:pathLst>
                <a:path h="838835" w="838835">
                  <a:moveTo>
                    <a:pt x="0" y="0"/>
                  </a:moveTo>
                  <a:lnTo>
                    <a:pt x="838835" y="0"/>
                  </a:lnTo>
                  <a:lnTo>
                    <a:pt x="838835" y="838835"/>
                  </a:lnTo>
                  <a:lnTo>
                    <a:pt x="0" y="838835"/>
                  </a:lnTo>
                  <a:lnTo>
                    <a:pt x="0" y="0"/>
                  </a:lnTo>
                  <a:close/>
                </a:path>
              </a:pathLst>
            </a:custGeom>
            <a:blipFill>
              <a:blip r:embed="rId7"/>
              <a:stretch>
                <a:fillRect l="-1" t="0" r="-1" b="-3"/>
              </a:stretch>
            </a:blipFill>
          </p:spPr>
        </p:sp>
      </p:grpSp>
      <p:sp>
        <p:nvSpPr>
          <p:cNvPr name="TextBox 50" id="50"/>
          <p:cNvSpPr txBox="true"/>
          <p:nvPr/>
        </p:nvSpPr>
        <p:spPr>
          <a:xfrm rot="0">
            <a:off x="14092257" y="3377317"/>
            <a:ext cx="3294421" cy="459315"/>
          </a:xfrm>
          <a:prstGeom prst="rect">
            <a:avLst/>
          </a:prstGeom>
        </p:spPr>
        <p:txBody>
          <a:bodyPr anchor="t" rtlCol="false" tIns="0" lIns="0" bIns="0" rIns="0">
            <a:spAutoFit/>
          </a:bodyPr>
          <a:lstStyle/>
          <a:p>
            <a:pPr algn="ctr">
              <a:lnSpc>
                <a:spcPts val="3307"/>
              </a:lnSpc>
            </a:pPr>
            <a:r>
              <a:rPr lang="en-US" sz="2551">
                <a:solidFill>
                  <a:srgbClr val="0B1F3A"/>
                </a:solidFill>
                <a:latin typeface="Fira Sans"/>
                <a:ea typeface="Fira Sans"/>
                <a:cs typeface="Fira Sans"/>
                <a:sym typeface="Fira Sans"/>
              </a:rPr>
              <a:t>Gemini API</a:t>
            </a:r>
          </a:p>
        </p:txBody>
      </p:sp>
      <p:sp>
        <p:nvSpPr>
          <p:cNvPr name="TextBox 51" id="51"/>
          <p:cNvSpPr txBox="true"/>
          <p:nvPr/>
        </p:nvSpPr>
        <p:spPr>
          <a:xfrm rot="0">
            <a:off x="14158455" y="4011111"/>
            <a:ext cx="3162014" cy="440093"/>
          </a:xfrm>
          <a:prstGeom prst="rect">
            <a:avLst/>
          </a:prstGeom>
        </p:spPr>
        <p:txBody>
          <a:bodyPr anchor="t" rtlCol="false" tIns="0" lIns="0" bIns="0" rIns="0">
            <a:spAutoFit/>
          </a:bodyPr>
          <a:lstStyle/>
          <a:p>
            <a:pPr algn="ctr">
              <a:lnSpc>
                <a:spcPts val="3082"/>
              </a:lnSpc>
            </a:pPr>
            <a:r>
              <a:rPr lang="en-US" sz="2176">
                <a:solidFill>
                  <a:srgbClr val="17324D"/>
                </a:solidFill>
                <a:latin typeface="Fira Sans"/>
                <a:ea typeface="Fira Sans"/>
                <a:cs typeface="Fira Sans"/>
                <a:sym typeface="Fira Sans"/>
              </a:rPr>
              <a:t>Allowed calls only</a:t>
            </a:r>
          </a:p>
        </p:txBody>
      </p:sp>
      <p:grpSp>
        <p:nvGrpSpPr>
          <p:cNvPr name="Group 52" id="52"/>
          <p:cNvGrpSpPr/>
          <p:nvPr/>
        </p:nvGrpSpPr>
        <p:grpSpPr>
          <a:xfrm rot="0">
            <a:off x="915095" y="5124879"/>
            <a:ext cx="8007058" cy="2026387"/>
            <a:chOff x="0" y="0"/>
            <a:chExt cx="10676077" cy="2701849"/>
          </a:xfrm>
        </p:grpSpPr>
        <p:sp>
          <p:nvSpPr>
            <p:cNvPr name="Freeform 53" id="53"/>
            <p:cNvSpPr/>
            <p:nvPr/>
          </p:nvSpPr>
          <p:spPr>
            <a:xfrm flipH="false" flipV="false" rot="0">
              <a:off x="0" y="0"/>
              <a:ext cx="10676128" cy="2701798"/>
            </a:xfrm>
            <a:custGeom>
              <a:avLst/>
              <a:gdLst/>
              <a:ahLst/>
              <a:cxnLst/>
              <a:rect r="r" b="b" t="t" l="l"/>
              <a:pathLst>
                <a:path h="2701798" w="10676128">
                  <a:moveTo>
                    <a:pt x="0" y="0"/>
                  </a:moveTo>
                  <a:lnTo>
                    <a:pt x="10676128" y="0"/>
                  </a:lnTo>
                  <a:lnTo>
                    <a:pt x="10676128" y="2701798"/>
                  </a:lnTo>
                  <a:lnTo>
                    <a:pt x="0" y="2701798"/>
                  </a:lnTo>
                  <a:close/>
                </a:path>
              </a:pathLst>
            </a:custGeom>
            <a:solidFill>
              <a:srgbClr val="EAF4F6"/>
            </a:solidFill>
          </p:spPr>
        </p:sp>
      </p:grpSp>
      <p:sp>
        <p:nvSpPr>
          <p:cNvPr name="TextBox 54" id="54"/>
          <p:cNvSpPr txBox="true"/>
          <p:nvPr/>
        </p:nvSpPr>
        <p:spPr>
          <a:xfrm rot="0">
            <a:off x="1334510" y="5410905"/>
            <a:ext cx="7168220" cy="1397203"/>
          </a:xfrm>
          <a:prstGeom prst="rect">
            <a:avLst/>
          </a:prstGeom>
        </p:spPr>
        <p:txBody>
          <a:bodyPr anchor="t" rtlCol="false" tIns="0" lIns="0" bIns="0" rIns="0">
            <a:spAutoFit/>
          </a:bodyPr>
          <a:lstStyle/>
          <a:p>
            <a:pPr algn="l">
              <a:lnSpc>
                <a:spcPts val="3507"/>
              </a:lnSpc>
            </a:pPr>
            <a:r>
              <a:rPr lang="en-US" sz="2476" b="true">
                <a:solidFill>
                  <a:srgbClr val="17324D"/>
                </a:solidFill>
                <a:latin typeface="Fira Sans Bold"/>
                <a:ea typeface="Fira Sans Bold"/>
                <a:cs typeface="Fira Sans Bold"/>
                <a:sym typeface="Fira Sans Bold"/>
              </a:rPr>
              <a:t>Response path</a:t>
            </a:r>
          </a:p>
          <a:p>
            <a:pPr algn="l">
              <a:lnSpc>
                <a:spcPts val="3507"/>
              </a:lnSpc>
            </a:pPr>
            <a:r>
              <a:rPr lang="en-US" sz="2476">
                <a:solidFill>
                  <a:srgbClr val="17324D"/>
                </a:solidFill>
                <a:latin typeface="Fira Sans"/>
                <a:ea typeface="Fira Sans"/>
                <a:cs typeface="Fira Sans"/>
                <a:sym typeface="Fira Sans"/>
              </a:rPr>
              <a:t>The backend checks generated output, then returns the response to the frontend.</a:t>
            </a:r>
          </a:p>
        </p:txBody>
      </p:sp>
      <p:grpSp>
        <p:nvGrpSpPr>
          <p:cNvPr name="Group 55" id="55"/>
          <p:cNvGrpSpPr/>
          <p:nvPr/>
        </p:nvGrpSpPr>
        <p:grpSpPr>
          <a:xfrm rot="0">
            <a:off x="9379696" y="5124879"/>
            <a:ext cx="8007058" cy="2026387"/>
            <a:chOff x="0" y="0"/>
            <a:chExt cx="10676077" cy="2701849"/>
          </a:xfrm>
        </p:grpSpPr>
        <p:sp>
          <p:nvSpPr>
            <p:cNvPr name="Freeform 56" id="56"/>
            <p:cNvSpPr/>
            <p:nvPr/>
          </p:nvSpPr>
          <p:spPr>
            <a:xfrm flipH="false" flipV="false" rot="0">
              <a:off x="0" y="0"/>
              <a:ext cx="10676128" cy="2701798"/>
            </a:xfrm>
            <a:custGeom>
              <a:avLst/>
              <a:gdLst/>
              <a:ahLst/>
              <a:cxnLst/>
              <a:rect r="r" b="b" t="t" l="l"/>
              <a:pathLst>
                <a:path h="2701798" w="10676128">
                  <a:moveTo>
                    <a:pt x="0" y="0"/>
                  </a:moveTo>
                  <a:lnTo>
                    <a:pt x="10676128" y="0"/>
                  </a:lnTo>
                  <a:lnTo>
                    <a:pt x="10676128" y="2701798"/>
                  </a:lnTo>
                  <a:lnTo>
                    <a:pt x="0" y="2701798"/>
                  </a:lnTo>
                  <a:close/>
                </a:path>
              </a:pathLst>
            </a:custGeom>
            <a:solidFill>
              <a:srgbClr val="EAF4F6"/>
            </a:solidFill>
          </p:spPr>
        </p:sp>
      </p:grpSp>
      <p:sp>
        <p:nvSpPr>
          <p:cNvPr name="TextBox 57" id="57"/>
          <p:cNvSpPr txBox="true"/>
          <p:nvPr/>
        </p:nvSpPr>
        <p:spPr>
          <a:xfrm rot="0">
            <a:off x="9799110" y="5410905"/>
            <a:ext cx="7168220" cy="1397203"/>
          </a:xfrm>
          <a:prstGeom prst="rect">
            <a:avLst/>
          </a:prstGeom>
        </p:spPr>
        <p:txBody>
          <a:bodyPr anchor="t" rtlCol="false" tIns="0" lIns="0" bIns="0" rIns="0">
            <a:spAutoFit/>
          </a:bodyPr>
          <a:lstStyle/>
          <a:p>
            <a:pPr algn="l">
              <a:lnSpc>
                <a:spcPts val="3507"/>
              </a:lnSpc>
            </a:pPr>
            <a:r>
              <a:rPr lang="en-US" sz="2476" b="true">
                <a:solidFill>
                  <a:srgbClr val="17324D"/>
                </a:solidFill>
                <a:latin typeface="Fira Sans Bold"/>
                <a:ea typeface="Fira Sans Bold"/>
                <a:cs typeface="Fira Sans Bold"/>
                <a:sym typeface="Fira Sans Bold"/>
              </a:rPr>
              <a:t>Blocked branch</a:t>
            </a:r>
          </a:p>
          <a:p>
            <a:pPr algn="l">
              <a:lnSpc>
                <a:spcPts val="3507"/>
              </a:lnSpc>
            </a:pPr>
            <a:r>
              <a:rPr lang="en-US" sz="2476">
                <a:solidFill>
                  <a:srgbClr val="17324D"/>
                </a:solidFill>
                <a:latin typeface="Fira Sans"/>
                <a:ea typeface="Fira Sans"/>
                <a:cs typeface="Fira Sans"/>
                <a:sym typeface="Fira Sans"/>
              </a:rPr>
              <a:t>A blocked prompt receives a security verdict; no Gemini request is made.</a:t>
            </a:r>
          </a:p>
        </p:txBody>
      </p:sp>
      <p:grpSp>
        <p:nvGrpSpPr>
          <p:cNvPr name="Group 58" id="58"/>
          <p:cNvGrpSpPr/>
          <p:nvPr/>
        </p:nvGrpSpPr>
        <p:grpSpPr>
          <a:xfrm rot="0">
            <a:off x="16814816" y="9494320"/>
            <a:ext cx="915095" cy="457562"/>
            <a:chOff x="0" y="0"/>
            <a:chExt cx="1220127" cy="610083"/>
          </a:xfrm>
        </p:grpSpPr>
        <p:sp>
          <p:nvSpPr>
            <p:cNvPr name="Freeform 59" id="59" descr="preencoded.png"/>
            <p:cNvSpPr/>
            <p:nvPr/>
          </p:nvSpPr>
          <p:spPr>
            <a:xfrm flipH="false" flipV="false" rot="0">
              <a:off x="0" y="0"/>
              <a:ext cx="1220089" cy="610108"/>
            </a:xfrm>
            <a:custGeom>
              <a:avLst/>
              <a:gdLst/>
              <a:ahLst/>
              <a:cxnLst/>
              <a:rect r="r" b="b" t="t" l="l"/>
              <a:pathLst>
                <a:path h="610108" w="1220089">
                  <a:moveTo>
                    <a:pt x="0" y="0"/>
                  </a:moveTo>
                  <a:lnTo>
                    <a:pt x="1220089" y="0"/>
                  </a:lnTo>
                  <a:lnTo>
                    <a:pt x="1220089" y="610108"/>
                  </a:lnTo>
                  <a:lnTo>
                    <a:pt x="0" y="610108"/>
                  </a:lnTo>
                  <a:lnTo>
                    <a:pt x="0" y="0"/>
                  </a:lnTo>
                  <a:close/>
                </a:path>
              </a:pathLst>
            </a:custGeom>
            <a:blipFill>
              <a:blip r:embed="rId8"/>
              <a:stretch>
                <a:fillRect l="-1" t="0" r="-4" b="4"/>
              </a:stretch>
            </a:blipFill>
          </p:spPr>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6459112" cy="10295039"/>
            <a:chOff x="0" y="0"/>
            <a:chExt cx="8612149" cy="13726719"/>
          </a:xfrm>
        </p:grpSpPr>
        <p:sp>
          <p:nvSpPr>
            <p:cNvPr name="Freeform 3" id="3"/>
            <p:cNvSpPr/>
            <p:nvPr/>
          </p:nvSpPr>
          <p:spPr>
            <a:xfrm flipH="false" flipV="false" rot="0">
              <a:off x="0" y="0"/>
              <a:ext cx="8612124" cy="13726668"/>
            </a:xfrm>
            <a:custGeom>
              <a:avLst/>
              <a:gdLst/>
              <a:ahLst/>
              <a:cxnLst/>
              <a:rect r="r" b="b" t="t" l="l"/>
              <a:pathLst>
                <a:path h="13726668" w="8612124">
                  <a:moveTo>
                    <a:pt x="0" y="0"/>
                  </a:moveTo>
                  <a:lnTo>
                    <a:pt x="8612124" y="0"/>
                  </a:lnTo>
                  <a:lnTo>
                    <a:pt x="8612124" y="13726668"/>
                  </a:lnTo>
                  <a:lnTo>
                    <a:pt x="0" y="13726668"/>
                  </a:lnTo>
                  <a:close/>
                </a:path>
              </a:pathLst>
            </a:custGeom>
            <a:solidFill>
              <a:srgbClr val="0B1F3A"/>
            </a:solidFill>
          </p:spPr>
        </p:sp>
      </p:grpSp>
      <p:grpSp>
        <p:nvGrpSpPr>
          <p:cNvPr name="Group 4" id="4"/>
          <p:cNvGrpSpPr/>
          <p:nvPr/>
        </p:nvGrpSpPr>
        <p:grpSpPr>
          <a:xfrm rot="0">
            <a:off x="648186" y="648205"/>
            <a:ext cx="5162731" cy="7924743"/>
            <a:chOff x="0" y="0"/>
            <a:chExt cx="6883641" cy="10566324"/>
          </a:xfrm>
        </p:grpSpPr>
        <p:sp>
          <p:nvSpPr>
            <p:cNvPr name="Freeform 5" id="5" descr="preencoded.png"/>
            <p:cNvSpPr/>
            <p:nvPr/>
          </p:nvSpPr>
          <p:spPr>
            <a:xfrm flipH="false" flipV="false" rot="0">
              <a:off x="0" y="0"/>
              <a:ext cx="6883654" cy="10566273"/>
            </a:xfrm>
            <a:custGeom>
              <a:avLst/>
              <a:gdLst/>
              <a:ahLst/>
              <a:cxnLst/>
              <a:rect r="r" b="b" t="t" l="l"/>
              <a:pathLst>
                <a:path h="10566273" w="6883654">
                  <a:moveTo>
                    <a:pt x="0" y="0"/>
                  </a:moveTo>
                  <a:lnTo>
                    <a:pt x="6883654" y="0"/>
                  </a:lnTo>
                  <a:lnTo>
                    <a:pt x="6883654" y="10566273"/>
                  </a:lnTo>
                  <a:lnTo>
                    <a:pt x="0" y="10566273"/>
                  </a:lnTo>
                  <a:lnTo>
                    <a:pt x="0" y="0"/>
                  </a:lnTo>
                  <a:close/>
                </a:path>
              </a:pathLst>
            </a:custGeom>
            <a:blipFill>
              <a:blip r:embed="rId3"/>
              <a:stretch>
                <a:fillRect l="-59" t="0" r="-59" b="0"/>
              </a:stretch>
            </a:blipFill>
          </p:spPr>
        </p:sp>
      </p:grpSp>
      <p:grpSp>
        <p:nvGrpSpPr>
          <p:cNvPr name="Group 6" id="6"/>
          <p:cNvGrpSpPr/>
          <p:nvPr/>
        </p:nvGrpSpPr>
        <p:grpSpPr>
          <a:xfrm rot="0">
            <a:off x="648186" y="8854154"/>
            <a:ext cx="5162731" cy="792680"/>
            <a:chOff x="0" y="0"/>
            <a:chExt cx="6883641" cy="1056907"/>
          </a:xfrm>
        </p:grpSpPr>
        <p:sp>
          <p:nvSpPr>
            <p:cNvPr name="Freeform 7" id="7"/>
            <p:cNvSpPr/>
            <p:nvPr/>
          </p:nvSpPr>
          <p:spPr>
            <a:xfrm flipH="false" flipV="false" rot="0">
              <a:off x="0" y="0"/>
              <a:ext cx="6883654" cy="1056894"/>
            </a:xfrm>
            <a:custGeom>
              <a:avLst/>
              <a:gdLst/>
              <a:ahLst/>
              <a:cxnLst/>
              <a:rect r="r" b="b" t="t" l="l"/>
              <a:pathLst>
                <a:path h="1056894" w="6883654">
                  <a:moveTo>
                    <a:pt x="0" y="528447"/>
                  </a:moveTo>
                  <a:cubicBezTo>
                    <a:pt x="0" y="236601"/>
                    <a:pt x="236601" y="0"/>
                    <a:pt x="528447" y="0"/>
                  </a:cubicBezTo>
                  <a:lnTo>
                    <a:pt x="6355207" y="0"/>
                  </a:lnTo>
                  <a:cubicBezTo>
                    <a:pt x="6647053" y="0"/>
                    <a:pt x="6883654" y="236601"/>
                    <a:pt x="6883654" y="528447"/>
                  </a:cubicBezTo>
                  <a:cubicBezTo>
                    <a:pt x="6883654" y="820293"/>
                    <a:pt x="6647053" y="1056894"/>
                    <a:pt x="6355207" y="1056894"/>
                  </a:cubicBezTo>
                  <a:lnTo>
                    <a:pt x="528447" y="1056894"/>
                  </a:lnTo>
                  <a:cubicBezTo>
                    <a:pt x="236601" y="1056894"/>
                    <a:pt x="0" y="820293"/>
                    <a:pt x="0" y="528447"/>
                  </a:cubicBezTo>
                  <a:close/>
                </a:path>
              </a:pathLst>
            </a:custGeom>
            <a:solidFill>
              <a:srgbClr val="FFFFFF"/>
            </a:solidFill>
          </p:spPr>
        </p:sp>
      </p:grpSp>
      <p:sp>
        <p:nvSpPr>
          <p:cNvPr name="TextBox 8" id="8"/>
          <p:cNvSpPr txBox="true"/>
          <p:nvPr/>
        </p:nvSpPr>
        <p:spPr>
          <a:xfrm rot="0">
            <a:off x="836895" y="8948433"/>
            <a:ext cx="4785312" cy="604123"/>
          </a:xfrm>
          <a:prstGeom prst="rect">
            <a:avLst/>
          </a:prstGeom>
        </p:spPr>
        <p:txBody>
          <a:bodyPr anchor="t" rtlCol="false" tIns="0" lIns="0" bIns="0" rIns="0">
            <a:spAutoFit/>
          </a:bodyPr>
          <a:lstStyle/>
          <a:p>
            <a:pPr algn="l">
              <a:lnSpc>
                <a:spcPts val="2341"/>
              </a:lnSpc>
            </a:pPr>
            <a:r>
              <a:rPr lang="en-US" b="true" sz="1951" spc="118">
                <a:solidFill>
                  <a:srgbClr val="0B1F3A"/>
                </a:solidFill>
                <a:latin typeface="Overpass Medium"/>
                <a:ea typeface="Overpass Medium"/>
                <a:cs typeface="Overpass Medium"/>
                <a:sym typeface="Overpass Medium"/>
              </a:rPr>
              <a:t>LOCAL PROTOTYPE · UNDER TESTING</a:t>
            </a:r>
          </a:p>
        </p:txBody>
      </p:sp>
      <p:sp>
        <p:nvSpPr>
          <p:cNvPr name="TextBox 9" id="9"/>
          <p:cNvSpPr txBox="true"/>
          <p:nvPr/>
        </p:nvSpPr>
        <p:spPr>
          <a:xfrm rot="0">
            <a:off x="7526569" y="781679"/>
            <a:ext cx="10699013" cy="305019"/>
          </a:xfrm>
          <a:prstGeom prst="rect">
            <a:avLst/>
          </a:prstGeom>
        </p:spPr>
        <p:txBody>
          <a:bodyPr anchor="t" rtlCol="false" tIns="0" lIns="0" bIns="0" rIns="0">
            <a:spAutoFit/>
          </a:bodyPr>
          <a:lstStyle/>
          <a:p>
            <a:pPr algn="l">
              <a:lnSpc>
                <a:spcPts val="2248"/>
              </a:lnSpc>
            </a:pPr>
            <a:r>
              <a:rPr lang="en-US" b="true" sz="1801" spc="108">
                <a:solidFill>
                  <a:srgbClr val="0F766E"/>
                </a:solidFill>
                <a:latin typeface="Overpass Medium"/>
                <a:ea typeface="Overpass Medium"/>
                <a:cs typeface="Overpass Medium"/>
                <a:sym typeface="Overpass Medium"/>
              </a:rPr>
              <a:t>FEASIBILITY · IMPLEMENTATION</a:t>
            </a:r>
          </a:p>
        </p:txBody>
      </p:sp>
      <p:sp>
        <p:nvSpPr>
          <p:cNvPr name="TextBox 10" id="10"/>
          <p:cNvSpPr txBox="true"/>
          <p:nvPr/>
        </p:nvSpPr>
        <p:spPr>
          <a:xfrm rot="0">
            <a:off x="7526569" y="1302677"/>
            <a:ext cx="9783918" cy="1174309"/>
          </a:xfrm>
          <a:prstGeom prst="rect">
            <a:avLst/>
          </a:prstGeom>
        </p:spPr>
        <p:txBody>
          <a:bodyPr anchor="t" rtlCol="false" tIns="0" lIns="0" bIns="0" rIns="0">
            <a:spAutoFit/>
          </a:bodyPr>
          <a:lstStyle/>
          <a:p>
            <a:pPr algn="l">
              <a:lnSpc>
                <a:spcPts val="4755"/>
              </a:lnSpc>
            </a:pPr>
            <a:r>
              <a:rPr lang="en-US" sz="4503" spc="-45">
                <a:solidFill>
                  <a:srgbClr val="0B1F3A"/>
                </a:solidFill>
                <a:latin typeface="Arimo"/>
                <a:ea typeface="Arimo"/>
                <a:cs typeface="Arimo"/>
                <a:sym typeface="Arimo"/>
              </a:rPr>
              <a:t>The build path is concrete, with known risks.</a:t>
            </a:r>
          </a:p>
        </p:txBody>
      </p:sp>
      <p:grpSp>
        <p:nvGrpSpPr>
          <p:cNvPr name="Group 11" id="11"/>
          <p:cNvGrpSpPr/>
          <p:nvPr/>
        </p:nvGrpSpPr>
        <p:grpSpPr>
          <a:xfrm rot="0">
            <a:off x="7526569" y="2737599"/>
            <a:ext cx="4777569" cy="3213926"/>
            <a:chOff x="0" y="0"/>
            <a:chExt cx="6370091" cy="4285234"/>
          </a:xfrm>
        </p:grpSpPr>
        <p:sp>
          <p:nvSpPr>
            <p:cNvPr name="Freeform 12" id="12"/>
            <p:cNvSpPr/>
            <p:nvPr/>
          </p:nvSpPr>
          <p:spPr>
            <a:xfrm flipH="false" flipV="false" rot="0">
              <a:off x="0" y="0"/>
              <a:ext cx="6370066" cy="4285234"/>
            </a:xfrm>
            <a:custGeom>
              <a:avLst/>
              <a:gdLst/>
              <a:ahLst/>
              <a:cxnLst/>
              <a:rect r="r" b="b" t="t" l="l"/>
              <a:pathLst>
                <a:path h="4285234" w="6370066">
                  <a:moveTo>
                    <a:pt x="0" y="0"/>
                  </a:moveTo>
                  <a:lnTo>
                    <a:pt x="6370066" y="0"/>
                  </a:lnTo>
                  <a:lnTo>
                    <a:pt x="6370066" y="4285234"/>
                  </a:lnTo>
                  <a:lnTo>
                    <a:pt x="0" y="4285234"/>
                  </a:lnTo>
                  <a:close/>
                </a:path>
              </a:pathLst>
            </a:custGeom>
            <a:solidFill>
              <a:srgbClr val="EAF4F6"/>
            </a:solidFill>
          </p:spPr>
        </p:sp>
      </p:grpSp>
      <p:sp>
        <p:nvSpPr>
          <p:cNvPr name="TextBox 13" id="13"/>
          <p:cNvSpPr txBox="true"/>
          <p:nvPr/>
        </p:nvSpPr>
        <p:spPr>
          <a:xfrm rot="0">
            <a:off x="7869736" y="2947359"/>
            <a:ext cx="4091254" cy="2300107"/>
          </a:xfrm>
          <a:prstGeom prst="rect">
            <a:avLst/>
          </a:prstGeom>
        </p:spPr>
        <p:txBody>
          <a:bodyPr anchor="t" rtlCol="false" tIns="0" lIns="0" bIns="0" rIns="0">
            <a:spAutoFit/>
          </a:bodyPr>
          <a:lstStyle/>
          <a:p>
            <a:pPr algn="l">
              <a:lnSpc>
                <a:spcPts val="3507"/>
              </a:lnSpc>
            </a:pPr>
            <a:r>
              <a:rPr lang="en-US" sz="2476" b="true">
                <a:solidFill>
                  <a:srgbClr val="17324D"/>
                </a:solidFill>
                <a:latin typeface="Fira Sans Bold"/>
                <a:ea typeface="Fira Sans Bold"/>
                <a:cs typeface="Fira Sans Bold"/>
                <a:sym typeface="Fira Sans Bold"/>
              </a:rPr>
              <a:t>Verified</a:t>
            </a:r>
          </a:p>
          <a:p>
            <a:pPr algn="l">
              <a:lnSpc>
                <a:spcPts val="3507"/>
              </a:lnSpc>
            </a:pPr>
            <a:r>
              <a:rPr lang="en-US" sz="2476">
                <a:solidFill>
                  <a:srgbClr val="17324D"/>
                </a:solidFill>
                <a:latin typeface="Fira Sans"/>
                <a:ea typeface="Fira Sans"/>
                <a:cs typeface="Fira Sans"/>
                <a:sym typeface="Fira Sans"/>
              </a:rPr>
              <a:t>Local app runs. Direct /scan testing blocked a system-prompt extraction attempt with risk score </a:t>
            </a:r>
            <a:r>
              <a:rPr lang="en-US" sz="2476" b="true">
                <a:solidFill>
                  <a:srgbClr val="17324D"/>
                </a:solidFill>
                <a:latin typeface="Fira Sans Bold"/>
                <a:ea typeface="Fira Sans Bold"/>
                <a:cs typeface="Fira Sans Bold"/>
                <a:sym typeface="Fira Sans Bold"/>
              </a:rPr>
              <a:t>55</a:t>
            </a:r>
            <a:r>
              <a:rPr lang="en-US" sz="2476">
                <a:solidFill>
                  <a:srgbClr val="17324D"/>
                </a:solidFill>
                <a:latin typeface="Fira Sans"/>
                <a:ea typeface="Fira Sans"/>
                <a:cs typeface="Fira Sans"/>
                <a:sym typeface="Fira Sans"/>
              </a:rPr>
              <a:t>.</a:t>
            </a:r>
          </a:p>
        </p:txBody>
      </p:sp>
      <p:grpSp>
        <p:nvGrpSpPr>
          <p:cNvPr name="Group 14" id="14"/>
          <p:cNvGrpSpPr/>
          <p:nvPr/>
        </p:nvGrpSpPr>
        <p:grpSpPr>
          <a:xfrm rot="0">
            <a:off x="12532919" y="2737599"/>
            <a:ext cx="4777569" cy="3213926"/>
            <a:chOff x="0" y="0"/>
            <a:chExt cx="6370091" cy="4285234"/>
          </a:xfrm>
        </p:grpSpPr>
        <p:sp>
          <p:nvSpPr>
            <p:cNvPr name="Freeform 15" id="15"/>
            <p:cNvSpPr/>
            <p:nvPr/>
          </p:nvSpPr>
          <p:spPr>
            <a:xfrm flipH="false" flipV="false" rot="0">
              <a:off x="0" y="0"/>
              <a:ext cx="6370066" cy="4285234"/>
            </a:xfrm>
            <a:custGeom>
              <a:avLst/>
              <a:gdLst/>
              <a:ahLst/>
              <a:cxnLst/>
              <a:rect r="r" b="b" t="t" l="l"/>
              <a:pathLst>
                <a:path h="4285234" w="6370066">
                  <a:moveTo>
                    <a:pt x="0" y="0"/>
                  </a:moveTo>
                  <a:lnTo>
                    <a:pt x="6370066" y="0"/>
                  </a:lnTo>
                  <a:lnTo>
                    <a:pt x="6370066" y="4285234"/>
                  </a:lnTo>
                  <a:lnTo>
                    <a:pt x="0" y="4285234"/>
                  </a:lnTo>
                  <a:close/>
                </a:path>
              </a:pathLst>
            </a:custGeom>
            <a:solidFill>
              <a:srgbClr val="EAF4F6"/>
            </a:solidFill>
          </p:spPr>
        </p:sp>
      </p:grpSp>
      <p:sp>
        <p:nvSpPr>
          <p:cNvPr name="TextBox 16" id="16"/>
          <p:cNvSpPr txBox="true"/>
          <p:nvPr/>
        </p:nvSpPr>
        <p:spPr>
          <a:xfrm rot="0">
            <a:off x="12876076" y="2947359"/>
            <a:ext cx="4091254" cy="2737256"/>
          </a:xfrm>
          <a:prstGeom prst="rect">
            <a:avLst/>
          </a:prstGeom>
        </p:spPr>
        <p:txBody>
          <a:bodyPr anchor="t" rtlCol="false" tIns="0" lIns="0" bIns="0" rIns="0">
            <a:spAutoFit/>
          </a:bodyPr>
          <a:lstStyle/>
          <a:p>
            <a:pPr algn="l">
              <a:lnSpc>
                <a:spcPts val="3507"/>
              </a:lnSpc>
            </a:pPr>
            <a:r>
              <a:rPr lang="en-US" sz="2476" b="true">
                <a:solidFill>
                  <a:srgbClr val="17324D"/>
                </a:solidFill>
                <a:latin typeface="Fira Sans Bold"/>
                <a:ea typeface="Fira Sans Bold"/>
                <a:cs typeface="Fira Sans Bold"/>
                <a:sym typeface="Fira Sans Bold"/>
              </a:rPr>
              <a:t>Known gaps</a:t>
            </a:r>
          </a:p>
          <a:p>
            <a:pPr algn="l">
              <a:lnSpc>
                <a:spcPts val="3507"/>
              </a:lnSpc>
            </a:pPr>
            <a:r>
              <a:rPr lang="en-US" sz="2476">
                <a:solidFill>
                  <a:srgbClr val="17324D"/>
                </a:solidFill>
                <a:latin typeface="Fira Sans"/>
                <a:ea typeface="Fira Sans"/>
                <a:cs typeface="Fira Sans"/>
                <a:sym typeface="Fira Sans"/>
              </a:rPr>
              <a:t>One system-configuration request was incorrectly allowed. Frontend also showed a security-engine-unavailable HTTP 503 issue.</a:t>
            </a:r>
          </a:p>
        </p:txBody>
      </p:sp>
      <p:sp>
        <p:nvSpPr>
          <p:cNvPr name="TextBox 17" id="17"/>
          <p:cNvSpPr txBox="true"/>
          <p:nvPr/>
        </p:nvSpPr>
        <p:spPr>
          <a:xfrm rot="0">
            <a:off x="7526569" y="6199994"/>
            <a:ext cx="9783918" cy="681542"/>
          </a:xfrm>
          <a:prstGeom prst="rect">
            <a:avLst/>
          </a:prstGeom>
        </p:spPr>
        <p:txBody>
          <a:bodyPr anchor="t" rtlCol="false" tIns="0" lIns="0" bIns="0" rIns="0">
            <a:spAutoFit/>
          </a:bodyPr>
          <a:lstStyle/>
          <a:p>
            <a:pPr algn="l">
              <a:lnSpc>
                <a:spcPts val="2521"/>
              </a:lnSpc>
            </a:pPr>
            <a:r>
              <a:rPr lang="en-US" sz="1876">
                <a:solidFill>
                  <a:srgbClr val="557083"/>
                </a:solidFill>
                <a:latin typeface="Fira Sans"/>
                <a:ea typeface="Fira Sans"/>
                <a:cs typeface="Fira Sans"/>
                <a:sym typeface="Fira Sans"/>
              </a:rPr>
              <a:t>Milestones: API contract → rules → Gemini integration → scanner views → output checks → attack and benign-prompt tests → demo stabilization.</a:t>
            </a:r>
          </a:p>
        </p:txBody>
      </p:sp>
      <p:grpSp>
        <p:nvGrpSpPr>
          <p:cNvPr name="Group 18" id="18"/>
          <p:cNvGrpSpPr/>
          <p:nvPr/>
        </p:nvGrpSpPr>
        <p:grpSpPr>
          <a:xfrm rot="0">
            <a:off x="7521807" y="7152608"/>
            <a:ext cx="7019430" cy="500158"/>
            <a:chOff x="0" y="0"/>
            <a:chExt cx="9359240" cy="666877"/>
          </a:xfrm>
        </p:grpSpPr>
        <p:sp>
          <p:nvSpPr>
            <p:cNvPr name="Freeform 19" id="19"/>
            <p:cNvSpPr/>
            <p:nvPr/>
          </p:nvSpPr>
          <p:spPr>
            <a:xfrm flipH="false" flipV="false" rot="0">
              <a:off x="0" y="0"/>
              <a:ext cx="9359138" cy="666750"/>
            </a:xfrm>
            <a:custGeom>
              <a:avLst/>
              <a:gdLst/>
              <a:ahLst/>
              <a:cxnLst/>
              <a:rect r="r" b="b" t="t" l="l"/>
              <a:pathLst>
                <a:path h="666750" w="9359138">
                  <a:moveTo>
                    <a:pt x="0" y="333375"/>
                  </a:moveTo>
                  <a:cubicBezTo>
                    <a:pt x="0" y="149225"/>
                    <a:pt x="149225" y="0"/>
                    <a:pt x="333375" y="0"/>
                  </a:cubicBezTo>
                  <a:lnTo>
                    <a:pt x="9025763" y="0"/>
                  </a:lnTo>
                  <a:cubicBezTo>
                    <a:pt x="9209913" y="0"/>
                    <a:pt x="9359138" y="149225"/>
                    <a:pt x="9359138" y="333375"/>
                  </a:cubicBezTo>
                  <a:cubicBezTo>
                    <a:pt x="9359138" y="517525"/>
                    <a:pt x="9209913" y="666750"/>
                    <a:pt x="9025763" y="666750"/>
                  </a:cubicBezTo>
                  <a:lnTo>
                    <a:pt x="333375" y="666750"/>
                  </a:lnTo>
                  <a:cubicBezTo>
                    <a:pt x="149225" y="666877"/>
                    <a:pt x="0" y="517652"/>
                    <a:pt x="0" y="333502"/>
                  </a:cubicBezTo>
                  <a:close/>
                </a:path>
              </a:pathLst>
            </a:custGeom>
            <a:blipFill>
              <a:blip r:embed="rId4">
                <a:alphaModFix amt="0"/>
              </a:blip>
              <a:stretch>
                <a:fillRect l="0" t="-223503" r="-1" b="-223523"/>
              </a:stretch>
            </a:blipFill>
            <a:ln w="9532" cap="sq">
              <a:solidFill>
                <a:srgbClr val="FFFFFF"/>
              </a:solidFill>
              <a:prstDash val="solid"/>
              <a:miter/>
            </a:ln>
          </p:spPr>
        </p:sp>
      </p:grpSp>
      <p:sp>
        <p:nvSpPr>
          <p:cNvPr name="TextBox 20" id="20"/>
          <p:cNvSpPr txBox="true"/>
          <p:nvPr/>
        </p:nvSpPr>
        <p:spPr>
          <a:xfrm rot="0">
            <a:off x="7715279" y="7251659"/>
            <a:ext cx="7547572" cy="302057"/>
          </a:xfrm>
          <a:prstGeom prst="rect">
            <a:avLst/>
          </a:prstGeom>
        </p:spPr>
        <p:txBody>
          <a:bodyPr anchor="t" rtlCol="false" tIns="0" lIns="0" bIns="0" rIns="0">
            <a:spAutoFit/>
          </a:bodyPr>
          <a:lstStyle/>
          <a:p>
            <a:pPr algn="l">
              <a:lnSpc>
                <a:spcPts val="2341"/>
              </a:lnSpc>
            </a:pPr>
            <a:r>
              <a:rPr lang="en-US" b="true" sz="1951" spc="118">
                <a:solidFill>
                  <a:srgbClr val="0B1F3A"/>
                </a:solidFill>
                <a:latin typeface="Overpass Medium"/>
                <a:ea typeface="Overpass Medium"/>
                <a:cs typeface="Overpass Medium"/>
                <a:sym typeface="Overpass Medium"/>
              </a:rPr>
              <a:t>DEMO URL / VIDEO · RESERVE IF AVAILABLE</a:t>
            </a:r>
          </a:p>
        </p:txBody>
      </p:sp>
      <p:grpSp>
        <p:nvGrpSpPr>
          <p:cNvPr name="Group 21" id="21"/>
          <p:cNvGrpSpPr/>
          <p:nvPr/>
        </p:nvGrpSpPr>
        <p:grpSpPr>
          <a:xfrm rot="0">
            <a:off x="16814816" y="9494320"/>
            <a:ext cx="915095" cy="457562"/>
            <a:chOff x="0" y="0"/>
            <a:chExt cx="1220127" cy="610083"/>
          </a:xfrm>
        </p:grpSpPr>
        <p:sp>
          <p:nvSpPr>
            <p:cNvPr name="Freeform 22" id="22" descr="preencoded.png"/>
            <p:cNvSpPr/>
            <p:nvPr/>
          </p:nvSpPr>
          <p:spPr>
            <a:xfrm flipH="false" flipV="false" rot="0">
              <a:off x="0" y="0"/>
              <a:ext cx="1220089" cy="610108"/>
            </a:xfrm>
            <a:custGeom>
              <a:avLst/>
              <a:gdLst/>
              <a:ahLst/>
              <a:cxnLst/>
              <a:rect r="r" b="b" t="t" l="l"/>
              <a:pathLst>
                <a:path h="610108" w="1220089">
                  <a:moveTo>
                    <a:pt x="0" y="0"/>
                  </a:moveTo>
                  <a:lnTo>
                    <a:pt x="1220089" y="0"/>
                  </a:lnTo>
                  <a:lnTo>
                    <a:pt x="1220089" y="610108"/>
                  </a:lnTo>
                  <a:lnTo>
                    <a:pt x="0" y="610108"/>
                  </a:lnTo>
                  <a:lnTo>
                    <a:pt x="0" y="0"/>
                  </a:lnTo>
                  <a:close/>
                </a:path>
              </a:pathLst>
            </a:custGeom>
            <a:blipFill>
              <a:blip r:embed="rId5"/>
              <a:stretch>
                <a:fillRect l="-1" t="0" r="-4" b="4"/>
              </a:stretch>
            </a:blipFill>
          </p:spPr>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91352" y="857936"/>
            <a:ext cx="4293365" cy="305019"/>
          </a:xfrm>
          <a:prstGeom prst="rect">
            <a:avLst/>
          </a:prstGeom>
        </p:spPr>
        <p:txBody>
          <a:bodyPr anchor="t" rtlCol="false" tIns="0" lIns="0" bIns="0" rIns="0">
            <a:spAutoFit/>
          </a:bodyPr>
          <a:lstStyle/>
          <a:p>
            <a:pPr algn="l">
              <a:lnSpc>
                <a:spcPts val="2248"/>
              </a:lnSpc>
            </a:pPr>
            <a:r>
              <a:rPr lang="en-US" b="true" sz="1801" spc="108">
                <a:solidFill>
                  <a:srgbClr val="0F766E"/>
                </a:solidFill>
                <a:latin typeface="Overpass Medium"/>
                <a:ea typeface="Overpass Medium"/>
                <a:cs typeface="Overpass Medium"/>
                <a:sym typeface="Overpass Medium"/>
              </a:rPr>
              <a:t>FUTURE SCOPE</a:t>
            </a:r>
          </a:p>
        </p:txBody>
      </p:sp>
      <p:sp>
        <p:nvSpPr>
          <p:cNvPr name="TextBox 3" id="3"/>
          <p:cNvSpPr txBox="true"/>
          <p:nvPr/>
        </p:nvSpPr>
        <p:spPr>
          <a:xfrm rot="0">
            <a:off x="991352" y="1378934"/>
            <a:ext cx="3759565" cy="2992917"/>
          </a:xfrm>
          <a:prstGeom prst="rect">
            <a:avLst/>
          </a:prstGeom>
        </p:spPr>
        <p:txBody>
          <a:bodyPr anchor="t" rtlCol="false" tIns="0" lIns="0" bIns="0" rIns="0">
            <a:spAutoFit/>
          </a:bodyPr>
          <a:lstStyle/>
          <a:p>
            <a:pPr algn="l">
              <a:lnSpc>
                <a:spcPts val="4755"/>
              </a:lnSpc>
            </a:pPr>
            <a:r>
              <a:rPr lang="en-US" sz="4503" spc="-45">
                <a:solidFill>
                  <a:srgbClr val="0B1F3A"/>
                </a:solidFill>
                <a:latin typeface="Arimo"/>
                <a:ea typeface="Arimo"/>
                <a:cs typeface="Arimo"/>
                <a:sym typeface="Arimo"/>
              </a:rPr>
              <a:t>Improve coverage through labelled evaluation.</a:t>
            </a:r>
          </a:p>
        </p:txBody>
      </p:sp>
      <p:sp>
        <p:nvSpPr>
          <p:cNvPr name="TextBox 4" id="4"/>
          <p:cNvSpPr txBox="true"/>
          <p:nvPr/>
        </p:nvSpPr>
        <p:spPr>
          <a:xfrm rot="0">
            <a:off x="991352" y="4575324"/>
            <a:ext cx="3759565" cy="1397203"/>
          </a:xfrm>
          <a:prstGeom prst="rect">
            <a:avLst/>
          </a:prstGeom>
        </p:spPr>
        <p:txBody>
          <a:bodyPr anchor="t" rtlCol="false" tIns="0" lIns="0" bIns="0" rIns="0">
            <a:spAutoFit/>
          </a:bodyPr>
          <a:lstStyle/>
          <a:p>
            <a:pPr algn="l">
              <a:lnSpc>
                <a:spcPts val="3507"/>
              </a:lnSpc>
            </a:pPr>
            <a:r>
              <a:rPr lang="en-US" sz="2476">
                <a:solidFill>
                  <a:srgbClr val="17324D"/>
                </a:solidFill>
                <a:latin typeface="Fira Sans"/>
                <a:ea typeface="Fira Sans"/>
                <a:cs typeface="Fira Sans"/>
                <a:sym typeface="Fira Sans"/>
              </a:rPr>
              <a:t>These are future enhancements, not completed features.</a:t>
            </a:r>
          </a:p>
        </p:txBody>
      </p:sp>
      <p:grpSp>
        <p:nvGrpSpPr>
          <p:cNvPr name="Group 5" id="5"/>
          <p:cNvGrpSpPr/>
          <p:nvPr/>
        </p:nvGrpSpPr>
        <p:grpSpPr>
          <a:xfrm rot="0">
            <a:off x="6285452" y="543354"/>
            <a:ext cx="781641" cy="781660"/>
            <a:chOff x="0" y="0"/>
            <a:chExt cx="1042187" cy="1042213"/>
          </a:xfrm>
        </p:grpSpPr>
        <p:sp>
          <p:nvSpPr>
            <p:cNvPr name="Freeform 6" id="6"/>
            <p:cNvSpPr/>
            <p:nvPr/>
          </p:nvSpPr>
          <p:spPr>
            <a:xfrm flipH="false" flipV="false" rot="0">
              <a:off x="0" y="0"/>
              <a:ext cx="1042162" cy="1042162"/>
            </a:xfrm>
            <a:custGeom>
              <a:avLst/>
              <a:gdLst/>
              <a:ahLst/>
              <a:cxnLst/>
              <a:rect r="r" b="b" t="t" l="l"/>
              <a:pathLst>
                <a:path h="1042162" w="1042162">
                  <a:moveTo>
                    <a:pt x="0" y="521081"/>
                  </a:moveTo>
                  <a:cubicBezTo>
                    <a:pt x="0" y="233299"/>
                    <a:pt x="233299" y="0"/>
                    <a:pt x="521081" y="0"/>
                  </a:cubicBezTo>
                  <a:cubicBezTo>
                    <a:pt x="808863" y="0"/>
                    <a:pt x="1042162" y="233299"/>
                    <a:pt x="1042162" y="521081"/>
                  </a:cubicBezTo>
                  <a:cubicBezTo>
                    <a:pt x="1042162" y="808863"/>
                    <a:pt x="808863" y="1042162"/>
                    <a:pt x="521081" y="1042162"/>
                  </a:cubicBezTo>
                  <a:cubicBezTo>
                    <a:pt x="233299" y="1042162"/>
                    <a:pt x="0" y="808863"/>
                    <a:pt x="0" y="521081"/>
                  </a:cubicBezTo>
                  <a:close/>
                </a:path>
              </a:pathLst>
            </a:custGeom>
            <a:solidFill>
              <a:srgbClr val="FFFFFF"/>
            </a:solidFill>
            <a:ln w="57193" cap="sq">
              <a:solidFill>
                <a:srgbClr val="0F766E"/>
              </a:solidFill>
              <a:prstDash val="solid"/>
              <a:miter/>
            </a:ln>
          </p:spPr>
        </p:sp>
      </p:grpSp>
      <p:sp>
        <p:nvSpPr>
          <p:cNvPr name="TextBox 7" id="7"/>
          <p:cNvSpPr txBox="true"/>
          <p:nvPr/>
        </p:nvSpPr>
        <p:spPr>
          <a:xfrm rot="0">
            <a:off x="6550114" y="733939"/>
            <a:ext cx="1167251" cy="476679"/>
          </a:xfrm>
          <a:prstGeom prst="rect">
            <a:avLst/>
          </a:prstGeom>
        </p:spPr>
        <p:txBody>
          <a:bodyPr anchor="t" rtlCol="false" tIns="0" lIns="0" bIns="0" rIns="0">
            <a:spAutoFit/>
          </a:bodyPr>
          <a:lstStyle/>
          <a:p>
            <a:pPr algn="l">
              <a:lnSpc>
                <a:spcPts val="4335"/>
              </a:lnSpc>
            </a:pPr>
            <a:r>
              <a:rPr lang="en-US" sz="4353">
                <a:solidFill>
                  <a:srgbClr val="0B1F3A"/>
                </a:solidFill>
                <a:latin typeface="Fira Sans"/>
                <a:ea typeface="Fira Sans"/>
                <a:cs typeface="Fira Sans"/>
                <a:sym typeface="Fira Sans"/>
              </a:rPr>
              <a:t>1</a:t>
            </a:r>
          </a:p>
        </p:txBody>
      </p:sp>
      <p:sp>
        <p:nvSpPr>
          <p:cNvPr name="TextBox 8" id="8"/>
          <p:cNvSpPr txBox="true"/>
          <p:nvPr/>
        </p:nvSpPr>
        <p:spPr>
          <a:xfrm rot="0">
            <a:off x="7305399" y="535753"/>
            <a:ext cx="2738835" cy="426086"/>
          </a:xfrm>
          <a:prstGeom prst="rect">
            <a:avLst/>
          </a:prstGeom>
        </p:spPr>
        <p:txBody>
          <a:bodyPr anchor="t" rtlCol="false" tIns="0" lIns="0" bIns="0" rIns="0">
            <a:spAutoFit/>
          </a:bodyPr>
          <a:lstStyle/>
          <a:p>
            <a:pPr algn="l">
              <a:lnSpc>
                <a:spcPts val="3307"/>
              </a:lnSpc>
            </a:pPr>
            <a:r>
              <a:rPr lang="en-US" sz="2551">
                <a:solidFill>
                  <a:srgbClr val="0B1F3A"/>
                </a:solidFill>
                <a:latin typeface="Fira Sans"/>
                <a:ea typeface="Fira Sans"/>
                <a:cs typeface="Fira Sans"/>
                <a:sym typeface="Fira Sans"/>
              </a:rPr>
              <a:t>Measure detection</a:t>
            </a:r>
          </a:p>
        </p:txBody>
      </p:sp>
      <p:sp>
        <p:nvSpPr>
          <p:cNvPr name="TextBox 9" id="9"/>
          <p:cNvSpPr txBox="true"/>
          <p:nvPr/>
        </p:nvSpPr>
        <p:spPr>
          <a:xfrm rot="0">
            <a:off x="7305399" y="1160021"/>
            <a:ext cx="10081355" cy="950519"/>
          </a:xfrm>
          <a:prstGeom prst="rect">
            <a:avLst/>
          </a:prstGeom>
        </p:spPr>
        <p:txBody>
          <a:bodyPr anchor="t" rtlCol="false" tIns="0" lIns="0" bIns="0" rIns="0">
            <a:spAutoFit/>
          </a:bodyPr>
          <a:lstStyle/>
          <a:p>
            <a:pPr algn="l">
              <a:lnSpc>
                <a:spcPts val="3507"/>
              </a:lnSpc>
            </a:pPr>
            <a:r>
              <a:rPr lang="en-US" sz="2476">
                <a:solidFill>
                  <a:srgbClr val="17324D"/>
                </a:solidFill>
                <a:latin typeface="Fira Sans"/>
                <a:ea typeface="Fira Sans"/>
                <a:cs typeface="Fira Sans"/>
                <a:sym typeface="Fira Sans"/>
              </a:rPr>
              <a:t>Build a broader labelled dataset and track false positives and false negatives.</a:t>
            </a:r>
          </a:p>
        </p:txBody>
      </p:sp>
      <p:grpSp>
        <p:nvGrpSpPr>
          <p:cNvPr name="Group 10" id="10"/>
          <p:cNvGrpSpPr/>
          <p:nvPr/>
        </p:nvGrpSpPr>
        <p:grpSpPr>
          <a:xfrm rot="0">
            <a:off x="6285452" y="2539508"/>
            <a:ext cx="781641" cy="781660"/>
            <a:chOff x="0" y="0"/>
            <a:chExt cx="1042187" cy="1042213"/>
          </a:xfrm>
        </p:grpSpPr>
        <p:sp>
          <p:nvSpPr>
            <p:cNvPr name="Freeform 11" id="11"/>
            <p:cNvSpPr/>
            <p:nvPr/>
          </p:nvSpPr>
          <p:spPr>
            <a:xfrm flipH="false" flipV="false" rot="0">
              <a:off x="0" y="0"/>
              <a:ext cx="1042162" cy="1042162"/>
            </a:xfrm>
            <a:custGeom>
              <a:avLst/>
              <a:gdLst/>
              <a:ahLst/>
              <a:cxnLst/>
              <a:rect r="r" b="b" t="t" l="l"/>
              <a:pathLst>
                <a:path h="1042162" w="1042162">
                  <a:moveTo>
                    <a:pt x="0" y="521081"/>
                  </a:moveTo>
                  <a:cubicBezTo>
                    <a:pt x="0" y="233299"/>
                    <a:pt x="233299" y="0"/>
                    <a:pt x="521081" y="0"/>
                  </a:cubicBezTo>
                  <a:cubicBezTo>
                    <a:pt x="808863" y="0"/>
                    <a:pt x="1042162" y="233299"/>
                    <a:pt x="1042162" y="521081"/>
                  </a:cubicBezTo>
                  <a:cubicBezTo>
                    <a:pt x="1042162" y="808863"/>
                    <a:pt x="808863" y="1042162"/>
                    <a:pt x="521081" y="1042162"/>
                  </a:cubicBezTo>
                  <a:cubicBezTo>
                    <a:pt x="233299" y="1042162"/>
                    <a:pt x="0" y="808863"/>
                    <a:pt x="0" y="521081"/>
                  </a:cubicBezTo>
                  <a:close/>
                </a:path>
              </a:pathLst>
            </a:custGeom>
            <a:solidFill>
              <a:srgbClr val="FFFFFF"/>
            </a:solidFill>
            <a:ln w="57193" cap="sq">
              <a:solidFill>
                <a:srgbClr val="0F766E"/>
              </a:solidFill>
              <a:prstDash val="solid"/>
              <a:miter/>
            </a:ln>
          </p:spPr>
        </p:sp>
      </p:grpSp>
      <p:sp>
        <p:nvSpPr>
          <p:cNvPr name="TextBox 12" id="12"/>
          <p:cNvSpPr txBox="true"/>
          <p:nvPr/>
        </p:nvSpPr>
        <p:spPr>
          <a:xfrm rot="0">
            <a:off x="6534626" y="2730094"/>
            <a:ext cx="1198226" cy="476679"/>
          </a:xfrm>
          <a:prstGeom prst="rect">
            <a:avLst/>
          </a:prstGeom>
        </p:spPr>
        <p:txBody>
          <a:bodyPr anchor="t" rtlCol="false" tIns="0" lIns="0" bIns="0" rIns="0">
            <a:spAutoFit/>
          </a:bodyPr>
          <a:lstStyle/>
          <a:p>
            <a:pPr algn="l">
              <a:lnSpc>
                <a:spcPts val="4335"/>
              </a:lnSpc>
            </a:pPr>
            <a:r>
              <a:rPr lang="en-US" sz="4353">
                <a:solidFill>
                  <a:srgbClr val="0B1F3A"/>
                </a:solidFill>
                <a:latin typeface="Fira Sans"/>
                <a:ea typeface="Fira Sans"/>
                <a:cs typeface="Fira Sans"/>
                <a:sym typeface="Fira Sans"/>
              </a:rPr>
              <a:t>2</a:t>
            </a:r>
          </a:p>
        </p:txBody>
      </p:sp>
      <p:sp>
        <p:nvSpPr>
          <p:cNvPr name="TextBox 13" id="13"/>
          <p:cNvSpPr txBox="true"/>
          <p:nvPr/>
        </p:nvSpPr>
        <p:spPr>
          <a:xfrm rot="0">
            <a:off x="7305399" y="2531907"/>
            <a:ext cx="3039567" cy="426086"/>
          </a:xfrm>
          <a:prstGeom prst="rect">
            <a:avLst/>
          </a:prstGeom>
        </p:spPr>
        <p:txBody>
          <a:bodyPr anchor="t" rtlCol="false" tIns="0" lIns="0" bIns="0" rIns="0">
            <a:spAutoFit/>
          </a:bodyPr>
          <a:lstStyle/>
          <a:p>
            <a:pPr algn="l">
              <a:lnSpc>
                <a:spcPts val="3307"/>
              </a:lnSpc>
            </a:pPr>
            <a:r>
              <a:rPr lang="en-US" sz="2551">
                <a:solidFill>
                  <a:srgbClr val="0B1F3A"/>
                </a:solidFill>
                <a:latin typeface="Fira Sans"/>
                <a:ea typeface="Fira Sans"/>
                <a:cs typeface="Fira Sans"/>
                <a:sym typeface="Fira Sans"/>
              </a:rPr>
              <a:t>Strengthen coverage</a:t>
            </a:r>
          </a:p>
        </p:txBody>
      </p:sp>
      <p:sp>
        <p:nvSpPr>
          <p:cNvPr name="TextBox 14" id="14"/>
          <p:cNvSpPr txBox="true"/>
          <p:nvPr/>
        </p:nvSpPr>
        <p:spPr>
          <a:xfrm rot="0">
            <a:off x="7305399" y="3156175"/>
            <a:ext cx="10081355" cy="950519"/>
          </a:xfrm>
          <a:prstGeom prst="rect">
            <a:avLst/>
          </a:prstGeom>
        </p:spPr>
        <p:txBody>
          <a:bodyPr anchor="t" rtlCol="false" tIns="0" lIns="0" bIns="0" rIns="0">
            <a:spAutoFit/>
          </a:bodyPr>
          <a:lstStyle/>
          <a:p>
            <a:pPr algn="l">
              <a:lnSpc>
                <a:spcPts val="3507"/>
              </a:lnSpc>
            </a:pPr>
            <a:r>
              <a:rPr lang="en-US" sz="2476">
                <a:solidFill>
                  <a:srgbClr val="17324D"/>
                </a:solidFill>
                <a:latin typeface="Fira Sans"/>
                <a:ea typeface="Fira Sans"/>
                <a:cs typeface="Fira Sans"/>
                <a:sym typeface="Fira Sans"/>
              </a:rPr>
              <a:t>Test indirect prompt injection and protected-configuration access cases.</a:t>
            </a:r>
          </a:p>
        </p:txBody>
      </p:sp>
      <p:grpSp>
        <p:nvGrpSpPr>
          <p:cNvPr name="Group 15" id="15"/>
          <p:cNvGrpSpPr/>
          <p:nvPr/>
        </p:nvGrpSpPr>
        <p:grpSpPr>
          <a:xfrm rot="0">
            <a:off x="6285452" y="4535662"/>
            <a:ext cx="781641" cy="781660"/>
            <a:chOff x="0" y="0"/>
            <a:chExt cx="1042187" cy="1042213"/>
          </a:xfrm>
        </p:grpSpPr>
        <p:sp>
          <p:nvSpPr>
            <p:cNvPr name="Freeform 16" id="16"/>
            <p:cNvSpPr/>
            <p:nvPr/>
          </p:nvSpPr>
          <p:spPr>
            <a:xfrm flipH="false" flipV="false" rot="0">
              <a:off x="0" y="0"/>
              <a:ext cx="1042162" cy="1042162"/>
            </a:xfrm>
            <a:custGeom>
              <a:avLst/>
              <a:gdLst/>
              <a:ahLst/>
              <a:cxnLst/>
              <a:rect r="r" b="b" t="t" l="l"/>
              <a:pathLst>
                <a:path h="1042162" w="1042162">
                  <a:moveTo>
                    <a:pt x="0" y="521081"/>
                  </a:moveTo>
                  <a:cubicBezTo>
                    <a:pt x="0" y="233299"/>
                    <a:pt x="233299" y="0"/>
                    <a:pt x="521081" y="0"/>
                  </a:cubicBezTo>
                  <a:cubicBezTo>
                    <a:pt x="808863" y="0"/>
                    <a:pt x="1042162" y="233299"/>
                    <a:pt x="1042162" y="521081"/>
                  </a:cubicBezTo>
                  <a:cubicBezTo>
                    <a:pt x="1042162" y="808863"/>
                    <a:pt x="808863" y="1042162"/>
                    <a:pt x="521081" y="1042162"/>
                  </a:cubicBezTo>
                  <a:cubicBezTo>
                    <a:pt x="233299" y="1042162"/>
                    <a:pt x="0" y="808863"/>
                    <a:pt x="0" y="521081"/>
                  </a:cubicBezTo>
                  <a:close/>
                </a:path>
              </a:pathLst>
            </a:custGeom>
            <a:solidFill>
              <a:srgbClr val="FFFFFF"/>
            </a:solidFill>
            <a:ln w="57193" cap="sq">
              <a:solidFill>
                <a:srgbClr val="0F766E"/>
              </a:solidFill>
              <a:prstDash val="solid"/>
              <a:miter/>
            </a:ln>
          </p:spPr>
        </p:sp>
      </p:grpSp>
      <p:sp>
        <p:nvSpPr>
          <p:cNvPr name="TextBox 17" id="17"/>
          <p:cNvSpPr txBox="true"/>
          <p:nvPr/>
        </p:nvSpPr>
        <p:spPr>
          <a:xfrm rot="0">
            <a:off x="6533883" y="4726248"/>
            <a:ext cx="1199864" cy="476679"/>
          </a:xfrm>
          <a:prstGeom prst="rect">
            <a:avLst/>
          </a:prstGeom>
        </p:spPr>
        <p:txBody>
          <a:bodyPr anchor="t" rtlCol="false" tIns="0" lIns="0" bIns="0" rIns="0">
            <a:spAutoFit/>
          </a:bodyPr>
          <a:lstStyle/>
          <a:p>
            <a:pPr algn="l">
              <a:lnSpc>
                <a:spcPts val="4335"/>
              </a:lnSpc>
            </a:pPr>
            <a:r>
              <a:rPr lang="en-US" sz="4353">
                <a:solidFill>
                  <a:srgbClr val="0B1F3A"/>
                </a:solidFill>
                <a:latin typeface="Fira Sans"/>
                <a:ea typeface="Fira Sans"/>
                <a:cs typeface="Fira Sans"/>
                <a:sym typeface="Fira Sans"/>
              </a:rPr>
              <a:t>3</a:t>
            </a:r>
          </a:p>
        </p:txBody>
      </p:sp>
      <p:sp>
        <p:nvSpPr>
          <p:cNvPr name="TextBox 18" id="18"/>
          <p:cNvSpPr txBox="true"/>
          <p:nvPr/>
        </p:nvSpPr>
        <p:spPr>
          <a:xfrm rot="0">
            <a:off x="7305399" y="4528061"/>
            <a:ext cx="2891433" cy="426086"/>
          </a:xfrm>
          <a:prstGeom prst="rect">
            <a:avLst/>
          </a:prstGeom>
        </p:spPr>
        <p:txBody>
          <a:bodyPr anchor="t" rtlCol="false" tIns="0" lIns="0" bIns="0" rIns="0">
            <a:spAutoFit/>
          </a:bodyPr>
          <a:lstStyle/>
          <a:p>
            <a:pPr algn="l">
              <a:lnSpc>
                <a:spcPts val="3307"/>
              </a:lnSpc>
            </a:pPr>
            <a:r>
              <a:rPr lang="en-US" sz="2551">
                <a:solidFill>
                  <a:srgbClr val="0B1F3A"/>
                </a:solidFill>
                <a:latin typeface="Fira Sans"/>
                <a:ea typeface="Fira Sans"/>
                <a:cs typeface="Fira Sans"/>
                <a:sym typeface="Fira Sans"/>
              </a:rPr>
              <a:t>Expand intelligence</a:t>
            </a:r>
          </a:p>
        </p:txBody>
      </p:sp>
      <p:sp>
        <p:nvSpPr>
          <p:cNvPr name="TextBox 19" id="19"/>
          <p:cNvSpPr txBox="true"/>
          <p:nvPr/>
        </p:nvSpPr>
        <p:spPr>
          <a:xfrm rot="0">
            <a:off x="7305399" y="5152330"/>
            <a:ext cx="10081355" cy="503834"/>
          </a:xfrm>
          <a:prstGeom prst="rect">
            <a:avLst/>
          </a:prstGeom>
        </p:spPr>
        <p:txBody>
          <a:bodyPr anchor="t" rtlCol="false" tIns="0" lIns="0" bIns="0" rIns="0">
            <a:spAutoFit/>
          </a:bodyPr>
          <a:lstStyle/>
          <a:p>
            <a:pPr algn="l">
              <a:lnSpc>
                <a:spcPts val="3507"/>
              </a:lnSpc>
            </a:pPr>
            <a:r>
              <a:rPr lang="en-US" sz="2476">
                <a:solidFill>
                  <a:srgbClr val="17324D"/>
                </a:solidFill>
                <a:latin typeface="Fira Sans"/>
                <a:ea typeface="Fira Sans"/>
                <a:cs typeface="Fira Sans"/>
                <a:sym typeface="Fira Sans"/>
              </a:rPr>
              <a:t>Evaluate context-aware classifiers and additional model providers.</a:t>
            </a:r>
          </a:p>
        </p:txBody>
      </p:sp>
      <p:grpSp>
        <p:nvGrpSpPr>
          <p:cNvPr name="Group 20" id="20"/>
          <p:cNvGrpSpPr/>
          <p:nvPr/>
        </p:nvGrpSpPr>
        <p:grpSpPr>
          <a:xfrm rot="0">
            <a:off x="6285452" y="6085132"/>
            <a:ext cx="781641" cy="781660"/>
            <a:chOff x="0" y="0"/>
            <a:chExt cx="1042187" cy="1042213"/>
          </a:xfrm>
        </p:grpSpPr>
        <p:sp>
          <p:nvSpPr>
            <p:cNvPr name="Freeform 21" id="21"/>
            <p:cNvSpPr/>
            <p:nvPr/>
          </p:nvSpPr>
          <p:spPr>
            <a:xfrm flipH="false" flipV="false" rot="0">
              <a:off x="0" y="0"/>
              <a:ext cx="1042162" cy="1042162"/>
            </a:xfrm>
            <a:custGeom>
              <a:avLst/>
              <a:gdLst/>
              <a:ahLst/>
              <a:cxnLst/>
              <a:rect r="r" b="b" t="t" l="l"/>
              <a:pathLst>
                <a:path h="1042162" w="1042162">
                  <a:moveTo>
                    <a:pt x="0" y="521081"/>
                  </a:moveTo>
                  <a:cubicBezTo>
                    <a:pt x="0" y="233299"/>
                    <a:pt x="233299" y="0"/>
                    <a:pt x="521081" y="0"/>
                  </a:cubicBezTo>
                  <a:cubicBezTo>
                    <a:pt x="808863" y="0"/>
                    <a:pt x="1042162" y="233299"/>
                    <a:pt x="1042162" y="521081"/>
                  </a:cubicBezTo>
                  <a:cubicBezTo>
                    <a:pt x="1042162" y="808863"/>
                    <a:pt x="808863" y="1042162"/>
                    <a:pt x="521081" y="1042162"/>
                  </a:cubicBezTo>
                  <a:cubicBezTo>
                    <a:pt x="233299" y="1042162"/>
                    <a:pt x="0" y="808863"/>
                    <a:pt x="0" y="521081"/>
                  </a:cubicBezTo>
                  <a:close/>
                </a:path>
              </a:pathLst>
            </a:custGeom>
            <a:solidFill>
              <a:srgbClr val="FFFFFF"/>
            </a:solidFill>
            <a:ln w="57193" cap="sq">
              <a:solidFill>
                <a:srgbClr val="0F766E"/>
              </a:solidFill>
              <a:prstDash val="solid"/>
              <a:miter/>
            </a:ln>
          </p:spPr>
        </p:sp>
      </p:grpSp>
      <p:sp>
        <p:nvSpPr>
          <p:cNvPr name="TextBox 22" id="22"/>
          <p:cNvSpPr txBox="true"/>
          <p:nvPr/>
        </p:nvSpPr>
        <p:spPr>
          <a:xfrm rot="0">
            <a:off x="6522263" y="6275718"/>
            <a:ext cx="1223105" cy="476679"/>
          </a:xfrm>
          <a:prstGeom prst="rect">
            <a:avLst/>
          </a:prstGeom>
        </p:spPr>
        <p:txBody>
          <a:bodyPr anchor="t" rtlCol="false" tIns="0" lIns="0" bIns="0" rIns="0">
            <a:spAutoFit/>
          </a:bodyPr>
          <a:lstStyle/>
          <a:p>
            <a:pPr algn="l">
              <a:lnSpc>
                <a:spcPts val="4335"/>
              </a:lnSpc>
            </a:pPr>
            <a:r>
              <a:rPr lang="en-US" sz="4353">
                <a:solidFill>
                  <a:srgbClr val="0B1F3A"/>
                </a:solidFill>
                <a:latin typeface="Fira Sans"/>
                <a:ea typeface="Fira Sans"/>
                <a:cs typeface="Fira Sans"/>
                <a:sym typeface="Fira Sans"/>
              </a:rPr>
              <a:t>4</a:t>
            </a:r>
          </a:p>
        </p:txBody>
      </p:sp>
      <p:sp>
        <p:nvSpPr>
          <p:cNvPr name="TextBox 23" id="23"/>
          <p:cNvSpPr txBox="true"/>
          <p:nvPr/>
        </p:nvSpPr>
        <p:spPr>
          <a:xfrm rot="0">
            <a:off x="7305399" y="6077531"/>
            <a:ext cx="2935486" cy="426086"/>
          </a:xfrm>
          <a:prstGeom prst="rect">
            <a:avLst/>
          </a:prstGeom>
        </p:spPr>
        <p:txBody>
          <a:bodyPr anchor="t" rtlCol="false" tIns="0" lIns="0" bIns="0" rIns="0">
            <a:spAutoFit/>
          </a:bodyPr>
          <a:lstStyle/>
          <a:p>
            <a:pPr algn="l">
              <a:lnSpc>
                <a:spcPts val="3307"/>
              </a:lnSpc>
            </a:pPr>
            <a:r>
              <a:rPr lang="en-US" sz="2551">
                <a:solidFill>
                  <a:srgbClr val="0B1F3A"/>
                </a:solidFill>
                <a:latin typeface="Fira Sans"/>
                <a:ea typeface="Fira Sans"/>
                <a:cs typeface="Fira Sans"/>
                <a:sym typeface="Fira Sans"/>
              </a:rPr>
              <a:t>Harden deployment</a:t>
            </a:r>
          </a:p>
        </p:txBody>
      </p:sp>
      <p:sp>
        <p:nvSpPr>
          <p:cNvPr name="TextBox 24" id="24"/>
          <p:cNvSpPr txBox="true"/>
          <p:nvPr/>
        </p:nvSpPr>
        <p:spPr>
          <a:xfrm rot="0">
            <a:off x="7305399" y="6701800"/>
            <a:ext cx="10081355" cy="950519"/>
          </a:xfrm>
          <a:prstGeom prst="rect">
            <a:avLst/>
          </a:prstGeom>
        </p:spPr>
        <p:txBody>
          <a:bodyPr anchor="t" rtlCol="false" tIns="0" lIns="0" bIns="0" rIns="0">
            <a:spAutoFit/>
          </a:bodyPr>
          <a:lstStyle/>
          <a:p>
            <a:pPr algn="l">
              <a:lnSpc>
                <a:spcPts val="3507"/>
              </a:lnSpc>
            </a:pPr>
            <a:r>
              <a:rPr lang="en-US" sz="2476">
                <a:solidFill>
                  <a:srgbClr val="17324D"/>
                </a:solidFill>
                <a:latin typeface="Fira Sans"/>
                <a:ea typeface="Fira Sans"/>
                <a:cs typeface="Fira Sans"/>
                <a:sym typeface="Fira Sans"/>
              </a:rPr>
              <a:t>Add audit trails, monitoring, language and document coverage, and reliable end-to-end block-before-call verification.</a:t>
            </a:r>
          </a:p>
        </p:txBody>
      </p:sp>
      <p:grpSp>
        <p:nvGrpSpPr>
          <p:cNvPr name="Group 25" id="25"/>
          <p:cNvGrpSpPr/>
          <p:nvPr/>
        </p:nvGrpSpPr>
        <p:grpSpPr>
          <a:xfrm rot="0">
            <a:off x="16814816" y="9494320"/>
            <a:ext cx="915095" cy="457562"/>
            <a:chOff x="0" y="0"/>
            <a:chExt cx="1220127" cy="610083"/>
          </a:xfrm>
        </p:grpSpPr>
        <p:sp>
          <p:nvSpPr>
            <p:cNvPr name="Freeform 26" id="26" descr="preencoded.png"/>
            <p:cNvSpPr/>
            <p:nvPr/>
          </p:nvSpPr>
          <p:spPr>
            <a:xfrm flipH="false" flipV="false" rot="0">
              <a:off x="0" y="0"/>
              <a:ext cx="1220089" cy="610108"/>
            </a:xfrm>
            <a:custGeom>
              <a:avLst/>
              <a:gdLst/>
              <a:ahLst/>
              <a:cxnLst/>
              <a:rect r="r" b="b" t="t" l="l"/>
              <a:pathLst>
                <a:path h="610108" w="1220089">
                  <a:moveTo>
                    <a:pt x="0" y="0"/>
                  </a:moveTo>
                  <a:lnTo>
                    <a:pt x="1220089" y="0"/>
                  </a:lnTo>
                  <a:lnTo>
                    <a:pt x="1220089" y="610108"/>
                  </a:lnTo>
                  <a:lnTo>
                    <a:pt x="0" y="610108"/>
                  </a:lnTo>
                  <a:lnTo>
                    <a:pt x="0" y="0"/>
                  </a:lnTo>
                  <a:close/>
                </a:path>
              </a:pathLst>
            </a:custGeom>
            <a:blipFill>
              <a:blip r:embed="rId3"/>
              <a:stretch>
                <a:fillRect l="-1" t="0" r="-4" b="4"/>
              </a:stretch>
            </a:blipFill>
          </p:spPr>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descr="preencoded.png"/>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lnTo>
                    <a:pt x="0" y="0"/>
                  </a:lnTo>
                  <a:close/>
                </a:path>
              </a:pathLst>
            </a:custGeom>
            <a:blipFill>
              <a:blip r:embed="rId3"/>
              <a:stretch>
                <a:fillRect l="-1" t="0" r="-1" b="0"/>
              </a:stretch>
            </a:blipFill>
          </p:spPr>
        </p:sp>
      </p:grpSp>
      <p:sp>
        <p:nvSpPr>
          <p:cNvPr name="TextBox 4" id="4"/>
          <p:cNvSpPr txBox="true"/>
          <p:nvPr/>
        </p:nvSpPr>
        <p:spPr>
          <a:xfrm rot="0">
            <a:off x="1220124" y="1734922"/>
            <a:ext cx="13497611" cy="305019"/>
          </a:xfrm>
          <a:prstGeom prst="rect">
            <a:avLst/>
          </a:prstGeom>
        </p:spPr>
        <p:txBody>
          <a:bodyPr anchor="t" rtlCol="false" tIns="0" lIns="0" bIns="0" rIns="0">
            <a:spAutoFit/>
          </a:bodyPr>
          <a:lstStyle/>
          <a:p>
            <a:pPr algn="l">
              <a:lnSpc>
                <a:spcPts val="2248"/>
              </a:lnSpc>
            </a:pPr>
            <a:r>
              <a:rPr lang="en-US" b="true" sz="1801" spc="108">
                <a:solidFill>
                  <a:srgbClr val="FFFFFF"/>
                </a:solidFill>
                <a:latin typeface="Overpass Medium"/>
                <a:ea typeface="Overpass Medium"/>
                <a:cs typeface="Overpass Medium"/>
                <a:sym typeface="Overpass Medium"/>
              </a:rPr>
              <a:t>CONCLUSION</a:t>
            </a:r>
          </a:p>
        </p:txBody>
      </p:sp>
      <p:sp>
        <p:nvSpPr>
          <p:cNvPr name="TextBox 5" id="5"/>
          <p:cNvSpPr txBox="true"/>
          <p:nvPr/>
        </p:nvSpPr>
        <p:spPr>
          <a:xfrm rot="0">
            <a:off x="1220124" y="2392175"/>
            <a:ext cx="12582515" cy="1985820"/>
          </a:xfrm>
          <a:prstGeom prst="rect">
            <a:avLst/>
          </a:prstGeom>
        </p:spPr>
        <p:txBody>
          <a:bodyPr anchor="t" rtlCol="false" tIns="0" lIns="0" bIns="0" rIns="0">
            <a:spAutoFit/>
          </a:bodyPr>
          <a:lstStyle/>
          <a:p>
            <a:pPr algn="l">
              <a:lnSpc>
                <a:spcPts val="8268"/>
              </a:lnSpc>
            </a:pPr>
            <a:r>
              <a:rPr lang="en-US" sz="8106" spc="-81">
                <a:solidFill>
                  <a:srgbClr val="FFFFFF"/>
                </a:solidFill>
                <a:latin typeface="Arimo"/>
                <a:ea typeface="Arimo"/>
                <a:cs typeface="Arimo"/>
                <a:sym typeface="Arimo"/>
              </a:rPr>
              <a:t>Inspect the route</a:t>
            </a:r>
          </a:p>
          <a:p>
            <a:pPr algn="l">
              <a:lnSpc>
                <a:spcPts val="8268"/>
              </a:lnSpc>
            </a:pPr>
            <a:r>
              <a:rPr lang="en-US" sz="8106" spc="-81">
                <a:solidFill>
                  <a:srgbClr val="FFFFFF"/>
                </a:solidFill>
                <a:latin typeface="Arimo"/>
                <a:ea typeface="Arimo"/>
                <a:cs typeface="Arimo"/>
                <a:sym typeface="Arimo"/>
              </a:rPr>
              <a:t>before trust.</a:t>
            </a:r>
          </a:p>
        </p:txBody>
      </p:sp>
      <p:sp>
        <p:nvSpPr>
          <p:cNvPr name="TextBox 6" id="6"/>
          <p:cNvSpPr txBox="true"/>
          <p:nvPr/>
        </p:nvSpPr>
        <p:spPr>
          <a:xfrm rot="0">
            <a:off x="1220124" y="4511878"/>
            <a:ext cx="13497611" cy="580977"/>
          </a:xfrm>
          <a:prstGeom prst="rect">
            <a:avLst/>
          </a:prstGeom>
        </p:spPr>
        <p:txBody>
          <a:bodyPr anchor="t" rtlCol="false" tIns="0" lIns="0" bIns="0" rIns="0">
            <a:spAutoFit/>
          </a:bodyPr>
          <a:lstStyle/>
          <a:p>
            <a:pPr algn="l">
              <a:lnSpc>
                <a:spcPts val="4038"/>
              </a:lnSpc>
            </a:pPr>
            <a:r>
              <a:rPr lang="en-US" sz="2852">
                <a:solidFill>
                  <a:srgbClr val="FFFFFF"/>
                </a:solidFill>
                <a:latin typeface="Fira Sans"/>
                <a:ea typeface="Fira Sans"/>
                <a:cs typeface="Fira Sans"/>
                <a:sym typeface="Fira Sans"/>
              </a:rPr>
              <a:t>Workex adds an inspectable security layer around AI applications.</a:t>
            </a:r>
          </a:p>
        </p:txBody>
      </p:sp>
      <p:grpSp>
        <p:nvGrpSpPr>
          <p:cNvPr name="Group 7" id="7"/>
          <p:cNvGrpSpPr/>
          <p:nvPr/>
        </p:nvGrpSpPr>
        <p:grpSpPr>
          <a:xfrm rot="0">
            <a:off x="1220124" y="5374062"/>
            <a:ext cx="3889143" cy="980504"/>
            <a:chOff x="0" y="0"/>
            <a:chExt cx="5185524" cy="1307338"/>
          </a:xfrm>
        </p:grpSpPr>
        <p:sp>
          <p:nvSpPr>
            <p:cNvPr name="Freeform 8" id="8"/>
            <p:cNvSpPr/>
            <p:nvPr/>
          </p:nvSpPr>
          <p:spPr>
            <a:xfrm flipH="false" flipV="false" rot="0">
              <a:off x="0" y="0"/>
              <a:ext cx="5185537" cy="1307338"/>
            </a:xfrm>
            <a:custGeom>
              <a:avLst/>
              <a:gdLst/>
              <a:ahLst/>
              <a:cxnLst/>
              <a:rect r="r" b="b" t="t" l="l"/>
              <a:pathLst>
                <a:path h="1307338" w="5185537">
                  <a:moveTo>
                    <a:pt x="0" y="0"/>
                  </a:moveTo>
                  <a:lnTo>
                    <a:pt x="5185537" y="0"/>
                  </a:lnTo>
                  <a:lnTo>
                    <a:pt x="5185537" y="1307338"/>
                  </a:lnTo>
                  <a:lnTo>
                    <a:pt x="0" y="1307338"/>
                  </a:lnTo>
                  <a:close/>
                </a:path>
              </a:pathLst>
            </a:custGeom>
            <a:solidFill>
              <a:srgbClr val="EAF4F6"/>
            </a:solidFill>
          </p:spPr>
        </p:sp>
      </p:grpSp>
      <p:sp>
        <p:nvSpPr>
          <p:cNvPr name="TextBox 9" id="9"/>
          <p:cNvSpPr txBox="true"/>
          <p:nvPr/>
        </p:nvSpPr>
        <p:spPr>
          <a:xfrm rot="0">
            <a:off x="1525153" y="5583822"/>
            <a:ext cx="3584115" cy="503834"/>
          </a:xfrm>
          <a:prstGeom prst="rect">
            <a:avLst/>
          </a:prstGeom>
        </p:spPr>
        <p:txBody>
          <a:bodyPr anchor="t" rtlCol="false" tIns="0" lIns="0" bIns="0" rIns="0">
            <a:spAutoFit/>
          </a:bodyPr>
          <a:lstStyle/>
          <a:p>
            <a:pPr algn="l">
              <a:lnSpc>
                <a:spcPts val="3507"/>
              </a:lnSpc>
            </a:pPr>
            <a:r>
              <a:rPr lang="en-US" sz="2476" b="true">
                <a:solidFill>
                  <a:srgbClr val="17324D"/>
                </a:solidFill>
                <a:latin typeface="Fira Sans Bold"/>
                <a:ea typeface="Fira Sans Bold"/>
                <a:cs typeface="Fira Sans Bold"/>
                <a:sym typeface="Fira Sans Bold"/>
              </a:rPr>
              <a:t>Input screening</a:t>
            </a:r>
          </a:p>
        </p:txBody>
      </p:sp>
      <p:grpSp>
        <p:nvGrpSpPr>
          <p:cNvPr name="Group 10" id="10"/>
          <p:cNvGrpSpPr/>
          <p:nvPr/>
        </p:nvGrpSpPr>
        <p:grpSpPr>
          <a:xfrm rot="0">
            <a:off x="5566810" y="5374062"/>
            <a:ext cx="3889143" cy="980504"/>
            <a:chOff x="0" y="0"/>
            <a:chExt cx="5185524" cy="1307338"/>
          </a:xfrm>
        </p:grpSpPr>
        <p:sp>
          <p:nvSpPr>
            <p:cNvPr name="Freeform 11" id="11"/>
            <p:cNvSpPr/>
            <p:nvPr/>
          </p:nvSpPr>
          <p:spPr>
            <a:xfrm flipH="false" flipV="false" rot="0">
              <a:off x="0" y="0"/>
              <a:ext cx="5185537" cy="1307338"/>
            </a:xfrm>
            <a:custGeom>
              <a:avLst/>
              <a:gdLst/>
              <a:ahLst/>
              <a:cxnLst/>
              <a:rect r="r" b="b" t="t" l="l"/>
              <a:pathLst>
                <a:path h="1307338" w="5185537">
                  <a:moveTo>
                    <a:pt x="0" y="0"/>
                  </a:moveTo>
                  <a:lnTo>
                    <a:pt x="5185537" y="0"/>
                  </a:lnTo>
                  <a:lnTo>
                    <a:pt x="5185537" y="1307338"/>
                  </a:lnTo>
                  <a:lnTo>
                    <a:pt x="0" y="1307338"/>
                  </a:lnTo>
                  <a:close/>
                </a:path>
              </a:pathLst>
            </a:custGeom>
            <a:solidFill>
              <a:srgbClr val="EAF4F6"/>
            </a:solidFill>
          </p:spPr>
        </p:sp>
      </p:grpSp>
      <p:sp>
        <p:nvSpPr>
          <p:cNvPr name="TextBox 12" id="12"/>
          <p:cNvSpPr txBox="true"/>
          <p:nvPr/>
        </p:nvSpPr>
        <p:spPr>
          <a:xfrm rot="0">
            <a:off x="5871839" y="5583822"/>
            <a:ext cx="3584115" cy="503834"/>
          </a:xfrm>
          <a:prstGeom prst="rect">
            <a:avLst/>
          </a:prstGeom>
        </p:spPr>
        <p:txBody>
          <a:bodyPr anchor="t" rtlCol="false" tIns="0" lIns="0" bIns="0" rIns="0">
            <a:spAutoFit/>
          </a:bodyPr>
          <a:lstStyle/>
          <a:p>
            <a:pPr algn="l">
              <a:lnSpc>
                <a:spcPts val="3507"/>
              </a:lnSpc>
            </a:pPr>
            <a:r>
              <a:rPr lang="en-US" sz="2476" b="true">
                <a:solidFill>
                  <a:srgbClr val="17324D"/>
                </a:solidFill>
                <a:latin typeface="Fira Sans Bold"/>
                <a:ea typeface="Fira Sans Bold"/>
                <a:cs typeface="Fira Sans Bold"/>
                <a:sym typeface="Fira Sans Bold"/>
              </a:rPr>
              <a:t>Policy decisions</a:t>
            </a:r>
          </a:p>
        </p:txBody>
      </p:sp>
      <p:grpSp>
        <p:nvGrpSpPr>
          <p:cNvPr name="Group 13" id="13"/>
          <p:cNvGrpSpPr/>
          <p:nvPr/>
        </p:nvGrpSpPr>
        <p:grpSpPr>
          <a:xfrm rot="0">
            <a:off x="9913496" y="5374062"/>
            <a:ext cx="3889143" cy="980504"/>
            <a:chOff x="0" y="0"/>
            <a:chExt cx="5185524" cy="1307338"/>
          </a:xfrm>
        </p:grpSpPr>
        <p:sp>
          <p:nvSpPr>
            <p:cNvPr name="Freeform 14" id="14"/>
            <p:cNvSpPr/>
            <p:nvPr/>
          </p:nvSpPr>
          <p:spPr>
            <a:xfrm flipH="false" flipV="false" rot="0">
              <a:off x="0" y="0"/>
              <a:ext cx="5185537" cy="1307338"/>
            </a:xfrm>
            <a:custGeom>
              <a:avLst/>
              <a:gdLst/>
              <a:ahLst/>
              <a:cxnLst/>
              <a:rect r="r" b="b" t="t" l="l"/>
              <a:pathLst>
                <a:path h="1307338" w="5185537">
                  <a:moveTo>
                    <a:pt x="0" y="0"/>
                  </a:moveTo>
                  <a:lnTo>
                    <a:pt x="5185537" y="0"/>
                  </a:lnTo>
                  <a:lnTo>
                    <a:pt x="5185537" y="1307338"/>
                  </a:lnTo>
                  <a:lnTo>
                    <a:pt x="0" y="1307338"/>
                  </a:lnTo>
                  <a:close/>
                </a:path>
              </a:pathLst>
            </a:custGeom>
            <a:solidFill>
              <a:srgbClr val="EAF4F6"/>
            </a:solidFill>
          </p:spPr>
        </p:sp>
      </p:grpSp>
      <p:sp>
        <p:nvSpPr>
          <p:cNvPr name="TextBox 15" id="15"/>
          <p:cNvSpPr txBox="true"/>
          <p:nvPr/>
        </p:nvSpPr>
        <p:spPr>
          <a:xfrm rot="0">
            <a:off x="10218525" y="5583822"/>
            <a:ext cx="3584115" cy="503834"/>
          </a:xfrm>
          <a:prstGeom prst="rect">
            <a:avLst/>
          </a:prstGeom>
        </p:spPr>
        <p:txBody>
          <a:bodyPr anchor="t" rtlCol="false" tIns="0" lIns="0" bIns="0" rIns="0">
            <a:spAutoFit/>
          </a:bodyPr>
          <a:lstStyle/>
          <a:p>
            <a:pPr algn="l">
              <a:lnSpc>
                <a:spcPts val="3507"/>
              </a:lnSpc>
            </a:pPr>
            <a:r>
              <a:rPr lang="en-US" sz="2476" b="true">
                <a:solidFill>
                  <a:srgbClr val="17324D"/>
                </a:solidFill>
                <a:latin typeface="Fira Sans Bold"/>
                <a:ea typeface="Fira Sans Bold"/>
                <a:cs typeface="Fira Sans Bold"/>
                <a:sym typeface="Fira Sans Bold"/>
              </a:rPr>
              <a:t>Output checking</a:t>
            </a:r>
          </a:p>
        </p:txBody>
      </p:sp>
      <p:sp>
        <p:nvSpPr>
          <p:cNvPr name="TextBox 16" id="16"/>
          <p:cNvSpPr txBox="true"/>
          <p:nvPr/>
        </p:nvSpPr>
        <p:spPr>
          <a:xfrm rot="0">
            <a:off x="1220124" y="6640582"/>
            <a:ext cx="12582515" cy="950519"/>
          </a:xfrm>
          <a:prstGeom prst="rect">
            <a:avLst/>
          </a:prstGeom>
        </p:spPr>
        <p:txBody>
          <a:bodyPr anchor="t" rtlCol="false" tIns="0" lIns="0" bIns="0" rIns="0">
            <a:spAutoFit/>
          </a:bodyPr>
          <a:lstStyle/>
          <a:p>
            <a:pPr algn="l">
              <a:lnSpc>
                <a:spcPts val="3507"/>
              </a:lnSpc>
            </a:pPr>
            <a:r>
              <a:rPr lang="en-US" sz="2476">
                <a:solidFill>
                  <a:srgbClr val="FFFFFF"/>
                </a:solidFill>
                <a:latin typeface="Fira Sans"/>
                <a:ea typeface="Fira Sans"/>
                <a:cs typeface="Fira Sans"/>
                <a:sym typeface="Fira Sans"/>
              </a:rPr>
              <a:t>Help teams govern model interactions without claiming perfect detection or guaranteed security.</a:t>
            </a:r>
          </a:p>
        </p:txBody>
      </p:sp>
      <p:sp>
        <p:nvSpPr>
          <p:cNvPr name="TextBox 17" id="17"/>
          <p:cNvSpPr txBox="true"/>
          <p:nvPr/>
        </p:nvSpPr>
        <p:spPr>
          <a:xfrm rot="0">
            <a:off x="1220124" y="7853258"/>
            <a:ext cx="1426071" cy="284294"/>
          </a:xfrm>
          <a:prstGeom prst="rect">
            <a:avLst/>
          </a:prstGeom>
        </p:spPr>
        <p:txBody>
          <a:bodyPr anchor="t" rtlCol="false" tIns="0" lIns="0" bIns="0" rIns="0">
            <a:spAutoFit/>
          </a:bodyPr>
          <a:lstStyle/>
          <a:p>
            <a:pPr algn="l">
              <a:lnSpc>
                <a:spcPts val="2248"/>
              </a:lnSpc>
            </a:pPr>
            <a:r>
              <a:rPr lang="en-US" b="true" sz="1801" spc="54">
                <a:solidFill>
                  <a:srgbClr val="B1B7C0"/>
                </a:solidFill>
                <a:latin typeface="Overpass Medium"/>
                <a:ea typeface="Overpass Medium"/>
                <a:cs typeface="Overpass Medium"/>
                <a:sym typeface="Overpass Medium"/>
              </a:rPr>
              <a:t>THANK YOU </a:t>
            </a:r>
          </a:p>
        </p:txBody>
      </p:sp>
      <p:grpSp>
        <p:nvGrpSpPr>
          <p:cNvPr name="Group 18" id="18"/>
          <p:cNvGrpSpPr/>
          <p:nvPr/>
        </p:nvGrpSpPr>
        <p:grpSpPr>
          <a:xfrm rot="0">
            <a:off x="16814816" y="9494320"/>
            <a:ext cx="915095" cy="457562"/>
            <a:chOff x="0" y="0"/>
            <a:chExt cx="1220127" cy="610083"/>
          </a:xfrm>
        </p:grpSpPr>
        <p:sp>
          <p:nvSpPr>
            <p:cNvPr name="Freeform 19" id="19" descr="preencoded.png"/>
            <p:cNvSpPr/>
            <p:nvPr/>
          </p:nvSpPr>
          <p:spPr>
            <a:xfrm flipH="false" flipV="false" rot="0">
              <a:off x="0" y="0"/>
              <a:ext cx="1220089" cy="610108"/>
            </a:xfrm>
            <a:custGeom>
              <a:avLst/>
              <a:gdLst/>
              <a:ahLst/>
              <a:cxnLst/>
              <a:rect r="r" b="b" t="t" l="l"/>
              <a:pathLst>
                <a:path h="610108" w="1220089">
                  <a:moveTo>
                    <a:pt x="0" y="0"/>
                  </a:moveTo>
                  <a:lnTo>
                    <a:pt x="1220089" y="0"/>
                  </a:lnTo>
                  <a:lnTo>
                    <a:pt x="1220089" y="610108"/>
                  </a:lnTo>
                  <a:lnTo>
                    <a:pt x="0" y="610108"/>
                  </a:lnTo>
                  <a:lnTo>
                    <a:pt x="0" y="0"/>
                  </a:lnTo>
                  <a:close/>
                </a:path>
              </a:pathLst>
            </a:custGeom>
            <a:blipFill>
              <a:blip r:embed="rId4"/>
              <a:stretch>
                <a:fillRect l="-1" t="0" r="-4" b="4"/>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DAHXe5i7vXU</dc:identifier>
  <dcterms:modified xsi:type="dcterms:W3CDTF">2011-08-01T06:04:30Z</dcterms:modified>
  <cp:revision>1</cp:revision>
  <dc:title>1-Problem-Understanding (1).pptx</dc:title>
</cp:coreProperties>
</file>